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3C49DA-3D01-48C2-AC2A-ABE1D0B0506E}" v="16" dt="2026-09-14T17:44:36.364"/>
    <p1510:client id="{5EA60F1B-1FD4-446F-A644-162727228CC5}" v="44" dt="2026-09-14T16:28:58.936"/>
    <p1510:client id="{936D0411-E537-4574-A290-2D83E1B4DB46}" v="1" dt="2026-09-14T17:59:33.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7CAB238-38C9-42CB-AB67-1DE044D59F18}" type="datetimeFigureOut">
              <a:t>10/7/2026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FBAD2D7-8D67-4B8B-95FB-70E29DC62BFE}" type="slidenum">
              <a:t>‹#›</a:t>
            </a:fld>
            <a:endParaRPr lang="en-US"/>
          </a:p>
        </p:txBody>
      </p:sp>
    </p:spTree>
    <p:extLst>
      <p:ext uri="{BB962C8B-B14F-4D97-AF65-F5344CB8AC3E}">
        <p14:creationId xmlns:p14="http://schemas.microsoft.com/office/powerpoint/2010/main" val="1142605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101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914400"/>
            <a:ext cx="12188952" cy="0"/>
          </a:xfrm>
          <a:prstGeom prst="line">
            <a:avLst/>
          </a:prstGeom>
          <a:noFill/>
          <a:ln w="9525">
            <a:solidFill>
              <a:srgbClr val="0F1826"/>
            </a:solidFill>
            <a:prstDash val="solid"/>
          </a:ln>
        </p:spPr>
      </p:sp>
      <p:sp>
        <p:nvSpPr>
          <p:cNvPr id="3" name="Shape 1"/>
          <p:cNvSpPr/>
          <p:nvPr/>
        </p:nvSpPr>
        <p:spPr>
          <a:xfrm>
            <a:off x="0" y="1828800"/>
            <a:ext cx="12188952" cy="0"/>
          </a:xfrm>
          <a:prstGeom prst="line">
            <a:avLst/>
          </a:prstGeom>
          <a:noFill/>
          <a:ln w="9525">
            <a:solidFill>
              <a:srgbClr val="0F1826"/>
            </a:solidFill>
            <a:prstDash val="solid"/>
          </a:ln>
        </p:spPr>
      </p:sp>
      <p:sp>
        <p:nvSpPr>
          <p:cNvPr id="4" name="Shape 2"/>
          <p:cNvSpPr/>
          <p:nvPr/>
        </p:nvSpPr>
        <p:spPr>
          <a:xfrm>
            <a:off x="0" y="2743200"/>
            <a:ext cx="12188952" cy="0"/>
          </a:xfrm>
          <a:prstGeom prst="line">
            <a:avLst/>
          </a:prstGeom>
          <a:noFill/>
          <a:ln w="9525">
            <a:solidFill>
              <a:srgbClr val="0F1826"/>
            </a:solidFill>
            <a:prstDash val="solid"/>
          </a:ln>
        </p:spPr>
      </p:sp>
      <p:sp>
        <p:nvSpPr>
          <p:cNvPr id="5" name="Shape 3"/>
          <p:cNvSpPr/>
          <p:nvPr/>
        </p:nvSpPr>
        <p:spPr>
          <a:xfrm>
            <a:off x="0" y="3657600"/>
            <a:ext cx="12188952" cy="0"/>
          </a:xfrm>
          <a:prstGeom prst="line">
            <a:avLst/>
          </a:prstGeom>
          <a:noFill/>
          <a:ln w="9525">
            <a:solidFill>
              <a:srgbClr val="0F1826"/>
            </a:solidFill>
            <a:prstDash val="solid"/>
          </a:ln>
        </p:spPr>
      </p:sp>
      <p:sp>
        <p:nvSpPr>
          <p:cNvPr id="6" name="Shape 4"/>
          <p:cNvSpPr/>
          <p:nvPr/>
        </p:nvSpPr>
        <p:spPr>
          <a:xfrm>
            <a:off x="0" y="4572000"/>
            <a:ext cx="12188952" cy="0"/>
          </a:xfrm>
          <a:prstGeom prst="line">
            <a:avLst/>
          </a:prstGeom>
          <a:noFill/>
          <a:ln w="9525">
            <a:solidFill>
              <a:srgbClr val="0F1826"/>
            </a:solidFill>
            <a:prstDash val="solid"/>
          </a:ln>
        </p:spPr>
      </p:sp>
      <p:sp>
        <p:nvSpPr>
          <p:cNvPr id="7" name="Shape 5"/>
          <p:cNvSpPr/>
          <p:nvPr/>
        </p:nvSpPr>
        <p:spPr>
          <a:xfrm>
            <a:off x="0" y="5486400"/>
            <a:ext cx="12188952" cy="0"/>
          </a:xfrm>
          <a:prstGeom prst="line">
            <a:avLst/>
          </a:prstGeom>
          <a:noFill/>
          <a:ln w="9525">
            <a:solidFill>
              <a:srgbClr val="0F1826"/>
            </a:solidFill>
            <a:prstDash val="solid"/>
          </a:ln>
        </p:spPr>
      </p:sp>
      <p:sp>
        <p:nvSpPr>
          <p:cNvPr id="8" name="Shape 6"/>
          <p:cNvSpPr/>
          <p:nvPr/>
        </p:nvSpPr>
        <p:spPr>
          <a:xfrm>
            <a:off x="0" y="6400800"/>
            <a:ext cx="12188952" cy="0"/>
          </a:xfrm>
          <a:prstGeom prst="line">
            <a:avLst/>
          </a:prstGeom>
          <a:noFill/>
          <a:ln w="9525">
            <a:solidFill>
              <a:srgbClr val="0F1826"/>
            </a:solidFill>
            <a:prstDash val="solid"/>
          </a:ln>
        </p:spPr>
      </p:sp>
      <p:sp>
        <p:nvSpPr>
          <p:cNvPr id="9" name="Shape 7"/>
          <p:cNvSpPr/>
          <p:nvPr/>
        </p:nvSpPr>
        <p:spPr>
          <a:xfrm>
            <a:off x="822960" y="2148840"/>
            <a:ext cx="45720" cy="2377440"/>
          </a:xfrm>
          <a:prstGeom prst="roundRect">
            <a:avLst/>
          </a:prstGeom>
          <a:solidFill>
            <a:srgbClr val="22D3C8"/>
          </a:solidFill>
          <a:ln w="12700">
            <a:solidFill>
              <a:srgbClr val="22D3C8"/>
            </a:solidFill>
            <a:prstDash val="solid"/>
          </a:ln>
        </p:spPr>
      </p:sp>
      <p:sp>
        <p:nvSpPr>
          <p:cNvPr id="10" name="Text 8"/>
          <p:cNvSpPr/>
          <p:nvPr/>
        </p:nvSpPr>
        <p:spPr>
          <a:xfrm>
            <a:off x="1097280" y="2148840"/>
            <a:ext cx="8229600" cy="365760"/>
          </a:xfrm>
          <a:prstGeom prst="rect">
            <a:avLst/>
          </a:prstGeom>
          <a:noFill/>
          <a:ln/>
        </p:spPr>
        <p:txBody>
          <a:bodyPr wrap="square" rtlCol="0" anchor="ctr"/>
          <a:lstStyle/>
          <a:p>
            <a:pPr marL="0" indent="0">
              <a:buNone/>
            </a:pPr>
            <a:r>
              <a:rPr lang="en-US" sz="1300" b="1" kern="0" spc="300" dirty="0">
                <a:solidFill>
                  <a:srgbClr val="22D3C8"/>
                </a:solidFill>
                <a:latin typeface="Calibri" pitchFamily="34" charset="0"/>
                <a:ea typeface="Calibri" pitchFamily="34" charset="-122"/>
                <a:cs typeface="Calibri" pitchFamily="34" charset="-120"/>
              </a:rPr>
              <a:t>TELECOM NETWORK OPERATIONS  ·  CAPSTONE I</a:t>
            </a:r>
            <a:endParaRPr lang="en-US" sz="1300" dirty="0"/>
          </a:p>
        </p:txBody>
      </p:sp>
      <p:sp>
        <p:nvSpPr>
          <p:cNvPr id="11" name="Text 9"/>
          <p:cNvSpPr/>
          <p:nvPr/>
        </p:nvSpPr>
        <p:spPr>
          <a:xfrm>
            <a:off x="1097280" y="2514600"/>
            <a:ext cx="9875520" cy="1737360"/>
          </a:xfrm>
          <a:prstGeom prst="rect">
            <a:avLst/>
          </a:prstGeom>
          <a:noFill/>
          <a:ln/>
        </p:spPr>
        <p:txBody>
          <a:bodyPr wrap="square" rtlCol="0" anchor="ctr"/>
          <a:lstStyle/>
          <a:p>
            <a:pPr marL="0" indent="0">
              <a:lnSpc>
                <a:spcPts val="4800"/>
              </a:lnSpc>
              <a:buNone/>
            </a:pPr>
            <a:r>
              <a:rPr lang="en-US" sz="4400" b="1" dirty="0">
                <a:solidFill>
                  <a:srgbClr val="F3F7FB"/>
                </a:solidFill>
                <a:latin typeface="Cambria" pitchFamily="34" charset="0"/>
                <a:ea typeface="Cambria" pitchFamily="34" charset="-122"/>
                <a:cs typeface="Cambria" pitchFamily="34" charset="-120"/>
              </a:rPr>
              <a:t>Telecom Network</a:t>
            </a:r>
            <a:endParaRPr lang="en-US" sz="4400" dirty="0"/>
          </a:p>
          <a:p>
            <a:pPr marL="0" indent="0">
              <a:lnSpc>
                <a:spcPts val="4800"/>
              </a:lnSpc>
              <a:buNone/>
            </a:pPr>
            <a:r>
              <a:rPr lang="en-US" sz="4400" b="1" dirty="0">
                <a:solidFill>
                  <a:srgbClr val="F3F7FB"/>
                </a:solidFill>
                <a:latin typeface="Cambria" pitchFamily="34" charset="0"/>
                <a:ea typeface="Cambria" pitchFamily="34" charset="-122"/>
                <a:cs typeface="Cambria" pitchFamily="34" charset="-120"/>
              </a:rPr>
              <a:t>Intelligence Platform</a:t>
            </a:r>
            <a:endParaRPr lang="en-US" sz="4400" dirty="0"/>
          </a:p>
        </p:txBody>
      </p:sp>
      <p:sp>
        <p:nvSpPr>
          <p:cNvPr id="12" name="Text 10"/>
          <p:cNvSpPr/>
          <p:nvPr/>
        </p:nvSpPr>
        <p:spPr>
          <a:xfrm>
            <a:off x="1097280" y="4160520"/>
            <a:ext cx="9144000" cy="457200"/>
          </a:xfrm>
          <a:prstGeom prst="rect">
            <a:avLst/>
          </a:prstGeom>
          <a:noFill/>
          <a:ln/>
        </p:spPr>
        <p:txBody>
          <a:bodyPr wrap="square" rtlCol="0" anchor="ctr"/>
          <a:lstStyle/>
          <a:p>
            <a:pPr marL="0" indent="0">
              <a:buNone/>
            </a:pPr>
            <a:r>
              <a:rPr lang="en-US" sz="1600" dirty="0">
                <a:solidFill>
                  <a:srgbClr val="9FB0C7"/>
                </a:solidFill>
                <a:latin typeface="Calibri" pitchFamily="34" charset="0"/>
                <a:ea typeface="Calibri" pitchFamily="34" charset="-122"/>
                <a:cs typeface="Calibri" pitchFamily="34" charset="-120"/>
              </a:rPr>
              <a:t>AI-Powered NOC Monitoring, Anomaly Detection &amp; Network Risk Prediction</a:t>
            </a:r>
            <a:endParaRPr lang="en-US" sz="1600" dirty="0"/>
          </a:p>
        </p:txBody>
      </p:sp>
      <p:sp>
        <p:nvSpPr>
          <p:cNvPr id="13" name="Shape 11"/>
          <p:cNvSpPr/>
          <p:nvPr/>
        </p:nvSpPr>
        <p:spPr>
          <a:xfrm>
            <a:off x="1097280" y="4892040"/>
            <a:ext cx="768096" cy="365760"/>
          </a:xfrm>
          <a:prstGeom prst="roundRect">
            <a:avLst>
              <a:gd name="adj" fmla="val 50000"/>
            </a:avLst>
          </a:prstGeom>
          <a:solidFill>
            <a:srgbClr val="0F1826"/>
          </a:solidFill>
          <a:ln w="12700">
            <a:solidFill>
              <a:srgbClr val="4C8DFF"/>
            </a:solidFill>
            <a:prstDash val="solid"/>
          </a:ln>
        </p:spPr>
      </p:sp>
      <p:sp>
        <p:nvSpPr>
          <p:cNvPr id="14" name="Text 12"/>
          <p:cNvSpPr/>
          <p:nvPr/>
        </p:nvSpPr>
        <p:spPr>
          <a:xfrm>
            <a:off x="1097280" y="4892040"/>
            <a:ext cx="768096" cy="365760"/>
          </a:xfrm>
          <a:prstGeom prst="rect">
            <a:avLst/>
          </a:prstGeom>
          <a:noFill/>
          <a:ln/>
        </p:spPr>
        <p:txBody>
          <a:bodyPr wrap="square" rtlCol="0" anchor="ctr"/>
          <a:lstStyle/>
          <a:p>
            <a:pPr marL="0" indent="0" algn="ctr">
              <a:buNone/>
            </a:pPr>
            <a:r>
              <a:rPr lang="en-US" sz="1100" b="1" dirty="0">
                <a:solidFill>
                  <a:srgbClr val="F3F7FB"/>
                </a:solidFill>
                <a:latin typeface="Calibri" pitchFamily="34" charset="0"/>
                <a:ea typeface="Calibri" pitchFamily="34" charset="-122"/>
                <a:cs typeface="Calibri" pitchFamily="34" charset="-120"/>
              </a:rPr>
              <a:t>Python</a:t>
            </a:r>
            <a:endParaRPr lang="en-US" sz="1100" dirty="0"/>
          </a:p>
        </p:txBody>
      </p:sp>
      <p:sp>
        <p:nvSpPr>
          <p:cNvPr id="15" name="Shape 13"/>
          <p:cNvSpPr/>
          <p:nvPr/>
        </p:nvSpPr>
        <p:spPr>
          <a:xfrm>
            <a:off x="2048256" y="4892040"/>
            <a:ext cx="850392" cy="365760"/>
          </a:xfrm>
          <a:prstGeom prst="roundRect">
            <a:avLst>
              <a:gd name="adj" fmla="val 50000"/>
            </a:avLst>
          </a:prstGeom>
          <a:solidFill>
            <a:srgbClr val="0F1826"/>
          </a:solidFill>
          <a:ln w="12700">
            <a:solidFill>
              <a:srgbClr val="4C8DFF"/>
            </a:solidFill>
            <a:prstDash val="solid"/>
          </a:ln>
        </p:spPr>
      </p:sp>
      <p:sp>
        <p:nvSpPr>
          <p:cNvPr id="16" name="Text 14"/>
          <p:cNvSpPr/>
          <p:nvPr/>
        </p:nvSpPr>
        <p:spPr>
          <a:xfrm>
            <a:off x="2048256" y="4892040"/>
            <a:ext cx="850392" cy="365760"/>
          </a:xfrm>
          <a:prstGeom prst="rect">
            <a:avLst/>
          </a:prstGeom>
          <a:noFill/>
          <a:ln/>
        </p:spPr>
        <p:txBody>
          <a:bodyPr wrap="square" rtlCol="0" anchor="ctr"/>
          <a:lstStyle/>
          <a:p>
            <a:pPr marL="0" indent="0" algn="ctr">
              <a:buNone/>
            </a:pPr>
            <a:r>
              <a:rPr lang="en-US" sz="1100" b="1" dirty="0">
                <a:solidFill>
                  <a:srgbClr val="F3F7FB"/>
                </a:solidFill>
                <a:latin typeface="Calibri" pitchFamily="34" charset="0"/>
                <a:ea typeface="Calibri" pitchFamily="34" charset="-122"/>
                <a:cs typeface="Calibri" pitchFamily="34" charset="-120"/>
              </a:rPr>
              <a:t>PySpark</a:t>
            </a:r>
            <a:endParaRPr lang="en-US" sz="1100" dirty="0"/>
          </a:p>
        </p:txBody>
      </p:sp>
      <p:sp>
        <p:nvSpPr>
          <p:cNvPr id="17" name="Shape 15"/>
          <p:cNvSpPr/>
          <p:nvPr/>
        </p:nvSpPr>
        <p:spPr>
          <a:xfrm>
            <a:off x="3081528" y="4892040"/>
            <a:ext cx="1591056" cy="365760"/>
          </a:xfrm>
          <a:prstGeom prst="roundRect">
            <a:avLst>
              <a:gd name="adj" fmla="val 50000"/>
            </a:avLst>
          </a:prstGeom>
          <a:solidFill>
            <a:srgbClr val="0F1826"/>
          </a:solidFill>
          <a:ln w="12700">
            <a:solidFill>
              <a:srgbClr val="22D3C8"/>
            </a:solidFill>
            <a:prstDash val="solid"/>
          </a:ln>
        </p:spPr>
      </p:sp>
      <p:sp>
        <p:nvSpPr>
          <p:cNvPr id="18" name="Text 16"/>
          <p:cNvSpPr/>
          <p:nvPr/>
        </p:nvSpPr>
        <p:spPr>
          <a:xfrm>
            <a:off x="3081528" y="4892040"/>
            <a:ext cx="1591056" cy="365760"/>
          </a:xfrm>
          <a:prstGeom prst="rect">
            <a:avLst/>
          </a:prstGeom>
          <a:noFill/>
          <a:ln/>
        </p:spPr>
        <p:txBody>
          <a:bodyPr wrap="square" rtlCol="0" anchor="ctr"/>
          <a:lstStyle/>
          <a:p>
            <a:pPr marL="0" indent="0" algn="ctr">
              <a:buNone/>
            </a:pPr>
            <a:r>
              <a:rPr lang="en-US" sz="1100" b="1" dirty="0">
                <a:solidFill>
                  <a:srgbClr val="F3F7FB"/>
                </a:solidFill>
                <a:latin typeface="Calibri" pitchFamily="34" charset="0"/>
                <a:ea typeface="Calibri" pitchFamily="34" charset="-122"/>
                <a:cs typeface="Calibri" pitchFamily="34" charset="-120"/>
              </a:rPr>
              <a:t>Machine Learning</a:t>
            </a:r>
            <a:endParaRPr lang="en-US" sz="1100" dirty="0"/>
          </a:p>
        </p:txBody>
      </p:sp>
      <p:sp>
        <p:nvSpPr>
          <p:cNvPr id="19" name="Shape 17"/>
          <p:cNvSpPr/>
          <p:nvPr/>
        </p:nvSpPr>
        <p:spPr>
          <a:xfrm>
            <a:off x="4855464" y="4892040"/>
            <a:ext cx="850392" cy="365760"/>
          </a:xfrm>
          <a:prstGeom prst="roundRect">
            <a:avLst>
              <a:gd name="adj" fmla="val 50000"/>
            </a:avLst>
          </a:prstGeom>
          <a:solidFill>
            <a:srgbClr val="0F1826"/>
          </a:solidFill>
          <a:ln w="12700">
            <a:solidFill>
              <a:srgbClr val="34D399"/>
            </a:solidFill>
            <a:prstDash val="solid"/>
          </a:ln>
        </p:spPr>
      </p:sp>
      <p:sp>
        <p:nvSpPr>
          <p:cNvPr id="20" name="Text 18"/>
          <p:cNvSpPr/>
          <p:nvPr/>
        </p:nvSpPr>
        <p:spPr>
          <a:xfrm>
            <a:off x="4855464" y="4892040"/>
            <a:ext cx="850392" cy="365760"/>
          </a:xfrm>
          <a:prstGeom prst="rect">
            <a:avLst/>
          </a:prstGeom>
          <a:noFill/>
          <a:ln/>
        </p:spPr>
        <p:txBody>
          <a:bodyPr wrap="square" rtlCol="0" anchor="ctr"/>
          <a:lstStyle/>
          <a:p>
            <a:pPr marL="0" indent="0" algn="ctr">
              <a:buNone/>
            </a:pPr>
            <a:r>
              <a:rPr lang="en-US" sz="1100" b="1" dirty="0">
                <a:solidFill>
                  <a:srgbClr val="F3F7FB"/>
                </a:solidFill>
                <a:latin typeface="Calibri" pitchFamily="34" charset="0"/>
                <a:ea typeface="Calibri" pitchFamily="34" charset="-122"/>
                <a:cs typeface="Calibri" pitchFamily="34" charset="-120"/>
              </a:rPr>
              <a:t>FastAPI</a:t>
            </a:r>
            <a:endParaRPr lang="en-US" sz="1100" dirty="0"/>
          </a:p>
        </p:txBody>
      </p:sp>
      <p:sp>
        <p:nvSpPr>
          <p:cNvPr id="21" name="Shape 19"/>
          <p:cNvSpPr/>
          <p:nvPr/>
        </p:nvSpPr>
        <p:spPr>
          <a:xfrm>
            <a:off x="5888736" y="4892040"/>
            <a:ext cx="685800" cy="365760"/>
          </a:xfrm>
          <a:prstGeom prst="roundRect">
            <a:avLst>
              <a:gd name="adj" fmla="val 50000"/>
            </a:avLst>
          </a:prstGeom>
          <a:solidFill>
            <a:srgbClr val="0F1826"/>
          </a:solidFill>
          <a:ln w="12700">
            <a:solidFill>
              <a:srgbClr val="F5A623"/>
            </a:solidFill>
            <a:prstDash val="solid"/>
          </a:ln>
        </p:spPr>
      </p:sp>
      <p:sp>
        <p:nvSpPr>
          <p:cNvPr id="22" name="Text 20"/>
          <p:cNvSpPr/>
          <p:nvPr/>
        </p:nvSpPr>
        <p:spPr>
          <a:xfrm>
            <a:off x="5888736" y="4892040"/>
            <a:ext cx="685800" cy="365760"/>
          </a:xfrm>
          <a:prstGeom prst="rect">
            <a:avLst/>
          </a:prstGeom>
          <a:noFill/>
          <a:ln/>
        </p:spPr>
        <p:txBody>
          <a:bodyPr wrap="square" rtlCol="0" anchor="ctr"/>
          <a:lstStyle/>
          <a:p>
            <a:pPr marL="0" indent="0" algn="ctr">
              <a:buNone/>
            </a:pPr>
            <a:r>
              <a:rPr lang="en-US" sz="1100" b="1" dirty="0">
                <a:solidFill>
                  <a:srgbClr val="F3F7FB"/>
                </a:solidFill>
                <a:latin typeface="Calibri" pitchFamily="34" charset="0"/>
                <a:ea typeface="Calibri" pitchFamily="34" charset="-122"/>
                <a:cs typeface="Calibri" pitchFamily="34" charset="-120"/>
              </a:rPr>
              <a:t>React</a:t>
            </a:r>
            <a:endParaRPr lang="en-US" sz="1100" dirty="0"/>
          </a:p>
        </p:txBody>
      </p:sp>
      <p:sp>
        <p:nvSpPr>
          <p:cNvPr id="23" name="Text 21"/>
          <p:cNvSpPr/>
          <p:nvPr/>
        </p:nvSpPr>
        <p:spPr>
          <a:xfrm>
            <a:off x="1097280" y="5989320"/>
            <a:ext cx="10058400" cy="365760"/>
          </a:xfrm>
          <a:prstGeom prst="rect">
            <a:avLst/>
          </a:prstGeom>
          <a:noFill/>
          <a:ln/>
        </p:spPr>
        <p:txBody>
          <a:bodyPr wrap="square" rtlCol="0" anchor="ctr"/>
          <a:lstStyle/>
          <a:p>
            <a:pPr marL="0" indent="0">
              <a:buNone/>
            </a:pPr>
            <a:r>
              <a:rPr lang="en-US" sz="1200" dirty="0">
                <a:solidFill>
                  <a:srgbClr val="5D7391"/>
                </a:solidFill>
                <a:latin typeface="Calibri" pitchFamily="34" charset="0"/>
                <a:ea typeface="Calibri" pitchFamily="34" charset="-122"/>
                <a:cs typeface="Calibri" pitchFamily="34" charset="-120"/>
              </a:rPr>
              <a:t>Data Engineering  →  ML Intelligence  →  Risk &amp; Anomaly Detection  →  FastAPI  →  React NOC Dashboard</a:t>
            </a:r>
            <a:endParaRPr lang="en-US" sz="1200" dirty="0"/>
          </a:p>
        </p:txBody>
      </p:sp>
      <p:sp>
        <p:nvSpPr>
          <p:cNvPr id="24" name="Text 2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INDUSTRY PROBLEM</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Manual NOC Monitoring Doesn't Scale</a:t>
            </a:r>
            <a:endParaRPr lang="en-US" sz="3000" dirty="0"/>
          </a:p>
        </p:txBody>
      </p:sp>
      <p:sp>
        <p:nvSpPr>
          <p:cNvPr id="4" name="Shape 2"/>
          <p:cNvSpPr/>
          <p:nvPr/>
        </p:nvSpPr>
        <p:spPr>
          <a:xfrm>
            <a:off x="640080" y="1627632"/>
            <a:ext cx="146304" cy="146304"/>
          </a:xfrm>
          <a:prstGeom prst="ellipse">
            <a:avLst/>
          </a:prstGeom>
          <a:solidFill>
            <a:srgbClr val="EF4A4A"/>
          </a:solidFill>
          <a:ln/>
        </p:spPr>
      </p:sp>
      <p:sp>
        <p:nvSpPr>
          <p:cNvPr id="5" name="Text 3"/>
          <p:cNvSpPr/>
          <p:nvPr/>
        </p:nvSpPr>
        <p:spPr>
          <a:xfrm>
            <a:off x="960120" y="1527048"/>
            <a:ext cx="6035040" cy="457200"/>
          </a:xfrm>
          <a:prstGeom prst="rect">
            <a:avLst/>
          </a:prstGeom>
          <a:noFill/>
          <a:ln/>
        </p:spPr>
        <p:txBody>
          <a:bodyPr wrap="square" rtlCol="0" anchor="ctr"/>
          <a:lstStyle/>
          <a:p>
            <a:pPr marL="0" indent="0">
              <a:buNone/>
            </a:pPr>
            <a:r>
              <a:rPr lang="en-US" sz="1350" dirty="0">
                <a:solidFill>
                  <a:srgbClr val="F3F7FB"/>
                </a:solidFill>
                <a:latin typeface="Calibri" pitchFamily="34" charset="0"/>
                <a:ea typeface="Calibri" pitchFamily="34" charset="-122"/>
                <a:cs typeface="Calibri" pitchFamily="34" charset="-120"/>
              </a:rPr>
              <a:t>High-volume telemetry across every network cell</a:t>
            </a:r>
            <a:endParaRPr lang="en-US" sz="1350" dirty="0"/>
          </a:p>
        </p:txBody>
      </p:sp>
      <p:sp>
        <p:nvSpPr>
          <p:cNvPr id="6" name="Shape 4"/>
          <p:cNvSpPr/>
          <p:nvPr/>
        </p:nvSpPr>
        <p:spPr>
          <a:xfrm>
            <a:off x="640080" y="2194560"/>
            <a:ext cx="146304" cy="146304"/>
          </a:xfrm>
          <a:prstGeom prst="ellipse">
            <a:avLst/>
          </a:prstGeom>
          <a:solidFill>
            <a:srgbClr val="EF4A4A"/>
          </a:solidFill>
          <a:ln/>
        </p:spPr>
      </p:sp>
      <p:sp>
        <p:nvSpPr>
          <p:cNvPr id="7" name="Text 5"/>
          <p:cNvSpPr/>
          <p:nvPr/>
        </p:nvSpPr>
        <p:spPr>
          <a:xfrm>
            <a:off x="960120" y="2093976"/>
            <a:ext cx="6035040" cy="457200"/>
          </a:xfrm>
          <a:prstGeom prst="rect">
            <a:avLst/>
          </a:prstGeom>
          <a:noFill/>
          <a:ln/>
        </p:spPr>
        <p:txBody>
          <a:bodyPr wrap="square" rtlCol="0" anchor="ctr"/>
          <a:lstStyle/>
          <a:p>
            <a:pPr marL="0" indent="0">
              <a:buNone/>
            </a:pPr>
            <a:r>
              <a:rPr lang="en-US" sz="1350" dirty="0">
                <a:solidFill>
                  <a:srgbClr val="F3F7FB"/>
                </a:solidFill>
                <a:latin typeface="Calibri" pitchFamily="34" charset="0"/>
                <a:ea typeface="Calibri" pitchFamily="34" charset="-122"/>
                <a:cs typeface="Calibri" pitchFamily="34" charset="-120"/>
              </a:rPr>
              <a:t>Difficult to spot abnormal behavior in real time</a:t>
            </a:r>
            <a:endParaRPr lang="en-US" sz="1350" dirty="0"/>
          </a:p>
        </p:txBody>
      </p:sp>
      <p:sp>
        <p:nvSpPr>
          <p:cNvPr id="8" name="Shape 6"/>
          <p:cNvSpPr/>
          <p:nvPr/>
        </p:nvSpPr>
        <p:spPr>
          <a:xfrm>
            <a:off x="640080" y="2761488"/>
            <a:ext cx="146304" cy="146304"/>
          </a:xfrm>
          <a:prstGeom prst="ellipse">
            <a:avLst/>
          </a:prstGeom>
          <a:solidFill>
            <a:srgbClr val="EF4A4A"/>
          </a:solidFill>
          <a:ln/>
        </p:spPr>
      </p:sp>
      <p:sp>
        <p:nvSpPr>
          <p:cNvPr id="9" name="Text 7"/>
          <p:cNvSpPr/>
          <p:nvPr/>
        </p:nvSpPr>
        <p:spPr>
          <a:xfrm>
            <a:off x="960120" y="2660904"/>
            <a:ext cx="6035040" cy="457200"/>
          </a:xfrm>
          <a:prstGeom prst="rect">
            <a:avLst/>
          </a:prstGeom>
          <a:noFill/>
          <a:ln/>
        </p:spPr>
        <p:txBody>
          <a:bodyPr wrap="square" lIns="91440" tIns="45720" rIns="91440" bIns="45720" rtlCol="0" anchor="ctr"/>
          <a:lstStyle/>
          <a:p>
            <a:r>
              <a:rPr lang="en-US" sz="1400" dirty="0">
                <a:solidFill>
                  <a:srgbClr val="F3F7FB"/>
                </a:solidFill>
                <a:latin typeface="Calibri"/>
                <a:ea typeface="Calibri"/>
                <a:cs typeface="Calibri"/>
              </a:rPr>
              <a:t>Operations stay reactive rather than proactive</a:t>
            </a:r>
            <a:endParaRPr lang="en-US" sz="1400" dirty="0">
              <a:solidFill>
                <a:srgbClr val="000000"/>
              </a:solidFill>
              <a:latin typeface="Calibri"/>
              <a:ea typeface="Calibri"/>
              <a:cs typeface="Calibri"/>
            </a:endParaRPr>
          </a:p>
        </p:txBody>
      </p:sp>
      <p:sp>
        <p:nvSpPr>
          <p:cNvPr id="10" name="Shape 8"/>
          <p:cNvSpPr/>
          <p:nvPr/>
        </p:nvSpPr>
        <p:spPr>
          <a:xfrm>
            <a:off x="640080" y="3328416"/>
            <a:ext cx="146304" cy="146304"/>
          </a:xfrm>
          <a:prstGeom prst="ellipse">
            <a:avLst/>
          </a:prstGeom>
          <a:solidFill>
            <a:srgbClr val="EF4A4A"/>
          </a:solidFill>
          <a:ln/>
        </p:spPr>
      </p:sp>
      <p:sp>
        <p:nvSpPr>
          <p:cNvPr id="11" name="Text 9"/>
          <p:cNvSpPr/>
          <p:nvPr/>
        </p:nvSpPr>
        <p:spPr>
          <a:xfrm>
            <a:off x="960120" y="3227832"/>
            <a:ext cx="6035040" cy="457200"/>
          </a:xfrm>
          <a:prstGeom prst="rect">
            <a:avLst/>
          </a:prstGeom>
          <a:noFill/>
          <a:ln/>
        </p:spPr>
        <p:txBody>
          <a:bodyPr wrap="square" rtlCol="0" anchor="ctr"/>
          <a:lstStyle/>
          <a:p>
            <a:pPr marL="0" indent="0">
              <a:buNone/>
            </a:pPr>
            <a:r>
              <a:rPr lang="en-US" sz="1350" dirty="0">
                <a:solidFill>
                  <a:srgbClr val="F3F7FB"/>
                </a:solidFill>
                <a:latin typeface="Calibri" pitchFamily="34" charset="0"/>
                <a:ea typeface="Calibri" pitchFamily="34" charset="-122"/>
                <a:cs typeface="Calibri" pitchFamily="34" charset="-120"/>
              </a:rPr>
              <a:t>Alerts aren't correlated with geography</a:t>
            </a:r>
            <a:endParaRPr lang="en-US" sz="1350" dirty="0"/>
          </a:p>
        </p:txBody>
      </p:sp>
      <p:sp>
        <p:nvSpPr>
          <p:cNvPr id="12" name="Shape 10"/>
          <p:cNvSpPr/>
          <p:nvPr/>
        </p:nvSpPr>
        <p:spPr>
          <a:xfrm>
            <a:off x="640080" y="3895344"/>
            <a:ext cx="146304" cy="146304"/>
          </a:xfrm>
          <a:prstGeom prst="ellipse">
            <a:avLst/>
          </a:prstGeom>
          <a:solidFill>
            <a:srgbClr val="EF4A4A"/>
          </a:solidFill>
          <a:ln/>
        </p:spPr>
      </p:sp>
      <p:sp>
        <p:nvSpPr>
          <p:cNvPr id="13" name="Text 11"/>
          <p:cNvSpPr/>
          <p:nvPr/>
        </p:nvSpPr>
        <p:spPr>
          <a:xfrm>
            <a:off x="960120" y="3794760"/>
            <a:ext cx="6035040" cy="457200"/>
          </a:xfrm>
          <a:prstGeom prst="rect">
            <a:avLst/>
          </a:prstGeom>
          <a:noFill/>
          <a:ln/>
        </p:spPr>
        <p:txBody>
          <a:bodyPr wrap="square" rtlCol="0" anchor="ctr"/>
          <a:lstStyle/>
          <a:p>
            <a:pPr marL="0" indent="0">
              <a:buNone/>
            </a:pPr>
            <a:r>
              <a:rPr lang="en-US" sz="1350" dirty="0">
                <a:solidFill>
                  <a:srgbClr val="F3F7FB"/>
                </a:solidFill>
                <a:latin typeface="Calibri" pitchFamily="34" charset="0"/>
                <a:ea typeface="Calibri" pitchFamily="34" charset="-122"/>
                <a:cs typeface="Calibri" pitchFamily="34" charset="-120"/>
              </a:rPr>
              <a:t>Limited historical pattern analysis</a:t>
            </a:r>
            <a:endParaRPr lang="en-US" sz="1350" dirty="0"/>
          </a:p>
        </p:txBody>
      </p:sp>
      <p:sp>
        <p:nvSpPr>
          <p:cNvPr id="14" name="Shape 12"/>
          <p:cNvSpPr/>
          <p:nvPr/>
        </p:nvSpPr>
        <p:spPr>
          <a:xfrm>
            <a:off x="640080" y="4462272"/>
            <a:ext cx="146304" cy="146304"/>
          </a:xfrm>
          <a:prstGeom prst="ellipse">
            <a:avLst/>
          </a:prstGeom>
          <a:solidFill>
            <a:srgbClr val="EF4A4A"/>
          </a:solidFill>
          <a:ln/>
        </p:spPr>
      </p:sp>
      <p:sp>
        <p:nvSpPr>
          <p:cNvPr id="15" name="Text 13"/>
          <p:cNvSpPr/>
          <p:nvPr/>
        </p:nvSpPr>
        <p:spPr>
          <a:xfrm>
            <a:off x="960120" y="4361688"/>
            <a:ext cx="6035040" cy="457200"/>
          </a:xfrm>
          <a:prstGeom prst="rect">
            <a:avLst/>
          </a:prstGeom>
          <a:noFill/>
          <a:ln/>
        </p:spPr>
        <p:txBody>
          <a:bodyPr wrap="square" rtlCol="0" anchor="ctr"/>
          <a:lstStyle/>
          <a:p>
            <a:pPr marL="0" indent="0">
              <a:buNone/>
            </a:pPr>
            <a:r>
              <a:rPr lang="en-US" sz="1350" dirty="0">
                <a:solidFill>
                  <a:srgbClr val="F3F7FB"/>
                </a:solidFill>
                <a:latin typeface="Calibri" pitchFamily="34" charset="0"/>
                <a:ea typeface="Calibri" pitchFamily="34" charset="-122"/>
                <a:cs typeface="Calibri" pitchFamily="34" charset="-120"/>
              </a:rPr>
              <a:t>No unified, single-pane NOC view</a:t>
            </a:r>
            <a:endParaRPr lang="en-US" sz="1350" dirty="0"/>
          </a:p>
        </p:txBody>
      </p:sp>
      <p:sp>
        <p:nvSpPr>
          <p:cNvPr id="17" name="Text 15"/>
          <p:cNvSpPr/>
          <p:nvPr/>
        </p:nvSpPr>
        <p:spPr>
          <a:xfrm>
            <a:off x="960120" y="4928616"/>
            <a:ext cx="6035040" cy="457200"/>
          </a:xfrm>
          <a:prstGeom prst="rect">
            <a:avLst/>
          </a:prstGeom>
          <a:noFill/>
          <a:ln/>
        </p:spPr>
        <p:txBody>
          <a:bodyPr wrap="square" lIns="91440" tIns="45720" rIns="91440" bIns="45720" rtlCol="0" anchor="ctr"/>
          <a:lstStyle/>
          <a:p>
            <a:pPr marL="0" indent="0">
              <a:buNone/>
            </a:pPr>
            <a:endParaRPr lang="en-US" sz="1350" dirty="0">
              <a:solidFill>
                <a:srgbClr val="F3F7FB"/>
              </a:solidFill>
              <a:ea typeface="Calibri"/>
              <a:cs typeface="Calibri"/>
            </a:endParaRPr>
          </a:p>
        </p:txBody>
      </p:sp>
      <p:sp>
        <p:nvSpPr>
          <p:cNvPr id="18" name="Shape 16"/>
          <p:cNvSpPr/>
          <p:nvPr/>
        </p:nvSpPr>
        <p:spPr>
          <a:xfrm>
            <a:off x="7178040" y="1600200"/>
            <a:ext cx="4389120" cy="4023360"/>
          </a:xfrm>
          <a:prstGeom prst="roundRect">
            <a:avLst>
              <a:gd name="adj" fmla="val 1818"/>
            </a:avLst>
          </a:prstGeom>
          <a:solidFill>
            <a:srgbClr val="0F1826"/>
          </a:solidFill>
          <a:ln w="12700">
            <a:solidFill>
              <a:srgbClr val="223049"/>
            </a:solidFill>
            <a:prstDash val="solid"/>
          </a:ln>
          <a:effectLst>
            <a:outerShdw blurRad="101600" dist="38100" dir="5400000" algn="bl" rotWithShape="0">
              <a:srgbClr val="000000">
                <a:alpha val="35000"/>
              </a:srgbClr>
            </a:outerShdw>
          </a:effectLst>
        </p:spPr>
      </p:sp>
      <p:sp>
        <p:nvSpPr>
          <p:cNvPr id="19" name="Text 17"/>
          <p:cNvSpPr/>
          <p:nvPr/>
        </p:nvSpPr>
        <p:spPr>
          <a:xfrm>
            <a:off x="7452360" y="1828800"/>
            <a:ext cx="3840480" cy="274320"/>
          </a:xfrm>
          <a:prstGeom prst="rect">
            <a:avLst/>
          </a:prstGeom>
          <a:noFill/>
          <a:ln/>
        </p:spPr>
        <p:txBody>
          <a:bodyPr wrap="square" rtlCol="0" anchor="ctr"/>
          <a:lstStyle/>
          <a:p>
            <a:pPr marL="0" indent="0">
              <a:buNone/>
            </a:pPr>
            <a:r>
              <a:rPr lang="en-US" sz="1050" b="1" kern="0" spc="150" dirty="0">
                <a:solidFill>
                  <a:srgbClr val="5D7391"/>
                </a:solidFill>
                <a:latin typeface="Calibri" pitchFamily="34" charset="0"/>
                <a:ea typeface="Calibri" pitchFamily="34" charset="-122"/>
                <a:cs typeface="Calibri" pitchFamily="34" charset="-120"/>
              </a:rPr>
              <a:t>RAW TELEMETRY FEED</a:t>
            </a:r>
            <a:endParaRPr lang="en-US" sz="1050" dirty="0"/>
          </a:p>
        </p:txBody>
      </p:sp>
      <p:sp>
        <p:nvSpPr>
          <p:cNvPr id="20" name="Text 18"/>
          <p:cNvSpPr/>
          <p:nvPr/>
        </p:nvSpPr>
        <p:spPr>
          <a:xfrm>
            <a:off x="7452360" y="22402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cell_4417</a:t>
            </a:r>
            <a:endParaRPr lang="en-US" sz="1100" dirty="0"/>
          </a:p>
        </p:txBody>
      </p:sp>
      <p:sp>
        <p:nvSpPr>
          <p:cNvPr id="21" name="Text 19"/>
          <p:cNvSpPr/>
          <p:nvPr/>
        </p:nvSpPr>
        <p:spPr>
          <a:xfrm>
            <a:off x="9098280" y="2240280"/>
            <a:ext cx="2194560" cy="320040"/>
          </a:xfrm>
          <a:prstGeom prst="rect">
            <a:avLst/>
          </a:prstGeom>
          <a:noFill/>
          <a:ln/>
        </p:spPr>
        <p:txBody>
          <a:bodyPr wrap="square" rtlCol="0" anchor="ctr"/>
          <a:lstStyle/>
          <a:p>
            <a:pPr marL="0" indent="0">
              <a:buNone/>
            </a:pPr>
            <a:r>
              <a:rPr lang="en-US" sz="1100" dirty="0">
                <a:solidFill>
                  <a:srgbClr val="5D7391"/>
                </a:solidFill>
                <a:latin typeface="Calibri" pitchFamily="34" charset="0"/>
                <a:ea typeface="Calibri" pitchFamily="34" charset="-122"/>
                <a:cs typeface="Calibri" pitchFamily="34" charset="-120"/>
              </a:rPr>
              <a:t>SMS+CALL+NET</a:t>
            </a:r>
            <a:endParaRPr lang="en-US" sz="1100" dirty="0"/>
          </a:p>
        </p:txBody>
      </p:sp>
      <p:sp>
        <p:nvSpPr>
          <p:cNvPr id="22" name="Text 20"/>
          <p:cNvSpPr/>
          <p:nvPr/>
        </p:nvSpPr>
        <p:spPr>
          <a:xfrm>
            <a:off x="7452360" y="26974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cell_1182</a:t>
            </a:r>
            <a:endParaRPr lang="en-US" sz="1100" dirty="0"/>
          </a:p>
        </p:txBody>
      </p:sp>
      <p:sp>
        <p:nvSpPr>
          <p:cNvPr id="23" name="Text 21"/>
          <p:cNvSpPr/>
          <p:nvPr/>
        </p:nvSpPr>
        <p:spPr>
          <a:xfrm>
            <a:off x="9098280" y="2697480"/>
            <a:ext cx="2194560" cy="320040"/>
          </a:xfrm>
          <a:prstGeom prst="rect">
            <a:avLst/>
          </a:prstGeom>
          <a:noFill/>
          <a:ln/>
        </p:spPr>
        <p:txBody>
          <a:bodyPr wrap="square"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spike detected</a:t>
            </a:r>
            <a:endParaRPr lang="en-US" sz="1100" dirty="0"/>
          </a:p>
        </p:txBody>
      </p:sp>
      <p:sp>
        <p:nvSpPr>
          <p:cNvPr id="24" name="Text 22"/>
          <p:cNvSpPr/>
          <p:nvPr/>
        </p:nvSpPr>
        <p:spPr>
          <a:xfrm>
            <a:off x="7452360" y="31546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cell_2290</a:t>
            </a:r>
            <a:endParaRPr lang="en-US" sz="1100" dirty="0"/>
          </a:p>
        </p:txBody>
      </p:sp>
      <p:sp>
        <p:nvSpPr>
          <p:cNvPr id="25" name="Text 23"/>
          <p:cNvSpPr/>
          <p:nvPr/>
        </p:nvSpPr>
        <p:spPr>
          <a:xfrm>
            <a:off x="9098280" y="3154680"/>
            <a:ext cx="2194560" cy="320040"/>
          </a:xfrm>
          <a:prstGeom prst="rect">
            <a:avLst/>
          </a:prstGeom>
          <a:noFill/>
          <a:ln/>
        </p:spPr>
        <p:txBody>
          <a:bodyPr wrap="square" rtlCol="0" anchor="ctr"/>
          <a:lstStyle/>
          <a:p>
            <a:pPr marL="0" indent="0">
              <a:buNone/>
            </a:pPr>
            <a:r>
              <a:rPr lang="en-US" sz="1100" dirty="0">
                <a:solidFill>
                  <a:srgbClr val="5D7391"/>
                </a:solidFill>
                <a:latin typeface="Calibri" pitchFamily="34" charset="0"/>
                <a:ea typeface="Calibri" pitchFamily="34" charset="-122"/>
                <a:cs typeface="Calibri" pitchFamily="34" charset="-120"/>
              </a:rPr>
              <a:t>normal</a:t>
            </a:r>
            <a:endParaRPr lang="en-US" sz="1100" dirty="0"/>
          </a:p>
        </p:txBody>
      </p:sp>
      <p:sp>
        <p:nvSpPr>
          <p:cNvPr id="26" name="Text 24"/>
          <p:cNvSpPr/>
          <p:nvPr/>
        </p:nvSpPr>
        <p:spPr>
          <a:xfrm>
            <a:off x="7452360" y="36118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cell_0033</a:t>
            </a:r>
            <a:endParaRPr lang="en-US" sz="1100" dirty="0"/>
          </a:p>
        </p:txBody>
      </p:sp>
      <p:sp>
        <p:nvSpPr>
          <p:cNvPr id="27" name="Text 25"/>
          <p:cNvSpPr/>
          <p:nvPr/>
        </p:nvSpPr>
        <p:spPr>
          <a:xfrm>
            <a:off x="9098280" y="3611880"/>
            <a:ext cx="2194560" cy="320040"/>
          </a:xfrm>
          <a:prstGeom prst="rect">
            <a:avLst/>
          </a:prstGeom>
          <a:noFill/>
          <a:ln/>
        </p:spPr>
        <p:txBody>
          <a:bodyPr wrap="square" rtlCol="0" anchor="ctr"/>
          <a:lstStyle/>
          <a:p>
            <a:pPr marL="0" indent="0">
              <a:buNone/>
            </a:pPr>
            <a:r>
              <a:rPr lang="en-US" sz="1100" dirty="0">
                <a:solidFill>
                  <a:srgbClr val="5D7391"/>
                </a:solidFill>
                <a:latin typeface="Calibri" pitchFamily="34" charset="0"/>
                <a:ea typeface="Calibri" pitchFamily="34" charset="-122"/>
                <a:cs typeface="Calibri" pitchFamily="34" charset="-120"/>
              </a:rPr>
              <a:t>no correlation</a:t>
            </a:r>
            <a:endParaRPr lang="en-US" sz="1100" dirty="0"/>
          </a:p>
        </p:txBody>
      </p:sp>
      <p:sp>
        <p:nvSpPr>
          <p:cNvPr id="28" name="Text 26"/>
          <p:cNvSpPr/>
          <p:nvPr/>
        </p:nvSpPr>
        <p:spPr>
          <a:xfrm>
            <a:off x="7452360" y="40690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cell_5561</a:t>
            </a:r>
            <a:endParaRPr lang="en-US" sz="1100" dirty="0"/>
          </a:p>
        </p:txBody>
      </p:sp>
      <p:sp>
        <p:nvSpPr>
          <p:cNvPr id="29" name="Text 27"/>
          <p:cNvSpPr/>
          <p:nvPr/>
        </p:nvSpPr>
        <p:spPr>
          <a:xfrm>
            <a:off x="9098280" y="4069080"/>
            <a:ext cx="2194560" cy="320040"/>
          </a:xfrm>
          <a:prstGeom prst="rect">
            <a:avLst/>
          </a:prstGeom>
          <a:noFill/>
          <a:ln/>
        </p:spPr>
        <p:txBody>
          <a:bodyPr wrap="square" rtlCol="0" anchor="ctr"/>
          <a:lstStyle/>
          <a:p>
            <a:pPr marL="0" indent="0">
              <a:buNone/>
            </a:pPr>
            <a:r>
              <a:rPr lang="en-US" sz="1100" b="1" dirty="0">
                <a:solidFill>
                  <a:srgbClr val="EF4A4A"/>
                </a:solidFill>
                <a:latin typeface="Calibri" pitchFamily="34" charset="0"/>
                <a:ea typeface="Calibri" pitchFamily="34" charset="-122"/>
                <a:cs typeface="Calibri" pitchFamily="34" charset="-120"/>
              </a:rPr>
              <a:t>critical volume</a:t>
            </a:r>
            <a:endParaRPr lang="en-US" sz="1100" dirty="0"/>
          </a:p>
        </p:txBody>
      </p:sp>
      <p:sp>
        <p:nvSpPr>
          <p:cNvPr id="30" name="Text 28"/>
          <p:cNvSpPr/>
          <p:nvPr/>
        </p:nvSpPr>
        <p:spPr>
          <a:xfrm>
            <a:off x="7452360" y="45262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cell_1004</a:t>
            </a:r>
            <a:endParaRPr lang="en-US" sz="1100" dirty="0"/>
          </a:p>
        </p:txBody>
      </p:sp>
      <p:sp>
        <p:nvSpPr>
          <p:cNvPr id="31" name="Text 29"/>
          <p:cNvSpPr/>
          <p:nvPr/>
        </p:nvSpPr>
        <p:spPr>
          <a:xfrm>
            <a:off x="9098280" y="4526280"/>
            <a:ext cx="2194560" cy="320040"/>
          </a:xfrm>
          <a:prstGeom prst="rect">
            <a:avLst/>
          </a:prstGeom>
          <a:noFill/>
          <a:ln/>
        </p:spPr>
        <p:txBody>
          <a:bodyPr wrap="square" rtlCol="0" anchor="ctr"/>
          <a:lstStyle/>
          <a:p>
            <a:pPr marL="0" indent="0">
              <a:buNone/>
            </a:pPr>
            <a:r>
              <a:rPr lang="en-US" sz="1100" dirty="0">
                <a:solidFill>
                  <a:srgbClr val="5D7391"/>
                </a:solidFill>
                <a:latin typeface="Calibri" pitchFamily="34" charset="0"/>
                <a:ea typeface="Calibri" pitchFamily="34" charset="-122"/>
                <a:cs typeface="Calibri" pitchFamily="34" charset="-120"/>
              </a:rPr>
              <a:t>normal</a:t>
            </a:r>
            <a:endParaRPr lang="en-US" sz="1100" dirty="0"/>
          </a:p>
        </p:txBody>
      </p:sp>
      <p:sp>
        <p:nvSpPr>
          <p:cNvPr id="32" name="Text 30"/>
          <p:cNvSpPr/>
          <p:nvPr/>
        </p:nvSpPr>
        <p:spPr>
          <a:xfrm>
            <a:off x="7452360" y="4983480"/>
            <a:ext cx="1554480" cy="320040"/>
          </a:xfrm>
          <a:prstGeom prst="rect">
            <a:avLst/>
          </a:prstGeom>
          <a:noFill/>
          <a:ln/>
        </p:spPr>
        <p:txBody>
          <a:bodyPr wrap="square" rtlCol="0" anchor="ctr"/>
          <a:lstStyle/>
          <a:p>
            <a:pPr marL="0" indent="0">
              <a:buNone/>
            </a:pPr>
            <a:r>
              <a:rPr lang="en-US" sz="1100" dirty="0">
                <a:solidFill>
                  <a:srgbClr val="9FB0C7"/>
                </a:solidFill>
                <a:latin typeface="Courier New" pitchFamily="34" charset="0"/>
                <a:ea typeface="Courier New" pitchFamily="34" charset="-122"/>
                <a:cs typeface="Courier New" pitchFamily="34" charset="-120"/>
              </a:rPr>
              <a:t>cell_7702</a:t>
            </a:r>
            <a:endParaRPr lang="en-US" sz="1100" dirty="0"/>
          </a:p>
        </p:txBody>
      </p:sp>
      <p:sp>
        <p:nvSpPr>
          <p:cNvPr id="33" name="Text 31"/>
          <p:cNvSpPr/>
          <p:nvPr/>
        </p:nvSpPr>
        <p:spPr>
          <a:xfrm>
            <a:off x="9098280" y="4983480"/>
            <a:ext cx="2194560" cy="320040"/>
          </a:xfrm>
          <a:prstGeom prst="rect">
            <a:avLst/>
          </a:prstGeom>
          <a:noFill/>
          <a:ln/>
        </p:spPr>
        <p:txBody>
          <a:bodyPr wrap="square" rtlCol="0" anchor="ctr"/>
          <a:lstStyle/>
          <a:p>
            <a:pPr marL="0" indent="0">
              <a:buNone/>
            </a:pPr>
            <a:r>
              <a:rPr lang="en-US" sz="1100" dirty="0">
                <a:solidFill>
                  <a:srgbClr val="5D7391"/>
                </a:solidFill>
                <a:latin typeface="Calibri" pitchFamily="34" charset="0"/>
                <a:ea typeface="Calibri" pitchFamily="34" charset="-122"/>
                <a:cs typeface="Calibri" pitchFamily="34" charset="-120"/>
              </a:rPr>
              <a:t>unclassified</a:t>
            </a:r>
            <a:endParaRPr lang="en-US" sz="1100" dirty="0"/>
          </a:p>
        </p:txBody>
      </p:sp>
      <p:sp>
        <p:nvSpPr>
          <p:cNvPr id="34" name="Text 32"/>
          <p:cNvSpPr/>
          <p:nvPr/>
        </p:nvSpPr>
        <p:spPr>
          <a:xfrm>
            <a:off x="640080" y="5660136"/>
            <a:ext cx="6035040" cy="731520"/>
          </a:xfrm>
          <a:prstGeom prst="rect">
            <a:avLst/>
          </a:prstGeom>
          <a:noFill/>
          <a:ln/>
        </p:spPr>
        <p:txBody>
          <a:bodyPr wrap="square" rtlCol="0" anchor="ctr"/>
          <a:lstStyle/>
          <a:p>
            <a:pPr marL="0" indent="0">
              <a:buNone/>
            </a:pPr>
            <a:r>
              <a:rPr lang="en-US" sz="1250" i="1" dirty="0">
                <a:solidFill>
                  <a:srgbClr val="22D3C8"/>
                </a:solidFill>
                <a:latin typeface="Calibri" pitchFamily="34" charset="0"/>
                <a:ea typeface="Calibri" pitchFamily="34" charset="-122"/>
                <a:cs typeface="Calibri" pitchFamily="34" charset="-120"/>
              </a:rPr>
              <a:t>Converting raw network activity into structured analytics and ML-based intelligence solves this operational gap.</a:t>
            </a:r>
            <a:endParaRPr lang="en-US" sz="1250" dirty="0"/>
          </a:p>
        </p:txBody>
      </p:sp>
      <p:sp>
        <p:nvSpPr>
          <p:cNvPr id="35" name="Text 3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BUSINESS OBJECTIVES</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Six Goals Driving the Platform Design</a:t>
            </a:r>
            <a:endParaRPr lang="en-US" sz="3000" dirty="0"/>
          </a:p>
        </p:txBody>
      </p:sp>
      <p:sp>
        <p:nvSpPr>
          <p:cNvPr id="4" name="Shape 2"/>
          <p:cNvSpPr/>
          <p:nvPr/>
        </p:nvSpPr>
        <p:spPr>
          <a:xfrm>
            <a:off x="640080" y="1600200"/>
            <a:ext cx="3502152" cy="1965960"/>
          </a:xfrm>
          <a:prstGeom prst="roundRect">
            <a:avLst>
              <a:gd name="adj" fmla="val 3721"/>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5" name="Text 3"/>
          <p:cNvSpPr/>
          <p:nvPr/>
        </p:nvSpPr>
        <p:spPr>
          <a:xfrm>
            <a:off x="868680" y="1783080"/>
            <a:ext cx="914400" cy="457200"/>
          </a:xfrm>
          <a:prstGeom prst="rect">
            <a:avLst/>
          </a:prstGeom>
          <a:noFill/>
          <a:ln/>
        </p:spPr>
        <p:txBody>
          <a:bodyPr wrap="square" rtlCol="0" anchor="ctr"/>
          <a:lstStyle/>
          <a:p>
            <a:pPr marL="0" indent="0">
              <a:buNone/>
            </a:pPr>
            <a:r>
              <a:rPr lang="en-US" sz="2200" b="1" dirty="0">
                <a:solidFill>
                  <a:srgbClr val="22D3C8"/>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868680" y="2286000"/>
            <a:ext cx="3044952" cy="365760"/>
          </a:xfrm>
          <a:prstGeom prst="rect">
            <a:avLst/>
          </a:prstGeom>
          <a:noFill/>
          <a:ln/>
        </p:spPr>
        <p:txBody>
          <a:bodyPr wrap="square" rtlCol="0" anchor="ctr"/>
          <a:lstStyle/>
          <a:p>
            <a:pPr marL="0" indent="0">
              <a:buNone/>
            </a:pPr>
            <a:r>
              <a:rPr lang="en-US" sz="1500" b="1" dirty="0">
                <a:solidFill>
                  <a:srgbClr val="F3F7FB"/>
                </a:solidFill>
                <a:latin typeface="Cambria" pitchFamily="34" charset="0"/>
                <a:ea typeface="Cambria" pitchFamily="34" charset="-122"/>
                <a:cs typeface="Cambria" pitchFamily="34" charset="-120"/>
              </a:rPr>
              <a:t>Network Visibility</a:t>
            </a:r>
            <a:endParaRPr lang="en-US" sz="1500" dirty="0"/>
          </a:p>
        </p:txBody>
      </p:sp>
      <p:sp>
        <p:nvSpPr>
          <p:cNvPr id="7" name="Text 5"/>
          <p:cNvSpPr/>
          <p:nvPr/>
        </p:nvSpPr>
        <p:spPr>
          <a:xfrm>
            <a:off x="868680" y="2651760"/>
            <a:ext cx="3044952" cy="82296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Centralized view of network activity and health.</a:t>
            </a:r>
            <a:endParaRPr lang="en-US" sz="1150" dirty="0"/>
          </a:p>
        </p:txBody>
      </p:sp>
      <p:sp>
        <p:nvSpPr>
          <p:cNvPr id="8" name="Shape 6"/>
          <p:cNvSpPr/>
          <p:nvPr/>
        </p:nvSpPr>
        <p:spPr>
          <a:xfrm>
            <a:off x="4416552" y="1600200"/>
            <a:ext cx="3502152" cy="1965960"/>
          </a:xfrm>
          <a:prstGeom prst="roundRect">
            <a:avLst>
              <a:gd name="adj" fmla="val 3721"/>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9" name="Text 7"/>
          <p:cNvSpPr/>
          <p:nvPr/>
        </p:nvSpPr>
        <p:spPr>
          <a:xfrm>
            <a:off x="4645152" y="1783080"/>
            <a:ext cx="914400" cy="457200"/>
          </a:xfrm>
          <a:prstGeom prst="rect">
            <a:avLst/>
          </a:prstGeom>
          <a:noFill/>
          <a:ln/>
        </p:spPr>
        <p:txBody>
          <a:bodyPr wrap="square" rtlCol="0" anchor="ctr"/>
          <a:lstStyle/>
          <a:p>
            <a:pPr marL="0" indent="0">
              <a:buNone/>
            </a:pPr>
            <a:r>
              <a:rPr lang="en-US" sz="2200" b="1" dirty="0">
                <a:solidFill>
                  <a:srgbClr val="4C8DFF"/>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4645152" y="2286000"/>
            <a:ext cx="3044952" cy="365760"/>
          </a:xfrm>
          <a:prstGeom prst="rect">
            <a:avLst/>
          </a:prstGeom>
          <a:noFill/>
          <a:ln/>
        </p:spPr>
        <p:txBody>
          <a:bodyPr wrap="square" rtlCol="0" anchor="ctr"/>
          <a:lstStyle/>
          <a:p>
            <a:pPr marL="0" indent="0">
              <a:buNone/>
            </a:pPr>
            <a:r>
              <a:rPr lang="en-US" sz="1500" b="1" dirty="0">
                <a:solidFill>
                  <a:srgbClr val="F3F7FB"/>
                </a:solidFill>
                <a:latin typeface="Cambria" pitchFamily="34" charset="0"/>
                <a:ea typeface="Cambria" pitchFamily="34" charset="-122"/>
                <a:cs typeface="Cambria" pitchFamily="34" charset="-120"/>
              </a:rPr>
              <a:t>Automated Detection</a:t>
            </a:r>
            <a:endParaRPr lang="en-US" sz="1500" dirty="0"/>
          </a:p>
        </p:txBody>
      </p:sp>
      <p:sp>
        <p:nvSpPr>
          <p:cNvPr id="11" name="Text 9"/>
          <p:cNvSpPr/>
          <p:nvPr/>
        </p:nvSpPr>
        <p:spPr>
          <a:xfrm>
            <a:off x="4645152" y="2651760"/>
            <a:ext cx="3044952" cy="82296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Identify abnormal activity and alerts without manual scanning.</a:t>
            </a:r>
            <a:endParaRPr lang="en-US" sz="1150" dirty="0"/>
          </a:p>
        </p:txBody>
      </p:sp>
      <p:sp>
        <p:nvSpPr>
          <p:cNvPr id="12" name="Shape 10"/>
          <p:cNvSpPr/>
          <p:nvPr/>
        </p:nvSpPr>
        <p:spPr>
          <a:xfrm>
            <a:off x="8193024" y="1600200"/>
            <a:ext cx="3502152" cy="1965960"/>
          </a:xfrm>
          <a:prstGeom prst="roundRect">
            <a:avLst>
              <a:gd name="adj" fmla="val 3721"/>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13" name="Text 11"/>
          <p:cNvSpPr/>
          <p:nvPr/>
        </p:nvSpPr>
        <p:spPr>
          <a:xfrm>
            <a:off x="8421624" y="1783080"/>
            <a:ext cx="914400" cy="457200"/>
          </a:xfrm>
          <a:prstGeom prst="rect">
            <a:avLst/>
          </a:prstGeom>
          <a:noFill/>
          <a:ln/>
        </p:spPr>
        <p:txBody>
          <a:bodyPr wrap="square" rtlCol="0" anchor="ctr"/>
          <a:lstStyle/>
          <a:p>
            <a:pPr marL="0" indent="0">
              <a:buNone/>
            </a:pPr>
            <a:r>
              <a:rPr lang="en-US" sz="2200" b="1" dirty="0">
                <a:solidFill>
                  <a:srgbClr val="F5A623"/>
                </a:solidFill>
                <a:latin typeface="Cambria" pitchFamily="34" charset="0"/>
                <a:ea typeface="Cambria" pitchFamily="34" charset="-122"/>
                <a:cs typeface="Cambria" pitchFamily="34" charset="-120"/>
              </a:rPr>
              <a:t>03</a:t>
            </a:r>
            <a:endParaRPr lang="en-US" sz="2200" dirty="0"/>
          </a:p>
        </p:txBody>
      </p:sp>
      <p:sp>
        <p:nvSpPr>
          <p:cNvPr id="14" name="Text 12"/>
          <p:cNvSpPr/>
          <p:nvPr/>
        </p:nvSpPr>
        <p:spPr>
          <a:xfrm>
            <a:off x="8421624" y="2286000"/>
            <a:ext cx="3044952" cy="365760"/>
          </a:xfrm>
          <a:prstGeom prst="rect">
            <a:avLst/>
          </a:prstGeom>
          <a:noFill/>
          <a:ln/>
        </p:spPr>
        <p:txBody>
          <a:bodyPr wrap="square" rtlCol="0" anchor="ctr"/>
          <a:lstStyle/>
          <a:p>
            <a:pPr marL="0" indent="0">
              <a:buNone/>
            </a:pPr>
            <a:r>
              <a:rPr lang="en-US" sz="1500" b="1" dirty="0">
                <a:solidFill>
                  <a:srgbClr val="F3F7FB"/>
                </a:solidFill>
                <a:latin typeface="Cambria" pitchFamily="34" charset="0"/>
                <a:ea typeface="Cambria" pitchFamily="34" charset="-122"/>
                <a:cs typeface="Cambria" pitchFamily="34" charset="-120"/>
              </a:rPr>
              <a:t>Risk Prediction</a:t>
            </a:r>
            <a:endParaRPr lang="en-US" sz="1500" dirty="0"/>
          </a:p>
        </p:txBody>
      </p:sp>
      <p:sp>
        <p:nvSpPr>
          <p:cNvPr id="15" name="Text 13"/>
          <p:cNvSpPr/>
          <p:nvPr/>
        </p:nvSpPr>
        <p:spPr>
          <a:xfrm>
            <a:off x="8421624" y="2651760"/>
            <a:ext cx="3044952" cy="82296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Prioritize potentially high-risk, high-activity network cells.</a:t>
            </a:r>
            <a:endParaRPr lang="en-US" sz="1150" dirty="0"/>
          </a:p>
        </p:txBody>
      </p:sp>
      <p:sp>
        <p:nvSpPr>
          <p:cNvPr id="16" name="Shape 14"/>
          <p:cNvSpPr/>
          <p:nvPr/>
        </p:nvSpPr>
        <p:spPr>
          <a:xfrm>
            <a:off x="640080" y="3840480"/>
            <a:ext cx="3502152" cy="1965960"/>
          </a:xfrm>
          <a:prstGeom prst="roundRect">
            <a:avLst>
              <a:gd name="adj" fmla="val 3721"/>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17" name="Text 15"/>
          <p:cNvSpPr/>
          <p:nvPr/>
        </p:nvSpPr>
        <p:spPr>
          <a:xfrm>
            <a:off x="868680" y="4023360"/>
            <a:ext cx="914400" cy="457200"/>
          </a:xfrm>
          <a:prstGeom prst="rect">
            <a:avLst/>
          </a:prstGeom>
          <a:noFill/>
          <a:ln/>
        </p:spPr>
        <p:txBody>
          <a:bodyPr wrap="square" rtlCol="0" anchor="ctr"/>
          <a:lstStyle/>
          <a:p>
            <a:pPr marL="0" indent="0">
              <a:buNone/>
            </a:pPr>
            <a:r>
              <a:rPr lang="en-US" sz="2200" b="1" dirty="0">
                <a:solidFill>
                  <a:srgbClr val="34D399"/>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868680" y="4526280"/>
            <a:ext cx="3044952" cy="365760"/>
          </a:xfrm>
          <a:prstGeom prst="rect">
            <a:avLst/>
          </a:prstGeom>
          <a:noFill/>
          <a:ln/>
        </p:spPr>
        <p:txBody>
          <a:bodyPr wrap="square" rtlCol="0" anchor="ctr"/>
          <a:lstStyle/>
          <a:p>
            <a:pPr marL="0" indent="0">
              <a:buNone/>
            </a:pPr>
            <a:r>
              <a:rPr lang="en-US" sz="1500" b="1" dirty="0">
                <a:solidFill>
                  <a:srgbClr val="F3F7FB"/>
                </a:solidFill>
                <a:latin typeface="Cambria" pitchFamily="34" charset="0"/>
                <a:ea typeface="Cambria" pitchFamily="34" charset="-122"/>
                <a:cs typeface="Cambria" pitchFamily="34" charset="-120"/>
              </a:rPr>
              <a:t>Geographic Intelligence</a:t>
            </a:r>
            <a:endParaRPr lang="en-US" sz="1500" dirty="0"/>
          </a:p>
        </p:txBody>
      </p:sp>
      <p:sp>
        <p:nvSpPr>
          <p:cNvPr id="19" name="Text 17"/>
          <p:cNvSpPr/>
          <p:nvPr/>
        </p:nvSpPr>
        <p:spPr>
          <a:xfrm>
            <a:off x="868680" y="4892040"/>
            <a:ext cx="3044952" cy="82296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Visualize hotspots, alerts, and grid-level risk on the map.</a:t>
            </a:r>
            <a:endParaRPr lang="en-US" sz="1150" dirty="0"/>
          </a:p>
        </p:txBody>
      </p:sp>
      <p:sp>
        <p:nvSpPr>
          <p:cNvPr id="20" name="Shape 18"/>
          <p:cNvSpPr/>
          <p:nvPr/>
        </p:nvSpPr>
        <p:spPr>
          <a:xfrm>
            <a:off x="4416552" y="3840480"/>
            <a:ext cx="3502152" cy="1965960"/>
          </a:xfrm>
          <a:prstGeom prst="roundRect">
            <a:avLst>
              <a:gd name="adj" fmla="val 3721"/>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21" name="Text 19"/>
          <p:cNvSpPr/>
          <p:nvPr/>
        </p:nvSpPr>
        <p:spPr>
          <a:xfrm>
            <a:off x="4645152" y="4023360"/>
            <a:ext cx="914400" cy="457200"/>
          </a:xfrm>
          <a:prstGeom prst="rect">
            <a:avLst/>
          </a:prstGeom>
          <a:noFill/>
          <a:ln/>
        </p:spPr>
        <p:txBody>
          <a:bodyPr wrap="square" rtlCol="0" anchor="ctr"/>
          <a:lstStyle/>
          <a:p>
            <a:pPr marL="0" indent="0">
              <a:buNone/>
            </a:pPr>
            <a:r>
              <a:rPr lang="en-US" sz="2200" b="1" dirty="0">
                <a:solidFill>
                  <a:srgbClr val="EF4A4A"/>
                </a:solidFill>
                <a:latin typeface="Cambria" pitchFamily="34" charset="0"/>
                <a:ea typeface="Cambria" pitchFamily="34" charset="-122"/>
                <a:cs typeface="Cambria" pitchFamily="34" charset="-120"/>
              </a:rPr>
              <a:t>05</a:t>
            </a:r>
            <a:endParaRPr lang="en-US" sz="2200" dirty="0"/>
          </a:p>
        </p:txBody>
      </p:sp>
      <p:sp>
        <p:nvSpPr>
          <p:cNvPr id="22" name="Text 20"/>
          <p:cNvSpPr/>
          <p:nvPr/>
        </p:nvSpPr>
        <p:spPr>
          <a:xfrm>
            <a:off x="4645152" y="4526280"/>
            <a:ext cx="3044952" cy="365760"/>
          </a:xfrm>
          <a:prstGeom prst="rect">
            <a:avLst/>
          </a:prstGeom>
          <a:noFill/>
          <a:ln/>
        </p:spPr>
        <p:txBody>
          <a:bodyPr wrap="square" rtlCol="0" anchor="ctr"/>
          <a:lstStyle/>
          <a:p>
            <a:pPr marL="0" indent="0">
              <a:buNone/>
            </a:pPr>
            <a:r>
              <a:rPr lang="en-US" sz="1500" b="1" dirty="0">
                <a:solidFill>
                  <a:srgbClr val="F3F7FB"/>
                </a:solidFill>
                <a:latin typeface="Cambria" pitchFamily="34" charset="0"/>
                <a:ea typeface="Cambria" pitchFamily="34" charset="-122"/>
                <a:cs typeface="Cambria" pitchFamily="34" charset="-120"/>
              </a:rPr>
              <a:t>Operational Prioritization</a:t>
            </a:r>
            <a:endParaRPr lang="en-US" sz="1500" dirty="0"/>
          </a:p>
        </p:txBody>
      </p:sp>
      <p:sp>
        <p:nvSpPr>
          <p:cNvPr id="23" name="Text 21"/>
          <p:cNvSpPr/>
          <p:nvPr/>
        </p:nvSpPr>
        <p:spPr>
          <a:xfrm>
            <a:off x="4645152" y="4892040"/>
            <a:ext cx="3044952" cy="82296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Help NOC engineers focus on the conditions that matter most.</a:t>
            </a:r>
            <a:endParaRPr lang="en-US" sz="1150" dirty="0"/>
          </a:p>
        </p:txBody>
      </p:sp>
      <p:sp>
        <p:nvSpPr>
          <p:cNvPr id="24" name="Shape 22"/>
          <p:cNvSpPr/>
          <p:nvPr/>
        </p:nvSpPr>
        <p:spPr>
          <a:xfrm>
            <a:off x="8193024" y="3840480"/>
            <a:ext cx="3502152" cy="1965960"/>
          </a:xfrm>
          <a:prstGeom prst="roundRect">
            <a:avLst>
              <a:gd name="adj" fmla="val 3721"/>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25" name="Text 23"/>
          <p:cNvSpPr/>
          <p:nvPr/>
        </p:nvSpPr>
        <p:spPr>
          <a:xfrm>
            <a:off x="8421624" y="4023360"/>
            <a:ext cx="914400" cy="457200"/>
          </a:xfrm>
          <a:prstGeom prst="rect">
            <a:avLst/>
          </a:prstGeom>
          <a:noFill/>
          <a:ln/>
        </p:spPr>
        <p:txBody>
          <a:bodyPr wrap="square" rtlCol="0" anchor="ctr"/>
          <a:lstStyle/>
          <a:p>
            <a:pPr marL="0" indent="0">
              <a:buNone/>
            </a:pPr>
            <a:r>
              <a:rPr lang="en-US" sz="2200" b="1" dirty="0">
                <a:solidFill>
                  <a:srgbClr val="22D3C8"/>
                </a:solidFill>
                <a:latin typeface="Cambria" pitchFamily="34" charset="0"/>
                <a:ea typeface="Cambria" pitchFamily="34" charset="-122"/>
                <a:cs typeface="Cambria" pitchFamily="34" charset="-120"/>
              </a:rPr>
              <a:t>06</a:t>
            </a:r>
            <a:endParaRPr lang="en-US" sz="2200" dirty="0"/>
          </a:p>
        </p:txBody>
      </p:sp>
      <p:sp>
        <p:nvSpPr>
          <p:cNvPr id="26" name="Text 24"/>
          <p:cNvSpPr/>
          <p:nvPr/>
        </p:nvSpPr>
        <p:spPr>
          <a:xfrm>
            <a:off x="8421624" y="4526280"/>
            <a:ext cx="3044952" cy="365760"/>
          </a:xfrm>
          <a:prstGeom prst="rect">
            <a:avLst/>
          </a:prstGeom>
          <a:noFill/>
          <a:ln/>
        </p:spPr>
        <p:txBody>
          <a:bodyPr wrap="square" rtlCol="0" anchor="ctr"/>
          <a:lstStyle/>
          <a:p>
            <a:pPr marL="0" indent="0">
              <a:buNone/>
            </a:pPr>
            <a:r>
              <a:rPr lang="en-US" sz="1500" b="1" dirty="0">
                <a:solidFill>
                  <a:srgbClr val="F3F7FB"/>
                </a:solidFill>
                <a:latin typeface="Cambria" pitchFamily="34" charset="0"/>
                <a:ea typeface="Cambria" pitchFamily="34" charset="-122"/>
                <a:cs typeface="Cambria" pitchFamily="34" charset="-120"/>
              </a:rPr>
              <a:t>Scalable Architecture</a:t>
            </a:r>
            <a:endParaRPr lang="en-US" sz="1500" dirty="0"/>
          </a:p>
        </p:txBody>
      </p:sp>
      <p:sp>
        <p:nvSpPr>
          <p:cNvPr id="27" name="Text 25"/>
          <p:cNvSpPr/>
          <p:nvPr/>
        </p:nvSpPr>
        <p:spPr>
          <a:xfrm>
            <a:off x="8421624" y="4892040"/>
            <a:ext cx="3044952" cy="82296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Modular data engineering, ML, API, and UI layers.</a:t>
            </a:r>
            <a:endParaRPr lang="en-US" sz="1150" dirty="0"/>
          </a:p>
        </p:txBody>
      </p:sp>
      <p:sp>
        <p:nvSpPr>
          <p:cNvPr id="28" name="Text 2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SOLUTION OVERVIEW</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One Pipeline, Five Coordinated Layers</a:t>
            </a:r>
            <a:endParaRPr lang="en-US" sz="3000" dirty="0"/>
          </a:p>
        </p:txBody>
      </p:sp>
      <p:sp>
        <p:nvSpPr>
          <p:cNvPr id="4" name="Shape 2"/>
          <p:cNvSpPr/>
          <p:nvPr/>
        </p:nvSpPr>
        <p:spPr>
          <a:xfrm>
            <a:off x="640080" y="2377440"/>
            <a:ext cx="1874520" cy="1737360"/>
          </a:xfrm>
          <a:prstGeom prst="roundRect">
            <a:avLst>
              <a:gd name="adj" fmla="val 4211"/>
            </a:avLst>
          </a:prstGeom>
          <a:solidFill>
            <a:srgbClr val="0F1826"/>
          </a:solidFill>
          <a:ln w="12700">
            <a:solidFill>
              <a:srgbClr val="5D7391"/>
            </a:solidFill>
            <a:prstDash val="solid"/>
          </a:ln>
          <a:effectLst>
            <a:outerShdw blurRad="101600" dist="38100" dir="5400000" algn="bl" rotWithShape="0">
              <a:srgbClr val="000000">
                <a:alpha val="35000"/>
              </a:srgbClr>
            </a:outerShdw>
          </a:effectLst>
        </p:spPr>
      </p:sp>
      <p:sp>
        <p:nvSpPr>
          <p:cNvPr id="5" name="Shape 3"/>
          <p:cNvSpPr/>
          <p:nvPr/>
        </p:nvSpPr>
        <p:spPr>
          <a:xfrm>
            <a:off x="1303020" y="2606040"/>
            <a:ext cx="548640" cy="548640"/>
          </a:xfrm>
          <a:prstGeom prst="ellipse">
            <a:avLst/>
          </a:prstGeom>
          <a:solidFill>
            <a:srgbClr val="5D7391">
              <a:alpha val="22000"/>
            </a:srgbClr>
          </a:solidFill>
          <a:ln w="19050">
            <a:solidFill>
              <a:srgbClr val="5D7391"/>
            </a:solidFill>
            <a:prstDash val="solid"/>
          </a:ln>
        </p:spPr>
      </p:sp>
      <p:sp>
        <p:nvSpPr>
          <p:cNvPr id="6" name="Text 4"/>
          <p:cNvSpPr/>
          <p:nvPr/>
        </p:nvSpPr>
        <p:spPr>
          <a:xfrm>
            <a:off x="1303020" y="2606040"/>
            <a:ext cx="548640" cy="548640"/>
          </a:xfrm>
          <a:prstGeom prst="rect">
            <a:avLst/>
          </a:prstGeom>
          <a:noFill/>
          <a:ln/>
        </p:spPr>
        <p:txBody>
          <a:bodyPr wrap="square" rtlCol="0" anchor="ctr"/>
          <a:lstStyle/>
          <a:p>
            <a:pPr marL="0" indent="0" algn="ctr">
              <a:buNone/>
            </a:pPr>
            <a:r>
              <a:rPr lang="en-US" sz="2000" b="1" dirty="0">
                <a:solidFill>
                  <a:srgbClr val="5D7391"/>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31520" y="3291840"/>
            <a:ext cx="1691640" cy="36576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Data</a:t>
            </a:r>
            <a:endParaRPr lang="en-US" sz="1500" dirty="0"/>
          </a:p>
        </p:txBody>
      </p:sp>
      <p:sp>
        <p:nvSpPr>
          <p:cNvPr id="8" name="Text 6"/>
          <p:cNvSpPr/>
          <p:nvPr/>
        </p:nvSpPr>
        <p:spPr>
          <a:xfrm>
            <a:off x="731520" y="3657600"/>
            <a:ext cx="1691640" cy="365760"/>
          </a:xfrm>
          <a:prstGeom prst="rect">
            <a:avLst/>
          </a:prstGeom>
          <a:noFill/>
          <a:ln/>
        </p:spPr>
        <p:txBody>
          <a:bodyPr wrap="square" rtlCol="0" anchor="ctr"/>
          <a:lstStyle/>
          <a:p>
            <a:pPr marL="0" indent="0" algn="ctr">
              <a:buNone/>
            </a:pPr>
            <a:r>
              <a:rPr lang="en-US" sz="1050" dirty="0">
                <a:solidFill>
                  <a:srgbClr val="9FB0C7"/>
                </a:solidFill>
                <a:latin typeface="Courier New" pitchFamily="34" charset="0"/>
                <a:ea typeface="Courier New" pitchFamily="34" charset="-122"/>
                <a:cs typeface="Courier New" pitchFamily="34" charset="-120"/>
              </a:rPr>
              <a:t>CSV + GeoJSON</a:t>
            </a:r>
            <a:endParaRPr lang="en-US" sz="1050" dirty="0"/>
          </a:p>
        </p:txBody>
      </p:sp>
      <p:sp>
        <p:nvSpPr>
          <p:cNvPr id="9" name="Shape 7"/>
          <p:cNvSpPr/>
          <p:nvPr/>
        </p:nvSpPr>
        <p:spPr>
          <a:xfrm>
            <a:off x="2551176" y="3200400"/>
            <a:ext cx="246888" cy="164592"/>
          </a:xfrm>
          <a:prstGeom prst="rightArrow">
            <a:avLst/>
          </a:prstGeom>
          <a:solidFill>
            <a:srgbClr val="5D7391"/>
          </a:solidFill>
          <a:ln/>
        </p:spPr>
      </p:sp>
      <p:sp>
        <p:nvSpPr>
          <p:cNvPr id="10" name="Shape 8"/>
          <p:cNvSpPr/>
          <p:nvPr/>
        </p:nvSpPr>
        <p:spPr>
          <a:xfrm>
            <a:off x="2834640" y="2377440"/>
            <a:ext cx="1874520" cy="1737360"/>
          </a:xfrm>
          <a:prstGeom prst="roundRect">
            <a:avLst>
              <a:gd name="adj" fmla="val 4211"/>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11" name="Shape 9"/>
          <p:cNvSpPr/>
          <p:nvPr/>
        </p:nvSpPr>
        <p:spPr>
          <a:xfrm>
            <a:off x="3497580" y="2606040"/>
            <a:ext cx="548640" cy="548640"/>
          </a:xfrm>
          <a:prstGeom prst="ellipse">
            <a:avLst/>
          </a:prstGeom>
          <a:solidFill>
            <a:srgbClr val="4C8DFF">
              <a:alpha val="22000"/>
            </a:srgbClr>
          </a:solidFill>
          <a:ln w="19050">
            <a:solidFill>
              <a:srgbClr val="4C8DFF"/>
            </a:solidFill>
            <a:prstDash val="solid"/>
          </a:ln>
        </p:spPr>
      </p:sp>
      <p:sp>
        <p:nvSpPr>
          <p:cNvPr id="12" name="Text 10"/>
          <p:cNvSpPr/>
          <p:nvPr/>
        </p:nvSpPr>
        <p:spPr>
          <a:xfrm>
            <a:off x="3497580" y="2606040"/>
            <a:ext cx="548640" cy="548640"/>
          </a:xfrm>
          <a:prstGeom prst="rect">
            <a:avLst/>
          </a:prstGeom>
          <a:noFill/>
          <a:ln/>
        </p:spPr>
        <p:txBody>
          <a:bodyPr wrap="square" rtlCol="0" anchor="ctr"/>
          <a:lstStyle/>
          <a:p>
            <a:pPr marL="0" indent="0" algn="ctr">
              <a:buNone/>
            </a:pPr>
            <a:r>
              <a:rPr lang="en-US" sz="2000" b="1" dirty="0">
                <a:solidFill>
                  <a:srgbClr val="4C8D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2926080" y="3291840"/>
            <a:ext cx="1691640" cy="36576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Engineering</a:t>
            </a:r>
            <a:endParaRPr lang="en-US" sz="1500" dirty="0"/>
          </a:p>
        </p:txBody>
      </p:sp>
      <p:sp>
        <p:nvSpPr>
          <p:cNvPr id="14" name="Text 12"/>
          <p:cNvSpPr/>
          <p:nvPr/>
        </p:nvSpPr>
        <p:spPr>
          <a:xfrm>
            <a:off x="2863328" y="3576918"/>
            <a:ext cx="1853004" cy="518160"/>
          </a:xfrm>
          <a:prstGeom prst="rect">
            <a:avLst/>
          </a:prstGeom>
          <a:noFill/>
          <a:ln/>
        </p:spPr>
        <p:txBody>
          <a:bodyPr wrap="square" lIns="91440" tIns="45720" rIns="91440" bIns="45720" rtlCol="0" anchor="ctr"/>
          <a:lstStyle/>
          <a:p>
            <a:pPr algn="ctr"/>
            <a:r>
              <a:rPr lang="en-US" sz="1050" dirty="0" err="1">
                <a:solidFill>
                  <a:srgbClr val="9FB0C7"/>
                </a:solidFill>
                <a:latin typeface="Courier New"/>
                <a:ea typeface="Courier New" pitchFamily="34" charset="-122"/>
                <a:cs typeface="Courier New"/>
              </a:rPr>
              <a:t>PySpark</a:t>
            </a:r>
            <a:r>
              <a:rPr lang="en-US" sz="1050" dirty="0">
                <a:solidFill>
                  <a:srgbClr val="9FB0C7"/>
                </a:solidFill>
                <a:latin typeface="Courier New"/>
                <a:ea typeface="Courier New" pitchFamily="34" charset="-122"/>
                <a:cs typeface="Courier New"/>
              </a:rPr>
              <a:t>, Airflow(ETL)</a:t>
            </a:r>
            <a:endParaRPr lang="en-US" sz="1050" dirty="0"/>
          </a:p>
        </p:txBody>
      </p:sp>
      <p:sp>
        <p:nvSpPr>
          <p:cNvPr id="15" name="Shape 13"/>
          <p:cNvSpPr/>
          <p:nvPr/>
        </p:nvSpPr>
        <p:spPr>
          <a:xfrm>
            <a:off x="4745736" y="3200400"/>
            <a:ext cx="246888" cy="164592"/>
          </a:xfrm>
          <a:prstGeom prst="rightArrow">
            <a:avLst/>
          </a:prstGeom>
          <a:solidFill>
            <a:srgbClr val="5D7391"/>
          </a:solidFill>
          <a:ln/>
        </p:spPr>
      </p:sp>
      <p:sp>
        <p:nvSpPr>
          <p:cNvPr id="16" name="Shape 14"/>
          <p:cNvSpPr/>
          <p:nvPr/>
        </p:nvSpPr>
        <p:spPr>
          <a:xfrm>
            <a:off x="5029200" y="2377440"/>
            <a:ext cx="1874520" cy="1737360"/>
          </a:xfrm>
          <a:prstGeom prst="roundRect">
            <a:avLst>
              <a:gd name="adj" fmla="val 4211"/>
            </a:avLst>
          </a:prstGeom>
          <a:solidFill>
            <a:srgbClr val="0F1826"/>
          </a:solidFill>
          <a:ln w="12700">
            <a:solidFill>
              <a:srgbClr val="22D3C8"/>
            </a:solidFill>
            <a:prstDash val="solid"/>
          </a:ln>
          <a:effectLst>
            <a:outerShdw blurRad="101600" dist="38100" dir="5400000" algn="bl" rotWithShape="0">
              <a:srgbClr val="000000">
                <a:alpha val="35000"/>
              </a:srgbClr>
            </a:outerShdw>
          </a:effectLst>
        </p:spPr>
      </p:sp>
      <p:sp>
        <p:nvSpPr>
          <p:cNvPr id="17" name="Shape 15"/>
          <p:cNvSpPr/>
          <p:nvPr/>
        </p:nvSpPr>
        <p:spPr>
          <a:xfrm>
            <a:off x="5692140" y="2606040"/>
            <a:ext cx="548640" cy="548640"/>
          </a:xfrm>
          <a:prstGeom prst="ellipse">
            <a:avLst/>
          </a:prstGeom>
          <a:solidFill>
            <a:srgbClr val="22D3C8">
              <a:alpha val="22000"/>
            </a:srgbClr>
          </a:solidFill>
          <a:ln w="19050">
            <a:solidFill>
              <a:srgbClr val="22D3C8"/>
            </a:solidFill>
            <a:prstDash val="solid"/>
          </a:ln>
        </p:spPr>
      </p:sp>
      <p:sp>
        <p:nvSpPr>
          <p:cNvPr id="18" name="Text 16"/>
          <p:cNvSpPr/>
          <p:nvPr/>
        </p:nvSpPr>
        <p:spPr>
          <a:xfrm>
            <a:off x="5692140" y="2606040"/>
            <a:ext cx="548640" cy="548640"/>
          </a:xfrm>
          <a:prstGeom prst="rect">
            <a:avLst/>
          </a:prstGeom>
          <a:noFill/>
          <a:ln/>
        </p:spPr>
        <p:txBody>
          <a:bodyPr wrap="square" rtlCol="0" anchor="ctr"/>
          <a:lstStyle/>
          <a:p>
            <a:pPr marL="0" indent="0" algn="ctr">
              <a:buNone/>
            </a:pPr>
            <a:r>
              <a:rPr lang="en-US" sz="2000" b="1" dirty="0">
                <a:solidFill>
                  <a:srgbClr val="22D3C8"/>
                </a:solidFill>
                <a:latin typeface="Cambria" pitchFamily="34" charset="0"/>
                <a:ea typeface="Cambria" pitchFamily="34" charset="-122"/>
                <a:cs typeface="Cambria" pitchFamily="34" charset="-120"/>
              </a:rPr>
              <a:t>3</a:t>
            </a:r>
            <a:endParaRPr lang="en-US" sz="2000" dirty="0"/>
          </a:p>
        </p:txBody>
      </p:sp>
      <p:sp>
        <p:nvSpPr>
          <p:cNvPr id="19" name="Text 17"/>
          <p:cNvSpPr/>
          <p:nvPr/>
        </p:nvSpPr>
        <p:spPr>
          <a:xfrm>
            <a:off x="5120640" y="3291840"/>
            <a:ext cx="1691640" cy="36576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ML</a:t>
            </a:r>
            <a:endParaRPr lang="en-US" sz="1500" dirty="0"/>
          </a:p>
        </p:txBody>
      </p:sp>
      <p:sp>
        <p:nvSpPr>
          <p:cNvPr id="20" name="Text 18"/>
          <p:cNvSpPr/>
          <p:nvPr/>
        </p:nvSpPr>
        <p:spPr>
          <a:xfrm>
            <a:off x="5120640" y="3657600"/>
            <a:ext cx="1691640" cy="365760"/>
          </a:xfrm>
          <a:prstGeom prst="rect">
            <a:avLst/>
          </a:prstGeom>
          <a:noFill/>
          <a:ln/>
        </p:spPr>
        <p:txBody>
          <a:bodyPr wrap="square" rtlCol="0" anchor="ctr"/>
          <a:lstStyle/>
          <a:p>
            <a:pPr marL="0" indent="0" algn="ctr">
              <a:buNone/>
            </a:pPr>
            <a:r>
              <a:rPr lang="en-US" sz="1050" dirty="0">
                <a:solidFill>
                  <a:srgbClr val="9FB0C7"/>
                </a:solidFill>
                <a:latin typeface="Courier New" pitchFamily="34" charset="0"/>
                <a:ea typeface="Courier New" pitchFamily="34" charset="-122"/>
                <a:cs typeface="Courier New" pitchFamily="34" charset="-120"/>
              </a:rPr>
              <a:t>Risk + Anomaly</a:t>
            </a:r>
            <a:endParaRPr lang="en-US" sz="1050" dirty="0"/>
          </a:p>
        </p:txBody>
      </p:sp>
      <p:sp>
        <p:nvSpPr>
          <p:cNvPr id="21" name="Shape 19"/>
          <p:cNvSpPr/>
          <p:nvPr/>
        </p:nvSpPr>
        <p:spPr>
          <a:xfrm>
            <a:off x="6940296" y="3200400"/>
            <a:ext cx="246888" cy="164592"/>
          </a:xfrm>
          <a:prstGeom prst="rightArrow">
            <a:avLst/>
          </a:prstGeom>
          <a:solidFill>
            <a:srgbClr val="5D7391"/>
          </a:solidFill>
          <a:ln/>
        </p:spPr>
      </p:sp>
      <p:sp>
        <p:nvSpPr>
          <p:cNvPr id="22" name="Shape 20"/>
          <p:cNvSpPr/>
          <p:nvPr/>
        </p:nvSpPr>
        <p:spPr>
          <a:xfrm>
            <a:off x="7223760" y="2377440"/>
            <a:ext cx="1874520" cy="1737360"/>
          </a:xfrm>
          <a:prstGeom prst="roundRect">
            <a:avLst>
              <a:gd name="adj" fmla="val 4211"/>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23" name="Shape 21"/>
          <p:cNvSpPr/>
          <p:nvPr/>
        </p:nvSpPr>
        <p:spPr>
          <a:xfrm>
            <a:off x="7886700" y="2606040"/>
            <a:ext cx="548640" cy="548640"/>
          </a:xfrm>
          <a:prstGeom prst="ellipse">
            <a:avLst/>
          </a:prstGeom>
          <a:solidFill>
            <a:srgbClr val="34D399">
              <a:alpha val="22000"/>
            </a:srgbClr>
          </a:solidFill>
          <a:ln w="19050">
            <a:solidFill>
              <a:srgbClr val="34D399"/>
            </a:solidFill>
            <a:prstDash val="solid"/>
          </a:ln>
        </p:spPr>
      </p:sp>
      <p:sp>
        <p:nvSpPr>
          <p:cNvPr id="24" name="Text 22"/>
          <p:cNvSpPr/>
          <p:nvPr/>
        </p:nvSpPr>
        <p:spPr>
          <a:xfrm>
            <a:off x="7886700" y="2606040"/>
            <a:ext cx="548640" cy="548640"/>
          </a:xfrm>
          <a:prstGeom prst="rect">
            <a:avLst/>
          </a:prstGeom>
          <a:noFill/>
          <a:ln/>
        </p:spPr>
        <p:txBody>
          <a:bodyPr wrap="square" rtlCol="0" anchor="ctr"/>
          <a:lstStyle/>
          <a:p>
            <a:pPr marL="0" indent="0" algn="ctr">
              <a:buNone/>
            </a:pPr>
            <a:r>
              <a:rPr lang="en-US" sz="2000" b="1" dirty="0">
                <a:solidFill>
                  <a:srgbClr val="34D399"/>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7315200" y="3291840"/>
            <a:ext cx="1691640" cy="36576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API</a:t>
            </a:r>
            <a:endParaRPr lang="en-US" sz="1500" dirty="0"/>
          </a:p>
        </p:txBody>
      </p:sp>
      <p:sp>
        <p:nvSpPr>
          <p:cNvPr id="26" name="Text 24"/>
          <p:cNvSpPr/>
          <p:nvPr/>
        </p:nvSpPr>
        <p:spPr>
          <a:xfrm>
            <a:off x="7315200" y="3657600"/>
            <a:ext cx="1691640" cy="365760"/>
          </a:xfrm>
          <a:prstGeom prst="rect">
            <a:avLst/>
          </a:prstGeom>
          <a:noFill/>
          <a:ln/>
        </p:spPr>
        <p:txBody>
          <a:bodyPr wrap="square" rtlCol="0" anchor="ctr"/>
          <a:lstStyle/>
          <a:p>
            <a:pPr marL="0" indent="0" algn="ctr">
              <a:buNone/>
            </a:pPr>
            <a:r>
              <a:rPr lang="en-US" sz="1050" dirty="0">
                <a:solidFill>
                  <a:srgbClr val="9FB0C7"/>
                </a:solidFill>
                <a:latin typeface="Courier New" pitchFamily="34" charset="0"/>
                <a:ea typeface="Courier New" pitchFamily="34" charset="-122"/>
                <a:cs typeface="Courier New" pitchFamily="34" charset="-120"/>
              </a:rPr>
              <a:t>FastAPI</a:t>
            </a:r>
            <a:endParaRPr lang="en-US" sz="1050" dirty="0"/>
          </a:p>
        </p:txBody>
      </p:sp>
      <p:sp>
        <p:nvSpPr>
          <p:cNvPr id="27" name="Shape 25"/>
          <p:cNvSpPr/>
          <p:nvPr/>
        </p:nvSpPr>
        <p:spPr>
          <a:xfrm>
            <a:off x="9134856" y="3200400"/>
            <a:ext cx="246888" cy="164592"/>
          </a:xfrm>
          <a:prstGeom prst="rightArrow">
            <a:avLst/>
          </a:prstGeom>
          <a:solidFill>
            <a:srgbClr val="5D7391"/>
          </a:solidFill>
          <a:ln/>
        </p:spPr>
      </p:sp>
      <p:sp>
        <p:nvSpPr>
          <p:cNvPr id="28" name="Shape 26"/>
          <p:cNvSpPr/>
          <p:nvPr/>
        </p:nvSpPr>
        <p:spPr>
          <a:xfrm>
            <a:off x="9418320" y="2377440"/>
            <a:ext cx="1874520" cy="1737360"/>
          </a:xfrm>
          <a:prstGeom prst="roundRect">
            <a:avLst>
              <a:gd name="adj" fmla="val 4211"/>
            </a:avLst>
          </a:prstGeom>
          <a:solidFill>
            <a:srgbClr val="0F1826"/>
          </a:solidFill>
          <a:ln w="12700">
            <a:solidFill>
              <a:srgbClr val="F5A623"/>
            </a:solidFill>
            <a:prstDash val="solid"/>
          </a:ln>
          <a:effectLst>
            <a:outerShdw blurRad="101600" dist="38100" dir="5400000" algn="bl" rotWithShape="0">
              <a:srgbClr val="000000">
                <a:alpha val="35000"/>
              </a:srgbClr>
            </a:outerShdw>
          </a:effectLst>
        </p:spPr>
      </p:sp>
      <p:sp>
        <p:nvSpPr>
          <p:cNvPr id="29" name="Shape 27"/>
          <p:cNvSpPr/>
          <p:nvPr/>
        </p:nvSpPr>
        <p:spPr>
          <a:xfrm>
            <a:off x="10081260" y="2606040"/>
            <a:ext cx="548640" cy="548640"/>
          </a:xfrm>
          <a:prstGeom prst="ellipse">
            <a:avLst/>
          </a:prstGeom>
          <a:solidFill>
            <a:srgbClr val="F5A623">
              <a:alpha val="22000"/>
            </a:srgbClr>
          </a:solidFill>
          <a:ln w="19050">
            <a:solidFill>
              <a:srgbClr val="F5A623"/>
            </a:solidFill>
            <a:prstDash val="solid"/>
          </a:ln>
        </p:spPr>
      </p:sp>
      <p:sp>
        <p:nvSpPr>
          <p:cNvPr id="30" name="Text 28"/>
          <p:cNvSpPr/>
          <p:nvPr/>
        </p:nvSpPr>
        <p:spPr>
          <a:xfrm>
            <a:off x="10081260" y="2606040"/>
            <a:ext cx="548640" cy="548640"/>
          </a:xfrm>
          <a:prstGeom prst="rect">
            <a:avLst/>
          </a:prstGeom>
          <a:noFill/>
          <a:ln/>
        </p:spPr>
        <p:txBody>
          <a:bodyPr wrap="square" rtlCol="0" anchor="ctr"/>
          <a:lstStyle/>
          <a:p>
            <a:pPr marL="0" indent="0" algn="ctr">
              <a:buNone/>
            </a:pPr>
            <a:r>
              <a:rPr lang="en-US" sz="2000" b="1" dirty="0">
                <a:solidFill>
                  <a:srgbClr val="F5A623"/>
                </a:solidFill>
                <a:latin typeface="Cambria" pitchFamily="34" charset="0"/>
                <a:ea typeface="Cambria" pitchFamily="34" charset="-122"/>
                <a:cs typeface="Cambria" pitchFamily="34" charset="-120"/>
              </a:rPr>
              <a:t>5</a:t>
            </a:r>
            <a:endParaRPr lang="en-US" sz="2000" dirty="0"/>
          </a:p>
        </p:txBody>
      </p:sp>
      <p:sp>
        <p:nvSpPr>
          <p:cNvPr id="31" name="Text 29"/>
          <p:cNvSpPr/>
          <p:nvPr/>
        </p:nvSpPr>
        <p:spPr>
          <a:xfrm>
            <a:off x="9509760" y="3291840"/>
            <a:ext cx="1691640" cy="36576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NOC</a:t>
            </a:r>
            <a:endParaRPr lang="en-US" sz="1500" dirty="0"/>
          </a:p>
        </p:txBody>
      </p:sp>
      <p:sp>
        <p:nvSpPr>
          <p:cNvPr id="32" name="Text 30"/>
          <p:cNvSpPr/>
          <p:nvPr/>
        </p:nvSpPr>
        <p:spPr>
          <a:xfrm>
            <a:off x="9509760" y="3657600"/>
            <a:ext cx="1691640" cy="365760"/>
          </a:xfrm>
          <a:prstGeom prst="rect">
            <a:avLst/>
          </a:prstGeom>
          <a:noFill/>
          <a:ln/>
        </p:spPr>
        <p:txBody>
          <a:bodyPr wrap="square" rtlCol="0" anchor="ctr"/>
          <a:lstStyle/>
          <a:p>
            <a:pPr marL="0" indent="0" algn="ctr">
              <a:buNone/>
            </a:pPr>
            <a:r>
              <a:rPr lang="en-US" sz="1050" dirty="0">
                <a:solidFill>
                  <a:srgbClr val="9FB0C7"/>
                </a:solidFill>
                <a:latin typeface="Courier New" pitchFamily="34" charset="0"/>
                <a:ea typeface="Courier New" pitchFamily="34" charset="-122"/>
                <a:cs typeface="Courier New" pitchFamily="34" charset="-120"/>
              </a:rPr>
              <a:t>React Dashboard</a:t>
            </a:r>
            <a:endParaRPr lang="en-US" sz="1050" dirty="0"/>
          </a:p>
        </p:txBody>
      </p:sp>
      <p:sp>
        <p:nvSpPr>
          <p:cNvPr id="33" name="Text 31"/>
          <p:cNvSpPr/>
          <p:nvPr/>
        </p:nvSpPr>
        <p:spPr>
          <a:xfrm>
            <a:off x="640080" y="4526280"/>
            <a:ext cx="10881360" cy="548640"/>
          </a:xfrm>
          <a:prstGeom prst="rect">
            <a:avLst/>
          </a:prstGeom>
          <a:noFill/>
          <a:ln/>
        </p:spPr>
        <p:txBody>
          <a:bodyPr wrap="square" rtlCol="0" anchor="ctr"/>
          <a:lstStyle/>
          <a:p>
            <a:pPr marL="0" indent="0" algn="ctr">
              <a:buNone/>
            </a:pPr>
            <a:r>
              <a:rPr lang="en-US" sz="1200" i="1" dirty="0">
                <a:solidFill>
                  <a:srgbClr val="22D3C8"/>
                </a:solidFill>
                <a:latin typeface="Calibri" pitchFamily="34" charset="0"/>
                <a:ea typeface="Calibri" pitchFamily="34" charset="-122"/>
                <a:cs typeface="Calibri" pitchFamily="34" charset="-120"/>
              </a:rPr>
              <a:t>Network Activity Data  →  Data Engineering  →  ML Intelligence  →  Risk &amp; Anomaly Detection  →  FastAPI  →  React NOC Dashboard  →  NOC Investigation</a:t>
            </a:r>
            <a:endParaRPr lang="en-US" sz="1200" dirty="0"/>
          </a:p>
        </p:txBody>
      </p:sp>
      <p:sp>
        <p:nvSpPr>
          <p:cNvPr id="34" name="Shape 32"/>
          <p:cNvSpPr/>
          <p:nvPr/>
        </p:nvSpPr>
        <p:spPr>
          <a:xfrm>
            <a:off x="640080" y="5212080"/>
            <a:ext cx="10881360" cy="777240"/>
          </a:xfrm>
          <a:prstGeom prst="roundRect">
            <a:avLst>
              <a:gd name="adj" fmla="val 9412"/>
            </a:avLst>
          </a:prstGeom>
          <a:solidFill>
            <a:srgbClr val="0F1826"/>
          </a:solidFill>
          <a:ln w="12700">
            <a:solidFill>
              <a:srgbClr val="223049"/>
            </a:solidFill>
            <a:prstDash val="solid"/>
          </a:ln>
          <a:effectLst>
            <a:outerShdw blurRad="101600" dist="38100" dir="5400000" algn="bl" rotWithShape="0">
              <a:srgbClr val="000000">
                <a:alpha val="35000"/>
              </a:srgbClr>
            </a:outerShdw>
          </a:effectLst>
        </p:spPr>
      </p:sp>
      <p:sp>
        <p:nvSpPr>
          <p:cNvPr id="35" name="Text 33"/>
          <p:cNvSpPr/>
          <p:nvPr/>
        </p:nvSpPr>
        <p:spPr>
          <a:xfrm>
            <a:off x="914400" y="5212080"/>
            <a:ext cx="10332720" cy="77724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Each layer is independently testable and scalable — data engineering does not depend on model choice, and the UI consumes only clean REST responses.</a:t>
            </a:r>
            <a:endParaRPr lang="en-US" sz="1250" dirty="0"/>
          </a:p>
        </p:txBody>
      </p:sp>
      <p:sp>
        <p:nvSpPr>
          <p:cNvPr id="36" name="Text 3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End-to-End Enterprise Architecture</a:t>
            </a:r>
            <a:endParaRPr lang="en-US" sz="3000" dirty="0"/>
          </a:p>
        </p:txBody>
      </p:sp>
      <p:sp>
        <p:nvSpPr>
          <p:cNvPr id="4" name="Shape 2"/>
          <p:cNvSpPr/>
          <p:nvPr/>
        </p:nvSpPr>
        <p:spPr>
          <a:xfrm>
            <a:off x="822960" y="1508760"/>
            <a:ext cx="10515600" cy="512064"/>
          </a:xfrm>
          <a:prstGeom prst="roundRect">
            <a:avLst>
              <a:gd name="adj" fmla="val 10714"/>
            </a:avLst>
          </a:prstGeom>
          <a:solidFill>
            <a:srgbClr val="0F1826"/>
          </a:solidFill>
          <a:ln w="12700">
            <a:solidFill>
              <a:srgbClr val="5D7391"/>
            </a:solidFill>
            <a:prstDash val="solid"/>
          </a:ln>
        </p:spPr>
      </p:sp>
      <p:sp>
        <p:nvSpPr>
          <p:cNvPr id="5" name="Shape 3"/>
          <p:cNvSpPr/>
          <p:nvPr/>
        </p:nvSpPr>
        <p:spPr>
          <a:xfrm>
            <a:off x="822960" y="1508760"/>
            <a:ext cx="146304" cy="512064"/>
          </a:xfrm>
          <a:prstGeom prst="roundRect">
            <a:avLst/>
          </a:prstGeom>
          <a:solidFill>
            <a:srgbClr val="5D7391"/>
          </a:solidFill>
          <a:ln w="12700">
            <a:solidFill>
              <a:srgbClr val="5D7391"/>
            </a:solidFill>
            <a:prstDash val="solid"/>
          </a:ln>
        </p:spPr>
      </p:sp>
      <p:sp>
        <p:nvSpPr>
          <p:cNvPr id="6" name="Text 4"/>
          <p:cNvSpPr/>
          <p:nvPr/>
        </p:nvSpPr>
        <p:spPr>
          <a:xfrm>
            <a:off x="1143000" y="1508760"/>
            <a:ext cx="2377440" cy="512064"/>
          </a:xfrm>
          <a:prstGeom prst="rect">
            <a:avLst/>
          </a:prstGeom>
          <a:noFill/>
          <a:ln/>
        </p:spPr>
        <p:txBody>
          <a:bodyPr wrap="square" rtlCol="0" anchor="ctr"/>
          <a:lstStyle/>
          <a:p>
            <a:pPr marL="0" indent="0">
              <a:buNone/>
            </a:pPr>
            <a:r>
              <a:rPr lang="en-US" sz="1100" b="1" kern="0" spc="100" dirty="0">
                <a:solidFill>
                  <a:srgbClr val="5D7391"/>
                </a:solidFill>
                <a:latin typeface="Calibri" pitchFamily="34" charset="0"/>
                <a:ea typeface="Calibri" pitchFamily="34" charset="-122"/>
                <a:cs typeface="Calibri" pitchFamily="34" charset="-120"/>
              </a:rPr>
              <a:t>SOURCES</a:t>
            </a:r>
            <a:endParaRPr lang="en-US" sz="1100" dirty="0"/>
          </a:p>
        </p:txBody>
      </p:sp>
      <p:sp>
        <p:nvSpPr>
          <p:cNvPr id="7" name="Text 5"/>
          <p:cNvSpPr/>
          <p:nvPr/>
        </p:nvSpPr>
        <p:spPr>
          <a:xfrm>
            <a:off x="3566160" y="1508760"/>
            <a:ext cx="7498080" cy="512064"/>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Network Activity CSV   ·   Milan Grid GeoJSON</a:t>
            </a:r>
            <a:endParaRPr lang="en-US" sz="1100" dirty="0"/>
          </a:p>
        </p:txBody>
      </p:sp>
      <p:sp>
        <p:nvSpPr>
          <p:cNvPr id="8" name="Text 6"/>
          <p:cNvSpPr/>
          <p:nvPr/>
        </p:nvSpPr>
        <p:spPr>
          <a:xfrm>
            <a:off x="5797296" y="1929384"/>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822960" y="2167128"/>
            <a:ext cx="10515600" cy="512064"/>
          </a:xfrm>
          <a:prstGeom prst="roundRect">
            <a:avLst>
              <a:gd name="adj" fmla="val 10714"/>
            </a:avLst>
          </a:prstGeom>
          <a:solidFill>
            <a:srgbClr val="0F1826"/>
          </a:solidFill>
          <a:ln w="12700">
            <a:solidFill>
              <a:srgbClr val="4C8DFF"/>
            </a:solidFill>
            <a:prstDash val="solid"/>
          </a:ln>
        </p:spPr>
      </p:sp>
      <p:sp>
        <p:nvSpPr>
          <p:cNvPr id="10" name="Shape 8"/>
          <p:cNvSpPr/>
          <p:nvPr/>
        </p:nvSpPr>
        <p:spPr>
          <a:xfrm>
            <a:off x="822960" y="2167128"/>
            <a:ext cx="146304" cy="512064"/>
          </a:xfrm>
          <a:prstGeom prst="roundRect">
            <a:avLst/>
          </a:prstGeom>
          <a:solidFill>
            <a:srgbClr val="4C8DFF"/>
          </a:solidFill>
          <a:ln w="12700">
            <a:solidFill>
              <a:srgbClr val="4C8DFF"/>
            </a:solidFill>
            <a:prstDash val="solid"/>
          </a:ln>
        </p:spPr>
      </p:sp>
      <p:sp>
        <p:nvSpPr>
          <p:cNvPr id="11" name="Text 9"/>
          <p:cNvSpPr/>
          <p:nvPr/>
        </p:nvSpPr>
        <p:spPr>
          <a:xfrm>
            <a:off x="1143000" y="2167128"/>
            <a:ext cx="2377440" cy="512064"/>
          </a:xfrm>
          <a:prstGeom prst="rect">
            <a:avLst/>
          </a:prstGeom>
          <a:noFill/>
          <a:ln/>
        </p:spPr>
        <p:txBody>
          <a:bodyPr wrap="square" rtlCol="0" anchor="ctr"/>
          <a:lstStyle/>
          <a:p>
            <a:pPr marL="0" indent="0">
              <a:buNone/>
            </a:pPr>
            <a:r>
              <a:rPr lang="en-US" sz="1100" b="1" kern="0" spc="100" dirty="0">
                <a:solidFill>
                  <a:srgbClr val="4C8DFF"/>
                </a:solidFill>
                <a:latin typeface="Calibri" pitchFamily="34" charset="0"/>
                <a:ea typeface="Calibri" pitchFamily="34" charset="-122"/>
                <a:cs typeface="Calibri" pitchFamily="34" charset="-120"/>
              </a:rPr>
              <a:t>DATA ENGINEERING</a:t>
            </a:r>
            <a:endParaRPr lang="en-US" sz="1100" dirty="0"/>
          </a:p>
        </p:txBody>
      </p:sp>
      <p:sp>
        <p:nvSpPr>
          <p:cNvPr id="12" name="Text 10"/>
          <p:cNvSpPr/>
          <p:nvPr/>
        </p:nvSpPr>
        <p:spPr>
          <a:xfrm>
            <a:off x="3566160" y="2167128"/>
            <a:ext cx="7498080" cy="512064"/>
          </a:xfrm>
          <a:prstGeom prst="rect">
            <a:avLst/>
          </a:prstGeom>
          <a:noFill/>
          <a:ln/>
        </p:spPr>
        <p:txBody>
          <a:bodyPr wrap="square" lIns="91440" tIns="45720" rIns="91440" bIns="45720" rtlCol="0" anchor="ctr"/>
          <a:lstStyle/>
          <a:p>
            <a:pPr marL="0" indent="0">
              <a:buNone/>
            </a:pPr>
            <a:r>
              <a:rPr lang="en-US" sz="1100" dirty="0">
                <a:solidFill>
                  <a:srgbClr val="F3F7FB"/>
                </a:solidFill>
                <a:latin typeface="Courier New"/>
                <a:ea typeface="Courier New" pitchFamily="34" charset="-122"/>
                <a:cs typeface="Courier New"/>
              </a:rPr>
              <a:t> Pipeline Stages</a:t>
            </a:r>
            <a:endParaRPr lang="en-US" sz="1100" dirty="0">
              <a:latin typeface="Courier New"/>
              <a:cs typeface="Courier New"/>
            </a:endParaRPr>
          </a:p>
        </p:txBody>
      </p:sp>
      <p:sp>
        <p:nvSpPr>
          <p:cNvPr id="13" name="Text 11"/>
          <p:cNvSpPr/>
          <p:nvPr/>
        </p:nvSpPr>
        <p:spPr>
          <a:xfrm>
            <a:off x="5797296" y="2587752"/>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822960" y="2825496"/>
            <a:ext cx="10515600" cy="512064"/>
          </a:xfrm>
          <a:prstGeom prst="roundRect">
            <a:avLst>
              <a:gd name="adj" fmla="val 10714"/>
            </a:avLst>
          </a:prstGeom>
          <a:solidFill>
            <a:srgbClr val="0F1826"/>
          </a:solidFill>
          <a:ln w="12700">
            <a:solidFill>
              <a:srgbClr val="4C8DFF"/>
            </a:solidFill>
            <a:prstDash val="solid"/>
          </a:ln>
        </p:spPr>
      </p:sp>
      <p:sp>
        <p:nvSpPr>
          <p:cNvPr id="15" name="Shape 13"/>
          <p:cNvSpPr/>
          <p:nvPr/>
        </p:nvSpPr>
        <p:spPr>
          <a:xfrm>
            <a:off x="822960" y="2825496"/>
            <a:ext cx="146304" cy="512064"/>
          </a:xfrm>
          <a:prstGeom prst="roundRect">
            <a:avLst/>
          </a:prstGeom>
          <a:solidFill>
            <a:srgbClr val="4C8DFF"/>
          </a:solidFill>
          <a:ln w="12700">
            <a:solidFill>
              <a:srgbClr val="4C8DFF"/>
            </a:solidFill>
            <a:prstDash val="solid"/>
          </a:ln>
        </p:spPr>
      </p:sp>
      <p:sp>
        <p:nvSpPr>
          <p:cNvPr id="16" name="Text 14"/>
          <p:cNvSpPr/>
          <p:nvPr/>
        </p:nvSpPr>
        <p:spPr>
          <a:xfrm>
            <a:off x="1143000" y="2825496"/>
            <a:ext cx="2377440" cy="512064"/>
          </a:xfrm>
          <a:prstGeom prst="rect">
            <a:avLst/>
          </a:prstGeom>
          <a:noFill/>
          <a:ln/>
        </p:spPr>
        <p:txBody>
          <a:bodyPr wrap="square" rtlCol="0" anchor="ctr"/>
          <a:lstStyle/>
          <a:p>
            <a:pPr marL="0" indent="0">
              <a:buNone/>
            </a:pPr>
            <a:r>
              <a:rPr lang="en-US" sz="1100" b="1" kern="0" spc="100" dirty="0">
                <a:solidFill>
                  <a:srgbClr val="4C8DFF"/>
                </a:solidFill>
                <a:latin typeface="Calibri" pitchFamily="34" charset="0"/>
                <a:ea typeface="Calibri" pitchFamily="34" charset="-122"/>
                <a:cs typeface="Calibri" pitchFamily="34" charset="-120"/>
              </a:rPr>
              <a:t>ANALYTICS DATA</a:t>
            </a:r>
            <a:endParaRPr lang="en-US" sz="1100" dirty="0"/>
          </a:p>
        </p:txBody>
      </p:sp>
      <p:sp>
        <p:nvSpPr>
          <p:cNvPr id="17" name="Text 15"/>
          <p:cNvSpPr/>
          <p:nvPr/>
        </p:nvSpPr>
        <p:spPr>
          <a:xfrm>
            <a:off x="3566160" y="2825496"/>
            <a:ext cx="7498080" cy="512064"/>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Processed / Analytics Layer</a:t>
            </a:r>
            <a:endParaRPr lang="en-US" sz="1100" dirty="0"/>
          </a:p>
        </p:txBody>
      </p:sp>
      <p:sp>
        <p:nvSpPr>
          <p:cNvPr id="18" name="Text 16"/>
          <p:cNvSpPr/>
          <p:nvPr/>
        </p:nvSpPr>
        <p:spPr>
          <a:xfrm>
            <a:off x="5797296" y="3246120"/>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822960" y="3483864"/>
            <a:ext cx="10515600" cy="512064"/>
          </a:xfrm>
          <a:prstGeom prst="roundRect">
            <a:avLst>
              <a:gd name="adj" fmla="val 10714"/>
            </a:avLst>
          </a:prstGeom>
          <a:solidFill>
            <a:srgbClr val="0F1826"/>
          </a:solidFill>
          <a:ln w="12700">
            <a:solidFill>
              <a:srgbClr val="22D3C8"/>
            </a:solidFill>
            <a:prstDash val="solid"/>
          </a:ln>
        </p:spPr>
      </p:sp>
      <p:sp>
        <p:nvSpPr>
          <p:cNvPr id="20" name="Shape 18"/>
          <p:cNvSpPr/>
          <p:nvPr/>
        </p:nvSpPr>
        <p:spPr>
          <a:xfrm>
            <a:off x="822960" y="3483864"/>
            <a:ext cx="146304" cy="512064"/>
          </a:xfrm>
          <a:prstGeom prst="roundRect">
            <a:avLst/>
          </a:prstGeom>
          <a:solidFill>
            <a:srgbClr val="22D3C8"/>
          </a:solidFill>
          <a:ln w="12700">
            <a:solidFill>
              <a:srgbClr val="22D3C8"/>
            </a:solidFill>
            <a:prstDash val="solid"/>
          </a:ln>
        </p:spPr>
      </p:sp>
      <p:sp>
        <p:nvSpPr>
          <p:cNvPr id="21" name="Text 19"/>
          <p:cNvSpPr/>
          <p:nvPr/>
        </p:nvSpPr>
        <p:spPr>
          <a:xfrm>
            <a:off x="1143000" y="3483864"/>
            <a:ext cx="2377440" cy="512064"/>
          </a:xfrm>
          <a:prstGeom prst="rect">
            <a:avLst/>
          </a:prstGeom>
          <a:noFill/>
          <a:ln/>
        </p:spPr>
        <p:txBody>
          <a:bodyPr wrap="square" rtlCol="0" anchor="ctr"/>
          <a:lstStyle/>
          <a:p>
            <a:pPr marL="0" indent="0">
              <a:buNone/>
            </a:pPr>
            <a:r>
              <a:rPr lang="en-US" sz="1100" b="1" kern="0" spc="100" dirty="0">
                <a:solidFill>
                  <a:srgbClr val="22D3C8"/>
                </a:solidFill>
                <a:latin typeface="Calibri" pitchFamily="34" charset="0"/>
                <a:ea typeface="Calibri" pitchFamily="34" charset="-122"/>
                <a:cs typeface="Calibri" pitchFamily="34" charset="-120"/>
              </a:rPr>
              <a:t>MACHINE LEARNING</a:t>
            </a:r>
            <a:endParaRPr lang="en-US" sz="1100" dirty="0"/>
          </a:p>
        </p:txBody>
      </p:sp>
      <p:sp>
        <p:nvSpPr>
          <p:cNvPr id="22" name="Text 20"/>
          <p:cNvSpPr/>
          <p:nvPr/>
        </p:nvSpPr>
        <p:spPr>
          <a:xfrm>
            <a:off x="3566160" y="3483864"/>
            <a:ext cx="7498080" cy="512064"/>
          </a:xfrm>
          <a:prstGeom prst="rect">
            <a:avLst/>
          </a:prstGeom>
          <a:noFill/>
          <a:ln/>
        </p:spPr>
        <p:txBody>
          <a:bodyPr wrap="square" lIns="91440" tIns="45720" rIns="91440" bIns="45720" rtlCol="0" anchor="ctr"/>
          <a:lstStyle/>
          <a:p>
            <a:r>
              <a:rPr lang="en-US" sz="1100" dirty="0">
                <a:solidFill>
                  <a:srgbClr val="F3F7FB"/>
                </a:solidFill>
                <a:latin typeface="Courier New"/>
                <a:ea typeface="Courier New" pitchFamily="34" charset="-122"/>
                <a:cs typeface="Courier New"/>
              </a:rPr>
              <a:t> Features → Risk Prediction → Anomaly Detection → Batch Scoring</a:t>
            </a:r>
            <a:endParaRPr lang="en-US" sz="1100" dirty="0">
              <a:latin typeface="Courier New"/>
              <a:cs typeface="Courier New"/>
            </a:endParaRPr>
          </a:p>
        </p:txBody>
      </p:sp>
      <p:sp>
        <p:nvSpPr>
          <p:cNvPr id="23" name="Text 21"/>
          <p:cNvSpPr/>
          <p:nvPr/>
        </p:nvSpPr>
        <p:spPr>
          <a:xfrm>
            <a:off x="5797296" y="3904488"/>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822960" y="4142232"/>
            <a:ext cx="10515600" cy="512064"/>
          </a:xfrm>
          <a:prstGeom prst="roundRect">
            <a:avLst>
              <a:gd name="adj" fmla="val 10714"/>
            </a:avLst>
          </a:prstGeom>
          <a:solidFill>
            <a:srgbClr val="0F1826"/>
          </a:solidFill>
          <a:ln w="12700">
            <a:solidFill>
              <a:srgbClr val="34D399"/>
            </a:solidFill>
            <a:prstDash val="solid"/>
          </a:ln>
        </p:spPr>
      </p:sp>
      <p:sp>
        <p:nvSpPr>
          <p:cNvPr id="25" name="Shape 23"/>
          <p:cNvSpPr/>
          <p:nvPr/>
        </p:nvSpPr>
        <p:spPr>
          <a:xfrm>
            <a:off x="822960" y="4142232"/>
            <a:ext cx="146304" cy="512064"/>
          </a:xfrm>
          <a:prstGeom prst="roundRect">
            <a:avLst/>
          </a:prstGeom>
          <a:solidFill>
            <a:srgbClr val="34D399"/>
          </a:solidFill>
          <a:ln w="12700">
            <a:solidFill>
              <a:srgbClr val="34D399"/>
            </a:solidFill>
            <a:prstDash val="solid"/>
          </a:ln>
        </p:spPr>
      </p:sp>
      <p:sp>
        <p:nvSpPr>
          <p:cNvPr id="26" name="Text 24"/>
          <p:cNvSpPr/>
          <p:nvPr/>
        </p:nvSpPr>
        <p:spPr>
          <a:xfrm>
            <a:off x="1143000" y="4142232"/>
            <a:ext cx="2377440" cy="512064"/>
          </a:xfrm>
          <a:prstGeom prst="rect">
            <a:avLst/>
          </a:prstGeom>
          <a:noFill/>
          <a:ln/>
        </p:spPr>
        <p:txBody>
          <a:bodyPr wrap="square" rtlCol="0" anchor="ctr"/>
          <a:lstStyle/>
          <a:p>
            <a:pPr marL="0" indent="0">
              <a:buNone/>
            </a:pPr>
            <a:r>
              <a:rPr lang="en-US" sz="1100" b="1" kern="0" spc="100" dirty="0">
                <a:solidFill>
                  <a:srgbClr val="34D399"/>
                </a:solidFill>
                <a:latin typeface="Calibri" pitchFamily="34" charset="0"/>
                <a:ea typeface="Calibri" pitchFamily="34" charset="-122"/>
                <a:cs typeface="Calibri" pitchFamily="34" charset="-120"/>
              </a:rPr>
              <a:t>SERVICE LAYER</a:t>
            </a:r>
            <a:endParaRPr lang="en-US" sz="1100" dirty="0"/>
          </a:p>
        </p:txBody>
      </p:sp>
      <p:sp>
        <p:nvSpPr>
          <p:cNvPr id="27" name="Text 25"/>
          <p:cNvSpPr/>
          <p:nvPr/>
        </p:nvSpPr>
        <p:spPr>
          <a:xfrm>
            <a:off x="3566160" y="4142232"/>
            <a:ext cx="7498080" cy="512064"/>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FastAPI REST Services</a:t>
            </a:r>
            <a:endParaRPr lang="en-US" sz="1100" dirty="0"/>
          </a:p>
        </p:txBody>
      </p:sp>
      <p:sp>
        <p:nvSpPr>
          <p:cNvPr id="28" name="Text 26"/>
          <p:cNvSpPr/>
          <p:nvPr/>
        </p:nvSpPr>
        <p:spPr>
          <a:xfrm>
            <a:off x="5797296" y="4562856"/>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29" name="Shape 27"/>
          <p:cNvSpPr/>
          <p:nvPr/>
        </p:nvSpPr>
        <p:spPr>
          <a:xfrm>
            <a:off x="822960" y="4800600"/>
            <a:ext cx="10515600" cy="512064"/>
          </a:xfrm>
          <a:prstGeom prst="roundRect">
            <a:avLst>
              <a:gd name="adj" fmla="val 10714"/>
            </a:avLst>
          </a:prstGeom>
          <a:solidFill>
            <a:srgbClr val="0F1826"/>
          </a:solidFill>
          <a:ln w="12700">
            <a:solidFill>
              <a:srgbClr val="F5A623"/>
            </a:solidFill>
            <a:prstDash val="solid"/>
          </a:ln>
        </p:spPr>
      </p:sp>
      <p:sp>
        <p:nvSpPr>
          <p:cNvPr id="30" name="Shape 28"/>
          <p:cNvSpPr/>
          <p:nvPr/>
        </p:nvSpPr>
        <p:spPr>
          <a:xfrm>
            <a:off x="822960" y="4800600"/>
            <a:ext cx="146304" cy="512064"/>
          </a:xfrm>
          <a:prstGeom prst="roundRect">
            <a:avLst/>
          </a:prstGeom>
          <a:solidFill>
            <a:srgbClr val="F5A623"/>
          </a:solidFill>
          <a:ln w="12700">
            <a:solidFill>
              <a:srgbClr val="F5A623"/>
            </a:solidFill>
            <a:prstDash val="solid"/>
          </a:ln>
        </p:spPr>
      </p:sp>
      <p:sp>
        <p:nvSpPr>
          <p:cNvPr id="31" name="Text 29"/>
          <p:cNvSpPr/>
          <p:nvPr/>
        </p:nvSpPr>
        <p:spPr>
          <a:xfrm>
            <a:off x="1143000" y="4800600"/>
            <a:ext cx="2377440" cy="512064"/>
          </a:xfrm>
          <a:prstGeom prst="rect">
            <a:avLst/>
          </a:prstGeom>
          <a:noFill/>
          <a:ln/>
        </p:spPr>
        <p:txBody>
          <a:bodyPr wrap="square" rtlCol="0" anchor="ctr"/>
          <a:lstStyle/>
          <a:p>
            <a:pPr marL="0" indent="0">
              <a:buNone/>
            </a:pPr>
            <a:r>
              <a:rPr lang="en-US" sz="1100" b="1" kern="0" spc="100" dirty="0">
                <a:solidFill>
                  <a:srgbClr val="F5A623"/>
                </a:solidFill>
                <a:latin typeface="Calibri" pitchFamily="34" charset="0"/>
                <a:ea typeface="Calibri" pitchFamily="34" charset="-122"/>
                <a:cs typeface="Calibri" pitchFamily="34" charset="-120"/>
              </a:rPr>
              <a:t>PRESENTATION</a:t>
            </a:r>
            <a:endParaRPr lang="en-US" sz="1100" dirty="0"/>
          </a:p>
        </p:txBody>
      </p:sp>
      <p:sp>
        <p:nvSpPr>
          <p:cNvPr id="32" name="Text 30"/>
          <p:cNvSpPr/>
          <p:nvPr/>
        </p:nvSpPr>
        <p:spPr>
          <a:xfrm>
            <a:off x="3566160" y="4800600"/>
            <a:ext cx="7498080" cy="512064"/>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React NOC Dashboard</a:t>
            </a:r>
            <a:endParaRPr lang="en-US" sz="1100" dirty="0"/>
          </a:p>
        </p:txBody>
      </p:sp>
      <p:sp>
        <p:nvSpPr>
          <p:cNvPr id="33" name="Text 31"/>
          <p:cNvSpPr/>
          <p:nvPr/>
        </p:nvSpPr>
        <p:spPr>
          <a:xfrm>
            <a:off x="5797296" y="5221224"/>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22960" y="5458968"/>
            <a:ext cx="10515600" cy="512064"/>
          </a:xfrm>
          <a:prstGeom prst="roundRect">
            <a:avLst>
              <a:gd name="adj" fmla="val 10714"/>
            </a:avLst>
          </a:prstGeom>
          <a:solidFill>
            <a:srgbClr val="0F1826"/>
          </a:solidFill>
          <a:ln w="12700">
            <a:solidFill>
              <a:srgbClr val="EF4A4A"/>
            </a:solidFill>
            <a:prstDash val="solid"/>
          </a:ln>
        </p:spPr>
      </p:sp>
      <p:sp>
        <p:nvSpPr>
          <p:cNvPr id="35" name="Shape 33"/>
          <p:cNvSpPr/>
          <p:nvPr/>
        </p:nvSpPr>
        <p:spPr>
          <a:xfrm>
            <a:off x="822960" y="5458968"/>
            <a:ext cx="146304" cy="512064"/>
          </a:xfrm>
          <a:prstGeom prst="roundRect">
            <a:avLst/>
          </a:prstGeom>
          <a:solidFill>
            <a:srgbClr val="EF4A4A"/>
          </a:solidFill>
          <a:ln w="12700">
            <a:solidFill>
              <a:srgbClr val="EF4A4A"/>
            </a:solidFill>
            <a:prstDash val="solid"/>
          </a:ln>
        </p:spPr>
      </p:sp>
      <p:sp>
        <p:nvSpPr>
          <p:cNvPr id="36" name="Text 34"/>
          <p:cNvSpPr/>
          <p:nvPr/>
        </p:nvSpPr>
        <p:spPr>
          <a:xfrm>
            <a:off x="1143000" y="5458968"/>
            <a:ext cx="2377440" cy="512064"/>
          </a:xfrm>
          <a:prstGeom prst="rect">
            <a:avLst/>
          </a:prstGeom>
          <a:noFill/>
          <a:ln/>
        </p:spPr>
        <p:txBody>
          <a:bodyPr wrap="square" rtlCol="0" anchor="ctr"/>
          <a:lstStyle/>
          <a:p>
            <a:pPr marL="0" indent="0">
              <a:buNone/>
            </a:pPr>
            <a:r>
              <a:rPr lang="en-US" sz="1100" b="1" kern="0" spc="100" dirty="0">
                <a:solidFill>
                  <a:srgbClr val="EF4A4A"/>
                </a:solidFill>
                <a:latin typeface="Calibri" pitchFamily="34" charset="0"/>
                <a:ea typeface="Calibri" pitchFamily="34" charset="-122"/>
                <a:cs typeface="Calibri" pitchFamily="34" charset="-120"/>
              </a:rPr>
              <a:t>OPERATIONS</a:t>
            </a:r>
            <a:endParaRPr lang="en-US" sz="1100" dirty="0"/>
          </a:p>
        </p:txBody>
      </p:sp>
      <p:sp>
        <p:nvSpPr>
          <p:cNvPr id="37" name="Text 35"/>
          <p:cNvSpPr/>
          <p:nvPr/>
        </p:nvSpPr>
        <p:spPr>
          <a:xfrm>
            <a:off x="3566160" y="5458968"/>
            <a:ext cx="7498080" cy="512064"/>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NOC Engineer → Investigation / Action</a:t>
            </a:r>
            <a:endParaRPr lang="en-US" sz="1100" dirty="0"/>
          </a:p>
        </p:txBody>
      </p:sp>
      <p:sp>
        <p:nvSpPr>
          <p:cNvPr id="38" name="Text 3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DATA ENGINEERING</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Raw Telemetry to Analytics-Ready Data</a:t>
            </a:r>
            <a:endParaRPr lang="en-US" sz="3000" dirty="0"/>
          </a:p>
        </p:txBody>
      </p:sp>
      <p:sp>
        <p:nvSpPr>
          <p:cNvPr id="4" name="Shape 2"/>
          <p:cNvSpPr/>
          <p:nvPr/>
        </p:nvSpPr>
        <p:spPr>
          <a:xfrm>
            <a:off x="640080" y="1691640"/>
            <a:ext cx="1847088" cy="1005840"/>
          </a:xfrm>
          <a:prstGeom prst="roundRect">
            <a:avLst>
              <a:gd name="adj" fmla="val 7273"/>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5" name="Text 3"/>
          <p:cNvSpPr/>
          <p:nvPr/>
        </p:nvSpPr>
        <p:spPr>
          <a:xfrm>
            <a:off x="640080" y="1691640"/>
            <a:ext cx="1847088" cy="100584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Landing</a:t>
            </a:r>
            <a:endParaRPr lang="en-US" sz="1500" dirty="0"/>
          </a:p>
        </p:txBody>
      </p:sp>
      <p:sp>
        <p:nvSpPr>
          <p:cNvPr id="6" name="Shape 4"/>
          <p:cNvSpPr/>
          <p:nvPr/>
        </p:nvSpPr>
        <p:spPr>
          <a:xfrm>
            <a:off x="2514600" y="2112264"/>
            <a:ext cx="201168" cy="164592"/>
          </a:xfrm>
          <a:prstGeom prst="rightArrow">
            <a:avLst/>
          </a:prstGeom>
          <a:solidFill>
            <a:srgbClr val="4C8DFF"/>
          </a:solidFill>
          <a:ln/>
        </p:spPr>
      </p:sp>
      <p:sp>
        <p:nvSpPr>
          <p:cNvPr id="7" name="Shape 5"/>
          <p:cNvSpPr/>
          <p:nvPr/>
        </p:nvSpPr>
        <p:spPr>
          <a:xfrm>
            <a:off x="2743200" y="1691640"/>
            <a:ext cx="1847088" cy="1005840"/>
          </a:xfrm>
          <a:prstGeom prst="roundRect">
            <a:avLst>
              <a:gd name="adj" fmla="val 7273"/>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8" name="Text 6"/>
          <p:cNvSpPr/>
          <p:nvPr/>
        </p:nvSpPr>
        <p:spPr>
          <a:xfrm>
            <a:off x="2743200" y="1691640"/>
            <a:ext cx="1847088" cy="100584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Raw</a:t>
            </a:r>
            <a:endParaRPr lang="en-US" sz="1500" dirty="0"/>
          </a:p>
        </p:txBody>
      </p:sp>
      <p:sp>
        <p:nvSpPr>
          <p:cNvPr id="9" name="Shape 7"/>
          <p:cNvSpPr/>
          <p:nvPr/>
        </p:nvSpPr>
        <p:spPr>
          <a:xfrm>
            <a:off x="4617720" y="2112264"/>
            <a:ext cx="201168" cy="164592"/>
          </a:xfrm>
          <a:prstGeom prst="rightArrow">
            <a:avLst/>
          </a:prstGeom>
          <a:solidFill>
            <a:srgbClr val="4C8DFF"/>
          </a:solidFill>
          <a:ln/>
        </p:spPr>
      </p:sp>
      <p:sp>
        <p:nvSpPr>
          <p:cNvPr id="10" name="Shape 8"/>
          <p:cNvSpPr/>
          <p:nvPr/>
        </p:nvSpPr>
        <p:spPr>
          <a:xfrm>
            <a:off x="4846320" y="1691640"/>
            <a:ext cx="1847088" cy="1005840"/>
          </a:xfrm>
          <a:prstGeom prst="roundRect">
            <a:avLst>
              <a:gd name="adj" fmla="val 7273"/>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11" name="Text 9"/>
          <p:cNvSpPr/>
          <p:nvPr/>
        </p:nvSpPr>
        <p:spPr>
          <a:xfrm>
            <a:off x="4846320" y="1691640"/>
            <a:ext cx="1847088" cy="100584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Reference</a:t>
            </a:r>
            <a:endParaRPr lang="en-US" sz="1500" dirty="0"/>
          </a:p>
        </p:txBody>
      </p:sp>
      <p:sp>
        <p:nvSpPr>
          <p:cNvPr id="12" name="Shape 10"/>
          <p:cNvSpPr/>
          <p:nvPr/>
        </p:nvSpPr>
        <p:spPr>
          <a:xfrm>
            <a:off x="6720840" y="2112264"/>
            <a:ext cx="201168" cy="164592"/>
          </a:xfrm>
          <a:prstGeom prst="rightArrow">
            <a:avLst/>
          </a:prstGeom>
          <a:solidFill>
            <a:srgbClr val="4C8DFF"/>
          </a:solidFill>
          <a:ln/>
        </p:spPr>
      </p:sp>
      <p:sp>
        <p:nvSpPr>
          <p:cNvPr id="13" name="Shape 11"/>
          <p:cNvSpPr/>
          <p:nvPr/>
        </p:nvSpPr>
        <p:spPr>
          <a:xfrm>
            <a:off x="6949440" y="1691640"/>
            <a:ext cx="1847088" cy="1005840"/>
          </a:xfrm>
          <a:prstGeom prst="roundRect">
            <a:avLst>
              <a:gd name="adj" fmla="val 7273"/>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14" name="Text 12"/>
          <p:cNvSpPr/>
          <p:nvPr/>
        </p:nvSpPr>
        <p:spPr>
          <a:xfrm>
            <a:off x="6949440" y="1691640"/>
            <a:ext cx="1847088" cy="100584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Processed</a:t>
            </a:r>
            <a:endParaRPr lang="en-US" sz="1500" dirty="0"/>
          </a:p>
        </p:txBody>
      </p:sp>
      <p:sp>
        <p:nvSpPr>
          <p:cNvPr id="15" name="Shape 13"/>
          <p:cNvSpPr/>
          <p:nvPr/>
        </p:nvSpPr>
        <p:spPr>
          <a:xfrm>
            <a:off x="8823960" y="2112264"/>
            <a:ext cx="201168" cy="164592"/>
          </a:xfrm>
          <a:prstGeom prst="rightArrow">
            <a:avLst/>
          </a:prstGeom>
          <a:solidFill>
            <a:srgbClr val="4C8DFF"/>
          </a:solidFill>
          <a:ln/>
        </p:spPr>
      </p:sp>
      <p:sp>
        <p:nvSpPr>
          <p:cNvPr id="16" name="Shape 14"/>
          <p:cNvSpPr/>
          <p:nvPr/>
        </p:nvSpPr>
        <p:spPr>
          <a:xfrm>
            <a:off x="9052560" y="1691640"/>
            <a:ext cx="1847088" cy="1005840"/>
          </a:xfrm>
          <a:prstGeom prst="roundRect">
            <a:avLst>
              <a:gd name="adj" fmla="val 7273"/>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17" name="Text 15"/>
          <p:cNvSpPr/>
          <p:nvPr/>
        </p:nvSpPr>
        <p:spPr>
          <a:xfrm>
            <a:off x="9052560" y="1691640"/>
            <a:ext cx="1847088" cy="1005840"/>
          </a:xfrm>
          <a:prstGeom prst="rect">
            <a:avLst/>
          </a:prstGeom>
          <a:noFill/>
          <a:ln/>
        </p:spPr>
        <p:txBody>
          <a:bodyPr wrap="square" rtlCol="0" anchor="ctr"/>
          <a:lstStyle/>
          <a:p>
            <a:pPr marL="0" indent="0" algn="ctr">
              <a:buNone/>
            </a:pPr>
            <a:r>
              <a:rPr lang="en-US" sz="1500" b="1" dirty="0">
                <a:solidFill>
                  <a:srgbClr val="F3F7FB"/>
                </a:solidFill>
                <a:latin typeface="Cambria" pitchFamily="34" charset="0"/>
                <a:ea typeface="Cambria" pitchFamily="34" charset="-122"/>
                <a:cs typeface="Cambria" pitchFamily="34" charset="-120"/>
              </a:rPr>
              <a:t>Analytics</a:t>
            </a:r>
            <a:endParaRPr lang="en-US" sz="1500" dirty="0"/>
          </a:p>
        </p:txBody>
      </p:sp>
      <p:sp>
        <p:nvSpPr>
          <p:cNvPr id="18" name="Shape 16"/>
          <p:cNvSpPr/>
          <p:nvPr/>
        </p:nvSpPr>
        <p:spPr>
          <a:xfrm>
            <a:off x="640080" y="3063240"/>
            <a:ext cx="5212080" cy="2788920"/>
          </a:xfrm>
          <a:prstGeom prst="roundRect">
            <a:avLst>
              <a:gd name="adj" fmla="val 2623"/>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19" name="Text 17"/>
          <p:cNvSpPr/>
          <p:nvPr/>
        </p:nvSpPr>
        <p:spPr>
          <a:xfrm>
            <a:off x="914400" y="3246120"/>
            <a:ext cx="4572000" cy="320040"/>
          </a:xfrm>
          <a:prstGeom prst="rect">
            <a:avLst/>
          </a:prstGeom>
          <a:noFill/>
          <a:ln/>
        </p:spPr>
        <p:txBody>
          <a:bodyPr wrap="square" rtlCol="0" anchor="ctr"/>
          <a:lstStyle/>
          <a:p>
            <a:pPr marL="0" indent="0">
              <a:buNone/>
            </a:pPr>
            <a:r>
              <a:rPr lang="en-US" sz="1500" b="1" dirty="0">
                <a:solidFill>
                  <a:srgbClr val="22D3C8"/>
                </a:solidFill>
                <a:latin typeface="Cambria" pitchFamily="34" charset="0"/>
                <a:ea typeface="Cambria" pitchFamily="34" charset="-122"/>
                <a:cs typeface="Cambria" pitchFamily="34" charset="-120"/>
              </a:rPr>
              <a:t>Sources</a:t>
            </a:r>
            <a:endParaRPr lang="en-US" sz="1500" dirty="0"/>
          </a:p>
        </p:txBody>
      </p:sp>
      <p:sp>
        <p:nvSpPr>
          <p:cNvPr id="20" name="Text 18"/>
          <p:cNvSpPr/>
          <p:nvPr/>
        </p:nvSpPr>
        <p:spPr>
          <a:xfrm>
            <a:off x="914400" y="3657600"/>
            <a:ext cx="4663440" cy="274320"/>
          </a:xfrm>
          <a:prstGeom prst="rect">
            <a:avLst/>
          </a:prstGeom>
          <a:noFill/>
          <a:ln/>
        </p:spPr>
        <p:txBody>
          <a:bodyPr wrap="square" rtlCol="0" anchor="ctr"/>
          <a:lstStyle/>
          <a:p>
            <a:pPr marL="0" indent="0">
              <a:buNone/>
            </a:pPr>
            <a:r>
              <a:rPr lang="en-US" sz="1200" dirty="0">
                <a:solidFill>
                  <a:srgbClr val="F3F7FB"/>
                </a:solidFill>
                <a:latin typeface="Courier New" pitchFamily="34" charset="0"/>
                <a:ea typeface="Courier New" pitchFamily="34" charset="-122"/>
                <a:cs typeface="Courier New" pitchFamily="34" charset="-120"/>
              </a:rPr>
              <a:t>SMS / Call / Internet activity CSV</a:t>
            </a:r>
            <a:endParaRPr lang="en-US" sz="1200" dirty="0"/>
          </a:p>
        </p:txBody>
      </p:sp>
      <p:sp>
        <p:nvSpPr>
          <p:cNvPr id="21" name="Text 19"/>
          <p:cNvSpPr/>
          <p:nvPr/>
        </p:nvSpPr>
        <p:spPr>
          <a:xfrm>
            <a:off x="914400" y="3931920"/>
            <a:ext cx="4663440" cy="274320"/>
          </a:xfrm>
          <a:prstGeom prst="rect">
            <a:avLst/>
          </a:prstGeom>
          <a:noFill/>
          <a:ln/>
        </p:spPr>
        <p:txBody>
          <a:bodyPr wrap="square" rtlCol="0" anchor="ctr"/>
          <a:lstStyle/>
          <a:p>
            <a:pPr marL="0" indent="0">
              <a:buNone/>
            </a:pPr>
            <a:r>
              <a:rPr lang="en-US" sz="1050" dirty="0">
                <a:solidFill>
                  <a:srgbClr val="9FB0C7"/>
                </a:solidFill>
                <a:latin typeface="Calibri" pitchFamily="34" charset="0"/>
                <a:ea typeface="Calibri" pitchFamily="34" charset="-122"/>
                <a:cs typeface="Calibri" pitchFamily="34" charset="-120"/>
              </a:rPr>
              <a:t>Network activity data</a:t>
            </a:r>
            <a:endParaRPr lang="en-US" sz="1050" dirty="0"/>
          </a:p>
        </p:txBody>
      </p:sp>
      <p:sp>
        <p:nvSpPr>
          <p:cNvPr id="22" name="Text 20"/>
          <p:cNvSpPr/>
          <p:nvPr/>
        </p:nvSpPr>
        <p:spPr>
          <a:xfrm>
            <a:off x="914400" y="4251960"/>
            <a:ext cx="4663440" cy="274320"/>
          </a:xfrm>
          <a:prstGeom prst="rect">
            <a:avLst/>
          </a:prstGeom>
          <a:noFill/>
          <a:ln/>
        </p:spPr>
        <p:txBody>
          <a:bodyPr wrap="square" rtlCol="0" anchor="ctr"/>
          <a:lstStyle/>
          <a:p>
            <a:pPr marL="0" indent="0">
              <a:buNone/>
            </a:pPr>
            <a:r>
              <a:rPr lang="en-US" sz="1200" dirty="0">
                <a:solidFill>
                  <a:srgbClr val="F3F7FB"/>
                </a:solidFill>
                <a:latin typeface="Courier New" pitchFamily="34" charset="0"/>
                <a:ea typeface="Courier New" pitchFamily="34" charset="-122"/>
                <a:cs typeface="Courier New" pitchFamily="34" charset="-120"/>
              </a:rPr>
              <a:t>milano-grid.geojson</a:t>
            </a:r>
            <a:endParaRPr lang="en-US" sz="1200" dirty="0"/>
          </a:p>
        </p:txBody>
      </p:sp>
      <p:sp>
        <p:nvSpPr>
          <p:cNvPr id="23" name="Text 21"/>
          <p:cNvSpPr/>
          <p:nvPr/>
        </p:nvSpPr>
        <p:spPr>
          <a:xfrm>
            <a:off x="914400" y="4526280"/>
            <a:ext cx="4663440" cy="274320"/>
          </a:xfrm>
          <a:prstGeom prst="rect">
            <a:avLst/>
          </a:prstGeom>
          <a:noFill/>
          <a:ln/>
        </p:spPr>
        <p:txBody>
          <a:bodyPr wrap="square" rtlCol="0" anchor="ctr"/>
          <a:lstStyle/>
          <a:p>
            <a:pPr marL="0" indent="0">
              <a:buNone/>
            </a:pPr>
            <a:r>
              <a:rPr lang="en-US" sz="1050" dirty="0">
                <a:solidFill>
                  <a:srgbClr val="9FB0C7"/>
                </a:solidFill>
                <a:latin typeface="Calibri" pitchFamily="34" charset="0"/>
                <a:ea typeface="Calibri" pitchFamily="34" charset="-122"/>
                <a:cs typeface="Calibri" pitchFamily="34" charset="-120"/>
              </a:rPr>
              <a:t>cellId → grid_id mapping</a:t>
            </a:r>
            <a:endParaRPr lang="en-US" sz="1050" dirty="0"/>
          </a:p>
        </p:txBody>
      </p:sp>
      <p:sp>
        <p:nvSpPr>
          <p:cNvPr id="24" name="Text 22"/>
          <p:cNvSpPr/>
          <p:nvPr/>
        </p:nvSpPr>
        <p:spPr>
          <a:xfrm>
            <a:off x="914400" y="4892040"/>
            <a:ext cx="4663440" cy="822960"/>
          </a:xfrm>
          <a:prstGeom prst="rect">
            <a:avLst/>
          </a:prstGeom>
          <a:noFill/>
          <a:ln/>
        </p:spPr>
        <p:txBody>
          <a:bodyPr wrap="square" rtlCol="0" anchor="ctr"/>
          <a:lstStyle/>
          <a:p>
            <a:pPr marL="0" indent="0">
              <a:lnSpc>
                <a:spcPts val="1500"/>
              </a:lnSpc>
              <a:buNone/>
            </a:pPr>
            <a:r>
              <a:rPr lang="en-US" sz="1150" i="1" dirty="0">
                <a:solidFill>
                  <a:srgbClr val="9FB0C7"/>
                </a:solidFill>
                <a:latin typeface="Calibri" pitchFamily="34" charset="0"/>
                <a:ea typeface="Calibri" pitchFamily="34" charset="-122"/>
                <a:cs typeface="Calibri" pitchFamily="34" charset="-120"/>
              </a:rPr>
              <a:t>Data Engineering converts raw network activity into clean, structured data suitable for ML and dashboard consumption.</a:t>
            </a:r>
            <a:endParaRPr lang="en-US" sz="1150" dirty="0"/>
          </a:p>
        </p:txBody>
      </p:sp>
      <p:sp>
        <p:nvSpPr>
          <p:cNvPr id="25" name="Shape 23"/>
          <p:cNvSpPr/>
          <p:nvPr/>
        </p:nvSpPr>
        <p:spPr>
          <a:xfrm>
            <a:off x="6080760" y="3063240"/>
            <a:ext cx="5440680" cy="2788920"/>
          </a:xfrm>
          <a:prstGeom prst="roundRect">
            <a:avLst>
              <a:gd name="adj" fmla="val 2623"/>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26" name="Text 24"/>
          <p:cNvSpPr/>
          <p:nvPr/>
        </p:nvSpPr>
        <p:spPr>
          <a:xfrm>
            <a:off x="6355080" y="3246120"/>
            <a:ext cx="4572000" cy="320040"/>
          </a:xfrm>
          <a:prstGeom prst="rect">
            <a:avLst/>
          </a:prstGeom>
          <a:noFill/>
          <a:ln/>
        </p:spPr>
        <p:txBody>
          <a:bodyPr wrap="square" rtlCol="0" anchor="ctr"/>
          <a:lstStyle/>
          <a:p>
            <a:pPr marL="0" indent="0">
              <a:buNone/>
            </a:pPr>
            <a:r>
              <a:rPr lang="en-US" sz="1500" b="1" dirty="0">
                <a:solidFill>
                  <a:srgbClr val="22D3C8"/>
                </a:solidFill>
                <a:latin typeface="Cambria" pitchFamily="34" charset="0"/>
                <a:ea typeface="Cambria" pitchFamily="34" charset="-122"/>
                <a:cs typeface="Cambria" pitchFamily="34" charset="-120"/>
              </a:rPr>
              <a:t>Analytics Outputs</a:t>
            </a:r>
            <a:endParaRPr lang="en-US" sz="1500" dirty="0"/>
          </a:p>
        </p:txBody>
      </p:sp>
      <p:sp>
        <p:nvSpPr>
          <p:cNvPr id="27" name="Shape 25"/>
          <p:cNvSpPr/>
          <p:nvPr/>
        </p:nvSpPr>
        <p:spPr>
          <a:xfrm>
            <a:off x="6355080" y="3739896"/>
            <a:ext cx="128016" cy="128016"/>
          </a:xfrm>
          <a:prstGeom prst="ellipse">
            <a:avLst/>
          </a:prstGeom>
          <a:solidFill>
            <a:srgbClr val="4C8DFF"/>
          </a:solidFill>
          <a:ln/>
        </p:spPr>
      </p:sp>
      <p:sp>
        <p:nvSpPr>
          <p:cNvPr id="28" name="Text 26"/>
          <p:cNvSpPr/>
          <p:nvPr/>
        </p:nvSpPr>
        <p:spPr>
          <a:xfrm>
            <a:off x="6629400" y="3630168"/>
            <a:ext cx="4754880" cy="32004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Hourly grid summary</a:t>
            </a:r>
            <a:endParaRPr lang="en-US" sz="1250" dirty="0"/>
          </a:p>
        </p:txBody>
      </p:sp>
      <p:sp>
        <p:nvSpPr>
          <p:cNvPr id="29" name="Shape 27"/>
          <p:cNvSpPr/>
          <p:nvPr/>
        </p:nvSpPr>
        <p:spPr>
          <a:xfrm>
            <a:off x="6355080" y="4178808"/>
            <a:ext cx="128016" cy="128016"/>
          </a:xfrm>
          <a:prstGeom prst="ellipse">
            <a:avLst/>
          </a:prstGeom>
          <a:solidFill>
            <a:srgbClr val="4C8DFF"/>
          </a:solidFill>
          <a:ln/>
        </p:spPr>
      </p:sp>
      <p:sp>
        <p:nvSpPr>
          <p:cNvPr id="30" name="Text 28"/>
          <p:cNvSpPr/>
          <p:nvPr/>
        </p:nvSpPr>
        <p:spPr>
          <a:xfrm>
            <a:off x="6629400" y="4069080"/>
            <a:ext cx="4754880" cy="32004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Daily grid summary</a:t>
            </a:r>
            <a:endParaRPr lang="en-US" sz="1250" dirty="0"/>
          </a:p>
        </p:txBody>
      </p:sp>
      <p:sp>
        <p:nvSpPr>
          <p:cNvPr id="31" name="Shape 29"/>
          <p:cNvSpPr/>
          <p:nvPr/>
        </p:nvSpPr>
        <p:spPr>
          <a:xfrm>
            <a:off x="6355080" y="4617720"/>
            <a:ext cx="128016" cy="128016"/>
          </a:xfrm>
          <a:prstGeom prst="ellipse">
            <a:avLst/>
          </a:prstGeom>
          <a:solidFill>
            <a:srgbClr val="4C8DFF"/>
          </a:solidFill>
          <a:ln/>
        </p:spPr>
      </p:sp>
      <p:sp>
        <p:nvSpPr>
          <p:cNvPr id="32" name="Text 30"/>
          <p:cNvSpPr/>
          <p:nvPr/>
        </p:nvSpPr>
        <p:spPr>
          <a:xfrm>
            <a:off x="6629400" y="4507992"/>
            <a:ext cx="4754880" cy="32004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Hotspots</a:t>
            </a:r>
            <a:endParaRPr lang="en-US" sz="1250" dirty="0"/>
          </a:p>
        </p:txBody>
      </p:sp>
      <p:sp>
        <p:nvSpPr>
          <p:cNvPr id="33" name="Shape 31"/>
          <p:cNvSpPr/>
          <p:nvPr/>
        </p:nvSpPr>
        <p:spPr>
          <a:xfrm>
            <a:off x="6355080" y="5056632"/>
            <a:ext cx="128016" cy="128016"/>
          </a:xfrm>
          <a:prstGeom prst="ellipse">
            <a:avLst/>
          </a:prstGeom>
          <a:solidFill>
            <a:srgbClr val="4C8DFF"/>
          </a:solidFill>
          <a:ln/>
        </p:spPr>
      </p:sp>
      <p:sp>
        <p:nvSpPr>
          <p:cNvPr id="34" name="Text 32"/>
          <p:cNvSpPr/>
          <p:nvPr/>
        </p:nvSpPr>
        <p:spPr>
          <a:xfrm>
            <a:off x="6629400" y="4946904"/>
            <a:ext cx="4754880" cy="32004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Alerts</a:t>
            </a:r>
            <a:endParaRPr lang="en-US" sz="1250" dirty="0"/>
          </a:p>
        </p:txBody>
      </p:sp>
      <p:sp>
        <p:nvSpPr>
          <p:cNvPr id="35" name="Shape 33"/>
          <p:cNvSpPr/>
          <p:nvPr/>
        </p:nvSpPr>
        <p:spPr>
          <a:xfrm>
            <a:off x="6355080" y="5495544"/>
            <a:ext cx="128016" cy="128016"/>
          </a:xfrm>
          <a:prstGeom prst="ellipse">
            <a:avLst/>
          </a:prstGeom>
          <a:solidFill>
            <a:srgbClr val="4C8DFF"/>
          </a:solidFill>
          <a:ln/>
        </p:spPr>
      </p:sp>
      <p:sp>
        <p:nvSpPr>
          <p:cNvPr id="36" name="Text 34"/>
          <p:cNvSpPr/>
          <p:nvPr/>
        </p:nvSpPr>
        <p:spPr>
          <a:xfrm>
            <a:off x="6629400" y="5385816"/>
            <a:ext cx="4754880" cy="32004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Risk-related data</a:t>
            </a:r>
            <a:endParaRPr lang="en-US" sz="1250" dirty="0"/>
          </a:p>
        </p:txBody>
      </p:sp>
      <p:sp>
        <p:nvSpPr>
          <p:cNvPr id="37" name="Text 3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MACHINE LEARNING PIPELINE</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From Features to Batch Scoring</a:t>
            </a:r>
            <a:endParaRPr lang="en-US" sz="3000" dirty="0"/>
          </a:p>
        </p:txBody>
      </p:sp>
      <p:sp>
        <p:nvSpPr>
          <p:cNvPr id="4" name="Shape 2"/>
          <p:cNvSpPr/>
          <p:nvPr/>
        </p:nvSpPr>
        <p:spPr>
          <a:xfrm>
            <a:off x="640080" y="1600200"/>
            <a:ext cx="2468880" cy="1417320"/>
          </a:xfrm>
          <a:prstGeom prst="roundRect">
            <a:avLst>
              <a:gd name="adj" fmla="val 5161"/>
            </a:avLst>
          </a:prstGeom>
          <a:solidFill>
            <a:srgbClr val="0F1826"/>
          </a:solidFill>
          <a:ln w="12700">
            <a:solidFill>
              <a:srgbClr val="22D3C8"/>
            </a:solidFill>
            <a:prstDash val="solid"/>
          </a:ln>
          <a:effectLst>
            <a:outerShdw blurRad="101600" dist="38100" dir="5400000" algn="bl" rotWithShape="0">
              <a:srgbClr val="000000">
                <a:alpha val="35000"/>
              </a:srgbClr>
            </a:outerShdw>
          </a:effectLst>
        </p:spPr>
      </p:sp>
      <p:sp>
        <p:nvSpPr>
          <p:cNvPr id="5" name="Text 3"/>
          <p:cNvSpPr/>
          <p:nvPr/>
        </p:nvSpPr>
        <p:spPr>
          <a:xfrm>
            <a:off x="822960" y="1737360"/>
            <a:ext cx="1371600" cy="365760"/>
          </a:xfrm>
          <a:prstGeom prst="rect">
            <a:avLst/>
          </a:prstGeom>
          <a:noFill/>
          <a:ln/>
        </p:spPr>
        <p:txBody>
          <a:bodyPr wrap="square" rtlCol="0" anchor="ctr"/>
          <a:lstStyle/>
          <a:p>
            <a:pPr marL="0" indent="0">
              <a:buNone/>
            </a:pPr>
            <a:r>
              <a:rPr lang="en-US" sz="1600" b="1" dirty="0">
                <a:solidFill>
                  <a:srgbClr val="22D3C8"/>
                </a:solidFill>
                <a:latin typeface="Cambria" pitchFamily="34" charset="0"/>
                <a:ea typeface="Cambria" pitchFamily="34" charset="-122"/>
                <a:cs typeface="Cambria" pitchFamily="34" charset="-120"/>
              </a:rPr>
              <a:t>ML2</a:t>
            </a:r>
            <a:endParaRPr lang="en-US" sz="1600" dirty="0"/>
          </a:p>
        </p:txBody>
      </p:sp>
      <p:sp>
        <p:nvSpPr>
          <p:cNvPr id="6" name="Text 4"/>
          <p:cNvSpPr/>
          <p:nvPr/>
        </p:nvSpPr>
        <p:spPr>
          <a:xfrm>
            <a:off x="822960" y="2148840"/>
            <a:ext cx="2103120" cy="640080"/>
          </a:xfrm>
          <a:prstGeom prst="rect">
            <a:avLst/>
          </a:prstGeom>
          <a:noFill/>
          <a:ln/>
        </p:spPr>
        <p:txBody>
          <a:bodyPr wrap="square" rtlCol="0" anchor="ctr"/>
          <a:lstStyle/>
          <a:p>
            <a:pPr marL="0" indent="0">
              <a:lnSpc>
                <a:spcPts val="1500"/>
              </a:lnSpc>
              <a:buNone/>
            </a:pPr>
            <a:r>
              <a:rPr lang="en-US" sz="1300" b="1" dirty="0">
                <a:solidFill>
                  <a:srgbClr val="F3F7FB"/>
                </a:solidFill>
                <a:latin typeface="Calibri" pitchFamily="34" charset="0"/>
                <a:ea typeface="Calibri" pitchFamily="34" charset="-122"/>
                <a:cs typeface="Calibri" pitchFamily="34" charset="-120"/>
              </a:rPr>
              <a:t>Feature Engineering</a:t>
            </a:r>
            <a:endParaRPr lang="en-US" sz="1300" dirty="0"/>
          </a:p>
        </p:txBody>
      </p:sp>
      <p:sp>
        <p:nvSpPr>
          <p:cNvPr id="7" name="Shape 5"/>
          <p:cNvSpPr/>
          <p:nvPr/>
        </p:nvSpPr>
        <p:spPr>
          <a:xfrm>
            <a:off x="3136392" y="2221992"/>
            <a:ext cx="219456" cy="164592"/>
          </a:xfrm>
          <a:prstGeom prst="rightArrow">
            <a:avLst/>
          </a:prstGeom>
          <a:solidFill>
            <a:srgbClr val="5D7391"/>
          </a:solidFill>
          <a:ln/>
        </p:spPr>
      </p:sp>
      <p:sp>
        <p:nvSpPr>
          <p:cNvPr id="8" name="Shape 6"/>
          <p:cNvSpPr/>
          <p:nvPr/>
        </p:nvSpPr>
        <p:spPr>
          <a:xfrm>
            <a:off x="3383280" y="1600200"/>
            <a:ext cx="2468880" cy="1417320"/>
          </a:xfrm>
          <a:prstGeom prst="roundRect">
            <a:avLst>
              <a:gd name="adj" fmla="val 5161"/>
            </a:avLst>
          </a:prstGeom>
          <a:solidFill>
            <a:srgbClr val="0F1826"/>
          </a:solidFill>
          <a:ln w="12700">
            <a:solidFill>
              <a:srgbClr val="F5A623"/>
            </a:solidFill>
            <a:prstDash val="solid"/>
          </a:ln>
          <a:effectLst>
            <a:outerShdw blurRad="101600" dist="38100" dir="5400000" algn="bl" rotWithShape="0">
              <a:srgbClr val="000000">
                <a:alpha val="35000"/>
              </a:srgbClr>
            </a:outerShdw>
          </a:effectLst>
        </p:spPr>
      </p:sp>
      <p:sp>
        <p:nvSpPr>
          <p:cNvPr id="9" name="Text 7"/>
          <p:cNvSpPr/>
          <p:nvPr/>
        </p:nvSpPr>
        <p:spPr>
          <a:xfrm>
            <a:off x="3566160" y="1737360"/>
            <a:ext cx="1371600" cy="365760"/>
          </a:xfrm>
          <a:prstGeom prst="rect">
            <a:avLst/>
          </a:prstGeom>
          <a:noFill/>
          <a:ln/>
        </p:spPr>
        <p:txBody>
          <a:bodyPr wrap="square" rtlCol="0" anchor="ctr"/>
          <a:lstStyle/>
          <a:p>
            <a:pPr marL="0" indent="0">
              <a:buNone/>
            </a:pPr>
            <a:r>
              <a:rPr lang="en-US" sz="1600" b="1" dirty="0">
                <a:solidFill>
                  <a:srgbClr val="F5A623"/>
                </a:solidFill>
                <a:latin typeface="Cambria" pitchFamily="34" charset="0"/>
                <a:ea typeface="Cambria" pitchFamily="34" charset="-122"/>
                <a:cs typeface="Cambria" pitchFamily="34" charset="-120"/>
              </a:rPr>
              <a:t>ML3</a:t>
            </a:r>
            <a:endParaRPr lang="en-US" sz="1600" dirty="0"/>
          </a:p>
        </p:txBody>
      </p:sp>
      <p:sp>
        <p:nvSpPr>
          <p:cNvPr id="10" name="Text 8"/>
          <p:cNvSpPr/>
          <p:nvPr/>
        </p:nvSpPr>
        <p:spPr>
          <a:xfrm>
            <a:off x="3566160" y="2148840"/>
            <a:ext cx="2103120" cy="640080"/>
          </a:xfrm>
          <a:prstGeom prst="rect">
            <a:avLst/>
          </a:prstGeom>
          <a:noFill/>
          <a:ln/>
        </p:spPr>
        <p:txBody>
          <a:bodyPr wrap="square" rtlCol="0" anchor="ctr"/>
          <a:lstStyle/>
          <a:p>
            <a:pPr marL="0" indent="0">
              <a:lnSpc>
                <a:spcPts val="1500"/>
              </a:lnSpc>
              <a:buNone/>
            </a:pPr>
            <a:r>
              <a:rPr lang="en-US" sz="1300" b="1" dirty="0">
                <a:solidFill>
                  <a:srgbClr val="F3F7FB"/>
                </a:solidFill>
                <a:latin typeface="Calibri" pitchFamily="34" charset="0"/>
                <a:ea typeface="Calibri" pitchFamily="34" charset="-122"/>
                <a:cs typeface="Calibri" pitchFamily="34" charset="-120"/>
              </a:rPr>
              <a:t>Risk Prediction</a:t>
            </a:r>
            <a:endParaRPr lang="en-US" sz="1300" dirty="0"/>
          </a:p>
        </p:txBody>
      </p:sp>
      <p:sp>
        <p:nvSpPr>
          <p:cNvPr id="11" name="Shape 9"/>
          <p:cNvSpPr/>
          <p:nvPr/>
        </p:nvSpPr>
        <p:spPr>
          <a:xfrm>
            <a:off x="5879592" y="2221992"/>
            <a:ext cx="219456" cy="164592"/>
          </a:xfrm>
          <a:prstGeom prst="rightArrow">
            <a:avLst/>
          </a:prstGeom>
          <a:solidFill>
            <a:srgbClr val="5D7391"/>
          </a:solidFill>
          <a:ln/>
        </p:spPr>
      </p:sp>
      <p:sp>
        <p:nvSpPr>
          <p:cNvPr id="12" name="Shape 10"/>
          <p:cNvSpPr/>
          <p:nvPr/>
        </p:nvSpPr>
        <p:spPr>
          <a:xfrm>
            <a:off x="6126480" y="1600200"/>
            <a:ext cx="2468880" cy="1417320"/>
          </a:xfrm>
          <a:prstGeom prst="roundRect">
            <a:avLst>
              <a:gd name="adj" fmla="val 5161"/>
            </a:avLst>
          </a:prstGeom>
          <a:solidFill>
            <a:srgbClr val="0F1826"/>
          </a:solidFill>
          <a:ln w="12700">
            <a:solidFill>
              <a:srgbClr val="EF4A4A"/>
            </a:solidFill>
            <a:prstDash val="solid"/>
          </a:ln>
          <a:effectLst>
            <a:outerShdw blurRad="101600" dist="38100" dir="5400000" algn="bl" rotWithShape="0">
              <a:srgbClr val="000000">
                <a:alpha val="35000"/>
              </a:srgbClr>
            </a:outerShdw>
          </a:effectLst>
        </p:spPr>
      </p:sp>
      <p:sp>
        <p:nvSpPr>
          <p:cNvPr id="13" name="Text 11"/>
          <p:cNvSpPr/>
          <p:nvPr/>
        </p:nvSpPr>
        <p:spPr>
          <a:xfrm>
            <a:off x="6309360" y="1737360"/>
            <a:ext cx="1371600" cy="365760"/>
          </a:xfrm>
          <a:prstGeom prst="rect">
            <a:avLst/>
          </a:prstGeom>
          <a:noFill/>
          <a:ln/>
        </p:spPr>
        <p:txBody>
          <a:bodyPr wrap="square" rtlCol="0" anchor="ctr"/>
          <a:lstStyle/>
          <a:p>
            <a:pPr marL="0" indent="0">
              <a:buNone/>
            </a:pPr>
            <a:r>
              <a:rPr lang="en-US" sz="1600" b="1" dirty="0">
                <a:solidFill>
                  <a:srgbClr val="EF4A4A"/>
                </a:solidFill>
                <a:latin typeface="Cambria" pitchFamily="34" charset="0"/>
                <a:ea typeface="Cambria" pitchFamily="34" charset="-122"/>
                <a:cs typeface="Cambria" pitchFamily="34" charset="-120"/>
              </a:rPr>
              <a:t>ML4</a:t>
            </a:r>
            <a:endParaRPr lang="en-US" sz="1600" dirty="0"/>
          </a:p>
        </p:txBody>
      </p:sp>
      <p:sp>
        <p:nvSpPr>
          <p:cNvPr id="14" name="Text 12"/>
          <p:cNvSpPr/>
          <p:nvPr/>
        </p:nvSpPr>
        <p:spPr>
          <a:xfrm>
            <a:off x="6309360" y="2148840"/>
            <a:ext cx="2103120" cy="640080"/>
          </a:xfrm>
          <a:prstGeom prst="rect">
            <a:avLst/>
          </a:prstGeom>
          <a:noFill/>
          <a:ln/>
        </p:spPr>
        <p:txBody>
          <a:bodyPr wrap="square" rtlCol="0" anchor="ctr"/>
          <a:lstStyle/>
          <a:p>
            <a:pPr marL="0" indent="0">
              <a:lnSpc>
                <a:spcPts val="1500"/>
              </a:lnSpc>
              <a:buNone/>
            </a:pPr>
            <a:r>
              <a:rPr lang="en-US" sz="1300" b="1" dirty="0">
                <a:solidFill>
                  <a:srgbClr val="F3F7FB"/>
                </a:solidFill>
                <a:latin typeface="Calibri" pitchFamily="34" charset="0"/>
                <a:ea typeface="Calibri" pitchFamily="34" charset="-122"/>
                <a:cs typeface="Calibri" pitchFamily="34" charset="-120"/>
              </a:rPr>
              <a:t>Anomaly Detection</a:t>
            </a:r>
            <a:endParaRPr lang="en-US" sz="1300" dirty="0"/>
          </a:p>
        </p:txBody>
      </p:sp>
      <p:sp>
        <p:nvSpPr>
          <p:cNvPr id="15" name="Shape 13"/>
          <p:cNvSpPr/>
          <p:nvPr/>
        </p:nvSpPr>
        <p:spPr>
          <a:xfrm>
            <a:off x="8622792" y="2221992"/>
            <a:ext cx="219456" cy="164592"/>
          </a:xfrm>
          <a:prstGeom prst="rightArrow">
            <a:avLst/>
          </a:prstGeom>
          <a:solidFill>
            <a:srgbClr val="5D7391"/>
          </a:solidFill>
          <a:ln/>
        </p:spPr>
      </p:sp>
      <p:sp>
        <p:nvSpPr>
          <p:cNvPr id="16" name="Shape 14"/>
          <p:cNvSpPr/>
          <p:nvPr/>
        </p:nvSpPr>
        <p:spPr>
          <a:xfrm>
            <a:off x="8869680" y="1600200"/>
            <a:ext cx="2468880" cy="1417320"/>
          </a:xfrm>
          <a:prstGeom prst="roundRect">
            <a:avLst>
              <a:gd name="adj" fmla="val 5161"/>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17" name="Text 15"/>
          <p:cNvSpPr/>
          <p:nvPr/>
        </p:nvSpPr>
        <p:spPr>
          <a:xfrm>
            <a:off x="9052560" y="1737360"/>
            <a:ext cx="1371600" cy="365760"/>
          </a:xfrm>
          <a:prstGeom prst="rect">
            <a:avLst/>
          </a:prstGeom>
          <a:noFill/>
          <a:ln/>
        </p:spPr>
        <p:txBody>
          <a:bodyPr wrap="square" rtlCol="0" anchor="ctr"/>
          <a:lstStyle/>
          <a:p>
            <a:pPr marL="0" indent="0">
              <a:buNone/>
            </a:pPr>
            <a:r>
              <a:rPr lang="en-US" sz="1600" b="1" dirty="0">
                <a:solidFill>
                  <a:srgbClr val="34D399"/>
                </a:solidFill>
                <a:latin typeface="Cambria" pitchFamily="34" charset="0"/>
                <a:ea typeface="Cambria" pitchFamily="34" charset="-122"/>
                <a:cs typeface="Cambria" pitchFamily="34" charset="-120"/>
              </a:rPr>
              <a:t>ML6</a:t>
            </a:r>
            <a:endParaRPr lang="en-US" sz="1600" dirty="0"/>
          </a:p>
        </p:txBody>
      </p:sp>
      <p:sp>
        <p:nvSpPr>
          <p:cNvPr id="18" name="Text 16"/>
          <p:cNvSpPr/>
          <p:nvPr/>
        </p:nvSpPr>
        <p:spPr>
          <a:xfrm>
            <a:off x="9052560" y="2148840"/>
            <a:ext cx="2103120" cy="640080"/>
          </a:xfrm>
          <a:prstGeom prst="rect">
            <a:avLst/>
          </a:prstGeom>
          <a:noFill/>
          <a:ln/>
        </p:spPr>
        <p:txBody>
          <a:bodyPr wrap="square" rtlCol="0" anchor="ctr"/>
          <a:lstStyle/>
          <a:p>
            <a:pPr marL="0" indent="0">
              <a:lnSpc>
                <a:spcPts val="1500"/>
              </a:lnSpc>
              <a:buNone/>
            </a:pPr>
            <a:r>
              <a:rPr lang="en-US" sz="1300" b="1" dirty="0">
                <a:solidFill>
                  <a:srgbClr val="F3F7FB"/>
                </a:solidFill>
                <a:latin typeface="Calibri" pitchFamily="34" charset="0"/>
                <a:ea typeface="Calibri" pitchFamily="34" charset="-122"/>
                <a:cs typeface="Calibri" pitchFamily="34" charset="-120"/>
              </a:rPr>
              <a:t>Batch Scoring</a:t>
            </a:r>
            <a:endParaRPr lang="en-US" sz="1300" dirty="0"/>
          </a:p>
        </p:txBody>
      </p:sp>
      <p:sp>
        <p:nvSpPr>
          <p:cNvPr id="19" name="Shape 17"/>
          <p:cNvSpPr/>
          <p:nvPr/>
        </p:nvSpPr>
        <p:spPr>
          <a:xfrm>
            <a:off x="640080" y="3291840"/>
            <a:ext cx="6400800" cy="2606040"/>
          </a:xfrm>
          <a:prstGeom prst="roundRect">
            <a:avLst>
              <a:gd name="adj" fmla="val 2807"/>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20" name="Text 18"/>
          <p:cNvSpPr/>
          <p:nvPr/>
        </p:nvSpPr>
        <p:spPr>
          <a:xfrm>
            <a:off x="914400" y="3474720"/>
            <a:ext cx="5486400" cy="320040"/>
          </a:xfrm>
          <a:prstGeom prst="rect">
            <a:avLst/>
          </a:prstGeom>
          <a:noFill/>
          <a:ln/>
        </p:spPr>
        <p:txBody>
          <a:bodyPr wrap="square" rtlCol="0" anchor="ctr"/>
          <a:lstStyle/>
          <a:p>
            <a:pPr marL="0" indent="0">
              <a:buNone/>
            </a:pPr>
            <a:r>
              <a:rPr lang="en-US" sz="1500" b="1" dirty="0">
                <a:solidFill>
                  <a:srgbClr val="22D3C8"/>
                </a:solidFill>
                <a:latin typeface="Cambria" pitchFamily="34" charset="0"/>
                <a:ea typeface="Cambria" pitchFamily="34" charset="-122"/>
                <a:cs typeface="Cambria" pitchFamily="34" charset="-120"/>
              </a:rPr>
              <a:t>Feature Set (ML2)</a:t>
            </a:r>
            <a:endParaRPr lang="en-US" sz="1500" dirty="0"/>
          </a:p>
        </p:txBody>
      </p:sp>
      <p:sp>
        <p:nvSpPr>
          <p:cNvPr id="21" name="Shape 19"/>
          <p:cNvSpPr/>
          <p:nvPr/>
        </p:nvSpPr>
        <p:spPr>
          <a:xfrm>
            <a:off x="914400" y="3886200"/>
            <a:ext cx="2697480" cy="365760"/>
          </a:xfrm>
          <a:prstGeom prst="roundRect">
            <a:avLst>
              <a:gd name="adj" fmla="val 15000"/>
            </a:avLst>
          </a:prstGeom>
          <a:solidFill>
            <a:srgbClr val="0F1826"/>
          </a:solidFill>
          <a:ln w="12700">
            <a:solidFill>
              <a:srgbClr val="223049"/>
            </a:solidFill>
            <a:prstDash val="solid"/>
          </a:ln>
        </p:spPr>
      </p:sp>
      <p:sp>
        <p:nvSpPr>
          <p:cNvPr id="22" name="Text 20"/>
          <p:cNvSpPr/>
          <p:nvPr/>
        </p:nvSpPr>
        <p:spPr>
          <a:xfrm>
            <a:off x="1051560" y="38862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avg_activity</a:t>
            </a:r>
            <a:endParaRPr lang="en-US" sz="1100" dirty="0"/>
          </a:p>
        </p:txBody>
      </p:sp>
      <p:sp>
        <p:nvSpPr>
          <p:cNvPr id="23" name="Shape 21"/>
          <p:cNvSpPr/>
          <p:nvPr/>
        </p:nvSpPr>
        <p:spPr>
          <a:xfrm>
            <a:off x="3794760" y="3886200"/>
            <a:ext cx="2697480" cy="365760"/>
          </a:xfrm>
          <a:prstGeom prst="roundRect">
            <a:avLst>
              <a:gd name="adj" fmla="val 15000"/>
            </a:avLst>
          </a:prstGeom>
          <a:solidFill>
            <a:srgbClr val="0F1826"/>
          </a:solidFill>
          <a:ln w="12700">
            <a:solidFill>
              <a:srgbClr val="223049"/>
            </a:solidFill>
            <a:prstDash val="solid"/>
          </a:ln>
        </p:spPr>
      </p:sp>
      <p:sp>
        <p:nvSpPr>
          <p:cNvPr id="24" name="Text 22"/>
          <p:cNvSpPr/>
          <p:nvPr/>
        </p:nvSpPr>
        <p:spPr>
          <a:xfrm>
            <a:off x="3931920" y="38862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activity_growth</a:t>
            </a:r>
            <a:endParaRPr lang="en-US" sz="1100" dirty="0"/>
          </a:p>
        </p:txBody>
      </p:sp>
      <p:sp>
        <p:nvSpPr>
          <p:cNvPr id="25" name="Shape 23"/>
          <p:cNvSpPr/>
          <p:nvPr/>
        </p:nvSpPr>
        <p:spPr>
          <a:xfrm>
            <a:off x="914400" y="4343400"/>
            <a:ext cx="2697480" cy="365760"/>
          </a:xfrm>
          <a:prstGeom prst="roundRect">
            <a:avLst>
              <a:gd name="adj" fmla="val 15000"/>
            </a:avLst>
          </a:prstGeom>
          <a:solidFill>
            <a:srgbClr val="0F1826"/>
          </a:solidFill>
          <a:ln w="12700">
            <a:solidFill>
              <a:srgbClr val="223049"/>
            </a:solidFill>
            <a:prstDash val="solid"/>
          </a:ln>
        </p:spPr>
      </p:sp>
      <p:sp>
        <p:nvSpPr>
          <p:cNvPr id="26" name="Text 24"/>
          <p:cNvSpPr/>
          <p:nvPr/>
        </p:nvSpPr>
        <p:spPr>
          <a:xfrm>
            <a:off x="1051560" y="43434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active_hours</a:t>
            </a:r>
            <a:endParaRPr lang="en-US" sz="1100" dirty="0"/>
          </a:p>
        </p:txBody>
      </p:sp>
      <p:sp>
        <p:nvSpPr>
          <p:cNvPr id="27" name="Shape 25"/>
          <p:cNvSpPr/>
          <p:nvPr/>
        </p:nvSpPr>
        <p:spPr>
          <a:xfrm>
            <a:off x="3794760" y="4343400"/>
            <a:ext cx="2697480" cy="365760"/>
          </a:xfrm>
          <a:prstGeom prst="roundRect">
            <a:avLst>
              <a:gd name="adj" fmla="val 15000"/>
            </a:avLst>
          </a:prstGeom>
          <a:solidFill>
            <a:srgbClr val="0F1826"/>
          </a:solidFill>
          <a:ln w="12700">
            <a:solidFill>
              <a:srgbClr val="223049"/>
            </a:solidFill>
            <a:prstDash val="solid"/>
          </a:ln>
        </p:spPr>
      </p:sp>
      <p:sp>
        <p:nvSpPr>
          <p:cNvPr id="28" name="Text 26"/>
          <p:cNvSpPr/>
          <p:nvPr/>
        </p:nvSpPr>
        <p:spPr>
          <a:xfrm>
            <a:off x="3931920" y="43434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peak_ratio</a:t>
            </a:r>
            <a:endParaRPr lang="en-US" sz="1100" dirty="0"/>
          </a:p>
        </p:txBody>
      </p:sp>
      <p:sp>
        <p:nvSpPr>
          <p:cNvPr id="29" name="Shape 27"/>
          <p:cNvSpPr/>
          <p:nvPr/>
        </p:nvSpPr>
        <p:spPr>
          <a:xfrm>
            <a:off x="914400" y="4800600"/>
            <a:ext cx="2697480" cy="365760"/>
          </a:xfrm>
          <a:prstGeom prst="roundRect">
            <a:avLst>
              <a:gd name="adj" fmla="val 15000"/>
            </a:avLst>
          </a:prstGeom>
          <a:solidFill>
            <a:srgbClr val="0F1826"/>
          </a:solidFill>
          <a:ln w="12700">
            <a:solidFill>
              <a:srgbClr val="223049"/>
            </a:solidFill>
            <a:prstDash val="solid"/>
          </a:ln>
        </p:spPr>
      </p:sp>
      <p:sp>
        <p:nvSpPr>
          <p:cNvPr id="30" name="Text 28"/>
          <p:cNvSpPr/>
          <p:nvPr/>
        </p:nvSpPr>
        <p:spPr>
          <a:xfrm>
            <a:off x="1051560" y="48006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variability</a:t>
            </a:r>
            <a:endParaRPr lang="en-US" sz="1100" dirty="0"/>
          </a:p>
        </p:txBody>
      </p:sp>
      <p:sp>
        <p:nvSpPr>
          <p:cNvPr id="31" name="Shape 29"/>
          <p:cNvSpPr/>
          <p:nvPr/>
        </p:nvSpPr>
        <p:spPr>
          <a:xfrm>
            <a:off x="3794760" y="4800600"/>
            <a:ext cx="2697480" cy="365760"/>
          </a:xfrm>
          <a:prstGeom prst="roundRect">
            <a:avLst>
              <a:gd name="adj" fmla="val 15000"/>
            </a:avLst>
          </a:prstGeom>
          <a:solidFill>
            <a:srgbClr val="0F1826"/>
          </a:solidFill>
          <a:ln w="12700">
            <a:solidFill>
              <a:srgbClr val="223049"/>
            </a:solidFill>
            <a:prstDash val="solid"/>
          </a:ln>
        </p:spPr>
      </p:sp>
      <p:sp>
        <p:nvSpPr>
          <p:cNvPr id="32" name="Text 30"/>
          <p:cNvSpPr/>
          <p:nvPr/>
        </p:nvSpPr>
        <p:spPr>
          <a:xfrm>
            <a:off x="3931920" y="48006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internet_share</a:t>
            </a:r>
            <a:endParaRPr lang="en-US" sz="1100" dirty="0"/>
          </a:p>
        </p:txBody>
      </p:sp>
      <p:sp>
        <p:nvSpPr>
          <p:cNvPr id="33" name="Shape 31"/>
          <p:cNvSpPr/>
          <p:nvPr/>
        </p:nvSpPr>
        <p:spPr>
          <a:xfrm>
            <a:off x="914400" y="5257800"/>
            <a:ext cx="2697480" cy="365760"/>
          </a:xfrm>
          <a:prstGeom prst="roundRect">
            <a:avLst>
              <a:gd name="adj" fmla="val 15000"/>
            </a:avLst>
          </a:prstGeom>
          <a:solidFill>
            <a:srgbClr val="0F1826"/>
          </a:solidFill>
          <a:ln w="12700">
            <a:solidFill>
              <a:srgbClr val="223049"/>
            </a:solidFill>
            <a:prstDash val="solid"/>
          </a:ln>
        </p:spPr>
      </p:sp>
      <p:sp>
        <p:nvSpPr>
          <p:cNvPr id="34" name="Text 32"/>
          <p:cNvSpPr/>
          <p:nvPr/>
        </p:nvSpPr>
        <p:spPr>
          <a:xfrm>
            <a:off x="1051560" y="52578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activity_vs_baseline</a:t>
            </a:r>
            <a:endParaRPr lang="en-US" sz="1100" dirty="0"/>
          </a:p>
        </p:txBody>
      </p:sp>
      <p:sp>
        <p:nvSpPr>
          <p:cNvPr id="35" name="Shape 33"/>
          <p:cNvSpPr/>
          <p:nvPr/>
        </p:nvSpPr>
        <p:spPr>
          <a:xfrm>
            <a:off x="3794760" y="5257800"/>
            <a:ext cx="2697480" cy="365760"/>
          </a:xfrm>
          <a:prstGeom prst="roundRect">
            <a:avLst>
              <a:gd name="adj" fmla="val 15000"/>
            </a:avLst>
          </a:prstGeom>
          <a:solidFill>
            <a:srgbClr val="0F1826"/>
          </a:solidFill>
          <a:ln w="12700">
            <a:solidFill>
              <a:srgbClr val="223049"/>
            </a:solidFill>
            <a:prstDash val="solid"/>
          </a:ln>
        </p:spPr>
      </p:sp>
      <p:sp>
        <p:nvSpPr>
          <p:cNvPr id="36" name="Text 34"/>
          <p:cNvSpPr/>
          <p:nvPr/>
        </p:nvSpPr>
        <p:spPr>
          <a:xfrm>
            <a:off x="3931920" y="5257800"/>
            <a:ext cx="2468880" cy="365760"/>
          </a:xfrm>
          <a:prstGeom prst="rect">
            <a:avLst/>
          </a:prstGeom>
          <a:noFill/>
          <a:ln/>
        </p:spPr>
        <p:txBody>
          <a:bodyPr wrap="square" rtlCol="0" anchor="ctr"/>
          <a:lstStyle/>
          <a:p>
            <a:pPr marL="0" indent="0">
              <a:buNone/>
            </a:pPr>
            <a:r>
              <a:rPr lang="en-US" sz="1100" dirty="0">
                <a:solidFill>
                  <a:srgbClr val="F3F7FB"/>
                </a:solidFill>
                <a:latin typeface="Courier New" pitchFamily="34" charset="0"/>
                <a:ea typeface="Courier New" pitchFamily="34" charset="-122"/>
                <a:cs typeface="Courier New" pitchFamily="34" charset="-120"/>
              </a:rPr>
              <a:t>baseliine_gap</a:t>
            </a:r>
            <a:endParaRPr lang="en-US" sz="1100" dirty="0"/>
          </a:p>
        </p:txBody>
      </p:sp>
      <p:sp>
        <p:nvSpPr>
          <p:cNvPr id="37" name="Text 35"/>
          <p:cNvSpPr/>
          <p:nvPr/>
        </p:nvSpPr>
        <p:spPr>
          <a:xfrm>
            <a:off x="914400" y="5577840"/>
            <a:ext cx="5852160" cy="274320"/>
          </a:xfrm>
          <a:prstGeom prst="rect">
            <a:avLst/>
          </a:prstGeom>
          <a:noFill/>
          <a:ln/>
        </p:spPr>
        <p:txBody>
          <a:bodyPr wrap="square" rtlCol="0" anchor="ctr"/>
          <a:lstStyle/>
          <a:p>
            <a:pPr marL="0" indent="0">
              <a:buNone/>
            </a:pPr>
            <a:r>
              <a:rPr lang="en-US" sz="1050" i="1" dirty="0">
                <a:solidFill>
                  <a:srgbClr val="9FB0C7"/>
                </a:solidFill>
                <a:latin typeface="Calibri" pitchFamily="34" charset="0"/>
                <a:ea typeface="Calibri" pitchFamily="34" charset="-122"/>
                <a:cs typeface="Calibri" pitchFamily="34" charset="-120"/>
              </a:rPr>
              <a:t>Feature engineering uses historical / trailing activity windows with leakage prevention.</a:t>
            </a:r>
            <a:endParaRPr lang="en-US" sz="1050" dirty="0"/>
          </a:p>
        </p:txBody>
      </p:sp>
      <p:sp>
        <p:nvSpPr>
          <p:cNvPr id="38" name="Shape 36"/>
          <p:cNvSpPr/>
          <p:nvPr/>
        </p:nvSpPr>
        <p:spPr>
          <a:xfrm>
            <a:off x="7269480" y="3291840"/>
            <a:ext cx="4297680" cy="2606040"/>
          </a:xfrm>
          <a:prstGeom prst="roundRect">
            <a:avLst>
              <a:gd name="adj" fmla="val 2807"/>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39" name="Text 37"/>
          <p:cNvSpPr/>
          <p:nvPr/>
        </p:nvSpPr>
        <p:spPr>
          <a:xfrm>
            <a:off x="7543800" y="3474720"/>
            <a:ext cx="3657600" cy="320040"/>
          </a:xfrm>
          <a:prstGeom prst="rect">
            <a:avLst/>
          </a:prstGeom>
          <a:noFill/>
          <a:ln/>
        </p:spPr>
        <p:txBody>
          <a:bodyPr wrap="square" rtlCol="0" anchor="ctr"/>
          <a:lstStyle/>
          <a:p>
            <a:pPr marL="0" indent="0">
              <a:buNone/>
            </a:pPr>
            <a:r>
              <a:rPr lang="en-US" sz="1500" b="1" dirty="0">
                <a:solidFill>
                  <a:srgbClr val="F5A623"/>
                </a:solidFill>
                <a:latin typeface="Cambria" pitchFamily="34" charset="0"/>
                <a:ea typeface="Cambria" pitchFamily="34" charset="-122"/>
                <a:cs typeface="Cambria" pitchFamily="34" charset="-120"/>
              </a:rPr>
              <a:t>Risk Model (ML3)</a:t>
            </a:r>
            <a:endParaRPr lang="en-US" sz="1500" dirty="0"/>
          </a:p>
        </p:txBody>
      </p:sp>
      <p:sp>
        <p:nvSpPr>
          <p:cNvPr id="40" name="Text 38"/>
          <p:cNvSpPr/>
          <p:nvPr/>
        </p:nvSpPr>
        <p:spPr>
          <a:xfrm>
            <a:off x="7543800" y="3886200"/>
            <a:ext cx="3749040" cy="320040"/>
          </a:xfrm>
          <a:prstGeom prst="rect">
            <a:avLst/>
          </a:prstGeom>
          <a:noFill/>
          <a:ln/>
        </p:spPr>
        <p:txBody>
          <a:bodyPr wrap="square" rtlCol="0" anchor="ctr"/>
          <a:lstStyle/>
          <a:p>
            <a:pPr marL="0" indent="0">
              <a:buNone/>
            </a:pPr>
            <a:r>
              <a:rPr lang="en-US" sz="1200" b="1" dirty="0">
                <a:solidFill>
                  <a:srgbClr val="F3F7FB"/>
                </a:solidFill>
                <a:latin typeface="Courier New" pitchFamily="34" charset="0"/>
                <a:ea typeface="Courier New" pitchFamily="34" charset="-122"/>
                <a:cs typeface="Courier New" pitchFamily="34" charset="-120"/>
              </a:rPr>
              <a:t>Decision Tree Risk Model — v1</a:t>
            </a:r>
            <a:endParaRPr lang="en-US" sz="1200" dirty="0"/>
          </a:p>
        </p:txBody>
      </p:sp>
      <p:sp>
        <p:nvSpPr>
          <p:cNvPr id="41" name="Text 39"/>
          <p:cNvSpPr/>
          <p:nvPr/>
        </p:nvSpPr>
        <p:spPr>
          <a:xfrm>
            <a:off x="7543800" y="4297680"/>
            <a:ext cx="3749040" cy="685800"/>
          </a:xfrm>
          <a:prstGeom prst="rect">
            <a:avLst/>
          </a:prstGeom>
          <a:noFill/>
          <a:ln/>
        </p:spPr>
        <p:txBody>
          <a:bodyPr wrap="square" rtlCol="0" anchor="ctr"/>
          <a:lstStyle/>
          <a:p>
            <a:pPr marL="0" indent="0">
              <a:lnSpc>
                <a:spcPts val="1400"/>
              </a:lnSpc>
              <a:buNone/>
            </a:pPr>
            <a:r>
              <a:rPr lang="en-US" sz="1100" dirty="0">
                <a:solidFill>
                  <a:srgbClr val="9FB0C7"/>
                </a:solidFill>
                <a:latin typeface="Calibri" pitchFamily="34" charset="0"/>
                <a:ea typeface="Calibri" pitchFamily="34" charset="-122"/>
                <a:cs typeface="Calibri" pitchFamily="34" charset="-120"/>
              </a:rPr>
              <a:t>Label: Future activity &gt; 1.25 × trailing 24-hour median → high-activity / risk condition.</a:t>
            </a:r>
            <a:endParaRPr lang="en-US" sz="1100" dirty="0"/>
          </a:p>
        </p:txBody>
      </p:sp>
      <p:sp>
        <p:nvSpPr>
          <p:cNvPr id="42" name="Shape 40"/>
          <p:cNvSpPr/>
          <p:nvPr/>
        </p:nvSpPr>
        <p:spPr>
          <a:xfrm>
            <a:off x="7543800" y="5029200"/>
            <a:ext cx="1531620" cy="329184"/>
          </a:xfrm>
          <a:prstGeom prst="roundRect">
            <a:avLst>
              <a:gd name="adj" fmla="val 50000"/>
            </a:avLst>
          </a:prstGeom>
          <a:solidFill>
            <a:srgbClr val="0F1826"/>
          </a:solidFill>
          <a:ln w="12700">
            <a:solidFill>
              <a:srgbClr val="22D3C8"/>
            </a:solidFill>
            <a:prstDash val="solid"/>
          </a:ln>
        </p:spPr>
      </p:sp>
      <p:sp>
        <p:nvSpPr>
          <p:cNvPr id="43" name="Shape 41"/>
          <p:cNvSpPr/>
          <p:nvPr/>
        </p:nvSpPr>
        <p:spPr>
          <a:xfrm>
            <a:off x="7708392" y="5129784"/>
            <a:ext cx="128016" cy="128016"/>
          </a:xfrm>
          <a:prstGeom prst="ellipse">
            <a:avLst/>
          </a:prstGeom>
          <a:solidFill>
            <a:srgbClr val="22D3C8"/>
          </a:solidFill>
          <a:ln/>
        </p:spPr>
      </p:sp>
      <p:sp>
        <p:nvSpPr>
          <p:cNvPr id="44" name="Text 42"/>
          <p:cNvSpPr/>
          <p:nvPr/>
        </p:nvSpPr>
        <p:spPr>
          <a:xfrm>
            <a:off x="7909560" y="5029200"/>
            <a:ext cx="1074420" cy="329184"/>
          </a:xfrm>
          <a:prstGeom prst="rect">
            <a:avLst/>
          </a:prstGeom>
          <a:noFill/>
          <a:ln/>
        </p:spPr>
        <p:txBody>
          <a:bodyPr wrap="square" rtlCol="0" anchor="ctr"/>
          <a:lstStyle/>
          <a:p>
            <a:pPr marL="0" indent="0">
              <a:buNone/>
            </a:pPr>
            <a:r>
              <a:rPr lang="en-US" sz="1050" b="1" dirty="0">
                <a:solidFill>
                  <a:srgbClr val="F3F7FB"/>
                </a:solidFill>
                <a:latin typeface="Calibri" pitchFamily="34" charset="0"/>
                <a:ea typeface="Calibri" pitchFamily="34" charset="-122"/>
                <a:cs typeface="Calibri" pitchFamily="34" charset="-120"/>
              </a:rPr>
              <a:t>80% Train</a:t>
            </a:r>
            <a:endParaRPr lang="en-US" sz="1050" dirty="0"/>
          </a:p>
        </p:txBody>
      </p:sp>
      <p:sp>
        <p:nvSpPr>
          <p:cNvPr id="45" name="Shape 43"/>
          <p:cNvSpPr/>
          <p:nvPr/>
        </p:nvSpPr>
        <p:spPr>
          <a:xfrm>
            <a:off x="8915400" y="5029200"/>
            <a:ext cx="1417320" cy="329184"/>
          </a:xfrm>
          <a:prstGeom prst="roundRect">
            <a:avLst>
              <a:gd name="adj" fmla="val 50000"/>
            </a:avLst>
          </a:prstGeom>
          <a:solidFill>
            <a:srgbClr val="0F1826"/>
          </a:solidFill>
          <a:ln w="12700">
            <a:solidFill>
              <a:srgbClr val="4C8DFF"/>
            </a:solidFill>
            <a:prstDash val="solid"/>
          </a:ln>
        </p:spPr>
      </p:sp>
      <p:sp>
        <p:nvSpPr>
          <p:cNvPr id="46" name="Shape 44"/>
          <p:cNvSpPr/>
          <p:nvPr/>
        </p:nvSpPr>
        <p:spPr>
          <a:xfrm>
            <a:off x="9079992" y="5129784"/>
            <a:ext cx="128016" cy="128016"/>
          </a:xfrm>
          <a:prstGeom prst="ellipse">
            <a:avLst/>
          </a:prstGeom>
          <a:solidFill>
            <a:srgbClr val="4C8DFF"/>
          </a:solidFill>
          <a:ln/>
        </p:spPr>
      </p:sp>
      <p:sp>
        <p:nvSpPr>
          <p:cNvPr id="47" name="Text 45"/>
          <p:cNvSpPr/>
          <p:nvPr/>
        </p:nvSpPr>
        <p:spPr>
          <a:xfrm>
            <a:off x="9281160" y="5029200"/>
            <a:ext cx="960120" cy="329184"/>
          </a:xfrm>
          <a:prstGeom prst="rect">
            <a:avLst/>
          </a:prstGeom>
          <a:noFill/>
          <a:ln/>
        </p:spPr>
        <p:txBody>
          <a:bodyPr wrap="square" rtlCol="0" anchor="ctr"/>
          <a:lstStyle/>
          <a:p>
            <a:pPr marL="0" indent="0">
              <a:buNone/>
            </a:pPr>
            <a:r>
              <a:rPr lang="en-US" sz="1050" b="1" dirty="0">
                <a:solidFill>
                  <a:srgbClr val="F3F7FB"/>
                </a:solidFill>
                <a:latin typeface="Calibri" pitchFamily="34" charset="0"/>
                <a:ea typeface="Calibri" pitchFamily="34" charset="-122"/>
                <a:cs typeface="Calibri" pitchFamily="34" charset="-120"/>
              </a:rPr>
              <a:t>20% Test</a:t>
            </a:r>
            <a:endParaRPr lang="en-US" sz="1050" dirty="0"/>
          </a:p>
        </p:txBody>
      </p:sp>
      <p:sp>
        <p:nvSpPr>
          <p:cNvPr id="48" name="Text 46"/>
          <p:cNvSpPr/>
          <p:nvPr/>
        </p:nvSpPr>
        <p:spPr>
          <a:xfrm>
            <a:off x="7543800" y="5486400"/>
            <a:ext cx="3749040" cy="365760"/>
          </a:xfrm>
          <a:prstGeom prst="rect">
            <a:avLst/>
          </a:prstGeom>
          <a:noFill/>
          <a:ln/>
        </p:spPr>
        <p:txBody>
          <a:bodyPr wrap="square" rtlCol="0" anchor="ctr"/>
          <a:lstStyle/>
          <a:p>
            <a:pPr marL="0" indent="0">
              <a:buNone/>
            </a:pPr>
            <a:r>
              <a:rPr lang="en-US" sz="950" i="1" dirty="0">
                <a:solidFill>
                  <a:srgbClr val="5D7391"/>
                </a:solidFill>
                <a:latin typeface="Calibri" pitchFamily="34" charset="0"/>
                <a:ea typeface="Calibri" pitchFamily="34" charset="-122"/>
                <a:cs typeface="Calibri" pitchFamily="34" charset="-120"/>
              </a:rPr>
              <a:t>XGBoost / LightGBM: future experimentation only, not deployed.</a:t>
            </a:r>
            <a:endParaRPr lang="en-US" sz="950" dirty="0"/>
          </a:p>
        </p:txBody>
      </p:sp>
      <p:sp>
        <p:nvSpPr>
          <p:cNvPr id="49" name="Text 4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RISK &amp; ANOMALY INTELLIGENCE</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Turning Scores into Operational Status</a:t>
            </a:r>
            <a:endParaRPr lang="en-US" sz="3000" dirty="0"/>
          </a:p>
        </p:txBody>
      </p:sp>
      <p:sp>
        <p:nvSpPr>
          <p:cNvPr id="4" name="Shape 2"/>
          <p:cNvSpPr/>
          <p:nvPr/>
        </p:nvSpPr>
        <p:spPr>
          <a:xfrm>
            <a:off x="640080" y="1645920"/>
            <a:ext cx="3429000" cy="2103120"/>
          </a:xfrm>
          <a:prstGeom prst="roundRect">
            <a:avLst>
              <a:gd name="adj" fmla="val 3478"/>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5" name="Shape 3"/>
          <p:cNvSpPr/>
          <p:nvPr/>
        </p:nvSpPr>
        <p:spPr>
          <a:xfrm>
            <a:off x="914400" y="1920240"/>
            <a:ext cx="365760" cy="365760"/>
          </a:xfrm>
          <a:prstGeom prst="ellipse">
            <a:avLst/>
          </a:prstGeom>
          <a:solidFill>
            <a:srgbClr val="34D399"/>
          </a:solidFill>
          <a:ln/>
        </p:spPr>
      </p:sp>
      <p:sp>
        <p:nvSpPr>
          <p:cNvPr id="6" name="Text 4"/>
          <p:cNvSpPr/>
          <p:nvPr/>
        </p:nvSpPr>
        <p:spPr>
          <a:xfrm>
            <a:off x="1417320" y="1874520"/>
            <a:ext cx="2423160" cy="457200"/>
          </a:xfrm>
          <a:prstGeom prst="rect">
            <a:avLst/>
          </a:prstGeom>
          <a:noFill/>
          <a:ln/>
        </p:spPr>
        <p:txBody>
          <a:bodyPr wrap="square" rtlCol="0" anchor="ctr"/>
          <a:lstStyle/>
          <a:p>
            <a:pPr marL="0" indent="0">
              <a:buNone/>
            </a:pPr>
            <a:r>
              <a:rPr lang="en-US" sz="2000" b="1" dirty="0">
                <a:solidFill>
                  <a:srgbClr val="F3F7FB"/>
                </a:solidFill>
                <a:latin typeface="Cambria" pitchFamily="34" charset="0"/>
                <a:ea typeface="Cambria" pitchFamily="34" charset="-122"/>
                <a:cs typeface="Cambria" pitchFamily="34" charset="-120"/>
              </a:rPr>
              <a:t>NORMAL</a:t>
            </a:r>
            <a:endParaRPr lang="en-US" sz="2000" dirty="0"/>
          </a:p>
        </p:txBody>
      </p:sp>
      <p:sp>
        <p:nvSpPr>
          <p:cNvPr id="7" name="Text 5"/>
          <p:cNvSpPr/>
          <p:nvPr/>
        </p:nvSpPr>
        <p:spPr>
          <a:xfrm>
            <a:off x="914400" y="2514600"/>
            <a:ext cx="2880360" cy="1097280"/>
          </a:xfrm>
          <a:prstGeom prst="rect">
            <a:avLst/>
          </a:prstGeom>
          <a:noFill/>
          <a:ln/>
        </p:spPr>
        <p:txBody>
          <a:bodyPr wrap="square" rtlCol="0" anchor="ctr"/>
          <a:lstStyle/>
          <a:p>
            <a:pPr marL="0" indent="0">
              <a:lnSpc>
                <a:spcPts val="1600"/>
              </a:lnSpc>
              <a:buNone/>
            </a:pPr>
            <a:r>
              <a:rPr lang="en-US" sz="1200" dirty="0">
                <a:solidFill>
                  <a:srgbClr val="9FB0C7"/>
                </a:solidFill>
                <a:latin typeface="Calibri" pitchFamily="34" charset="0"/>
                <a:ea typeface="Calibri" pitchFamily="34" charset="-122"/>
                <a:cs typeface="Calibri" pitchFamily="34" charset="-120"/>
              </a:rPr>
              <a:t>Activity within expected trailing baseline range.</a:t>
            </a:r>
            <a:endParaRPr lang="en-US" sz="1200" dirty="0"/>
          </a:p>
        </p:txBody>
      </p:sp>
      <p:sp>
        <p:nvSpPr>
          <p:cNvPr id="8" name="Shape 6"/>
          <p:cNvSpPr/>
          <p:nvPr/>
        </p:nvSpPr>
        <p:spPr>
          <a:xfrm>
            <a:off x="4343400" y="1645920"/>
            <a:ext cx="3429000" cy="2103120"/>
          </a:xfrm>
          <a:prstGeom prst="roundRect">
            <a:avLst>
              <a:gd name="adj" fmla="val 3478"/>
            </a:avLst>
          </a:prstGeom>
          <a:solidFill>
            <a:srgbClr val="0F1826"/>
          </a:solidFill>
          <a:ln w="12700">
            <a:solidFill>
              <a:srgbClr val="F5A623"/>
            </a:solidFill>
            <a:prstDash val="solid"/>
          </a:ln>
          <a:effectLst>
            <a:outerShdw blurRad="101600" dist="38100" dir="5400000" algn="bl" rotWithShape="0">
              <a:srgbClr val="000000">
                <a:alpha val="35000"/>
              </a:srgbClr>
            </a:outerShdw>
          </a:effectLst>
        </p:spPr>
      </p:sp>
      <p:sp>
        <p:nvSpPr>
          <p:cNvPr id="9" name="Shape 7"/>
          <p:cNvSpPr/>
          <p:nvPr/>
        </p:nvSpPr>
        <p:spPr>
          <a:xfrm>
            <a:off x="4617720" y="1920240"/>
            <a:ext cx="365760" cy="365760"/>
          </a:xfrm>
          <a:prstGeom prst="ellipse">
            <a:avLst/>
          </a:prstGeom>
          <a:solidFill>
            <a:srgbClr val="F5A623"/>
          </a:solidFill>
          <a:ln/>
        </p:spPr>
      </p:sp>
      <p:sp>
        <p:nvSpPr>
          <p:cNvPr id="10" name="Text 8"/>
          <p:cNvSpPr/>
          <p:nvPr/>
        </p:nvSpPr>
        <p:spPr>
          <a:xfrm>
            <a:off x="5120640" y="1874520"/>
            <a:ext cx="2423160" cy="457200"/>
          </a:xfrm>
          <a:prstGeom prst="rect">
            <a:avLst/>
          </a:prstGeom>
          <a:noFill/>
          <a:ln/>
        </p:spPr>
        <p:txBody>
          <a:bodyPr wrap="square" rtlCol="0" anchor="ctr"/>
          <a:lstStyle/>
          <a:p>
            <a:pPr marL="0" indent="0">
              <a:buNone/>
            </a:pPr>
            <a:r>
              <a:rPr lang="en-US" sz="2000" b="1" dirty="0">
                <a:solidFill>
                  <a:srgbClr val="F3F7FB"/>
                </a:solidFill>
                <a:latin typeface="Cambria" pitchFamily="34" charset="0"/>
                <a:ea typeface="Cambria" pitchFamily="34" charset="-122"/>
                <a:cs typeface="Cambria" pitchFamily="34" charset="-120"/>
              </a:rPr>
              <a:t>ATTENTION</a:t>
            </a:r>
            <a:endParaRPr lang="en-US" sz="2000" dirty="0"/>
          </a:p>
        </p:txBody>
      </p:sp>
      <p:sp>
        <p:nvSpPr>
          <p:cNvPr id="11" name="Text 9"/>
          <p:cNvSpPr/>
          <p:nvPr/>
        </p:nvSpPr>
        <p:spPr>
          <a:xfrm>
            <a:off x="4617720" y="2514600"/>
            <a:ext cx="2880360" cy="1097280"/>
          </a:xfrm>
          <a:prstGeom prst="rect">
            <a:avLst/>
          </a:prstGeom>
          <a:noFill/>
          <a:ln/>
        </p:spPr>
        <p:txBody>
          <a:bodyPr wrap="square" rtlCol="0" anchor="ctr"/>
          <a:lstStyle/>
          <a:p>
            <a:pPr marL="0" indent="0">
              <a:lnSpc>
                <a:spcPts val="1600"/>
              </a:lnSpc>
              <a:buNone/>
            </a:pPr>
            <a:r>
              <a:rPr lang="en-US" sz="1200" dirty="0">
                <a:solidFill>
                  <a:srgbClr val="9FB0C7"/>
                </a:solidFill>
                <a:latin typeface="Calibri" pitchFamily="34" charset="0"/>
                <a:ea typeface="Calibri" pitchFamily="34" charset="-122"/>
                <a:cs typeface="Calibri" pitchFamily="34" charset="-120"/>
              </a:rPr>
              <a:t>Deviation detected; worth NOC monitoring.</a:t>
            </a:r>
            <a:endParaRPr lang="en-US" sz="1200" dirty="0"/>
          </a:p>
        </p:txBody>
      </p:sp>
      <p:sp>
        <p:nvSpPr>
          <p:cNvPr id="12" name="Shape 10"/>
          <p:cNvSpPr/>
          <p:nvPr/>
        </p:nvSpPr>
        <p:spPr>
          <a:xfrm>
            <a:off x="8046720" y="1645920"/>
            <a:ext cx="3429000" cy="2103120"/>
          </a:xfrm>
          <a:prstGeom prst="roundRect">
            <a:avLst>
              <a:gd name="adj" fmla="val 3478"/>
            </a:avLst>
          </a:prstGeom>
          <a:solidFill>
            <a:srgbClr val="0F1826"/>
          </a:solidFill>
          <a:ln w="12700">
            <a:solidFill>
              <a:srgbClr val="EF4A4A"/>
            </a:solidFill>
            <a:prstDash val="solid"/>
          </a:ln>
          <a:effectLst>
            <a:outerShdw blurRad="101600" dist="38100" dir="5400000" algn="bl" rotWithShape="0">
              <a:srgbClr val="000000">
                <a:alpha val="35000"/>
              </a:srgbClr>
            </a:outerShdw>
          </a:effectLst>
        </p:spPr>
      </p:sp>
      <p:sp>
        <p:nvSpPr>
          <p:cNvPr id="13" name="Shape 11"/>
          <p:cNvSpPr/>
          <p:nvPr/>
        </p:nvSpPr>
        <p:spPr>
          <a:xfrm>
            <a:off x="8321040" y="1920240"/>
            <a:ext cx="365760" cy="365760"/>
          </a:xfrm>
          <a:prstGeom prst="ellipse">
            <a:avLst/>
          </a:prstGeom>
          <a:solidFill>
            <a:srgbClr val="EF4A4A"/>
          </a:solidFill>
          <a:ln/>
        </p:spPr>
      </p:sp>
      <p:sp>
        <p:nvSpPr>
          <p:cNvPr id="14" name="Text 12"/>
          <p:cNvSpPr/>
          <p:nvPr/>
        </p:nvSpPr>
        <p:spPr>
          <a:xfrm>
            <a:off x="8823960" y="1874520"/>
            <a:ext cx="2423160" cy="457200"/>
          </a:xfrm>
          <a:prstGeom prst="rect">
            <a:avLst/>
          </a:prstGeom>
          <a:noFill/>
          <a:ln/>
        </p:spPr>
        <p:txBody>
          <a:bodyPr wrap="square" rtlCol="0" anchor="ctr"/>
          <a:lstStyle/>
          <a:p>
            <a:pPr marL="0" indent="0">
              <a:buNone/>
            </a:pPr>
            <a:r>
              <a:rPr lang="en-US" sz="2000" b="1" dirty="0">
                <a:solidFill>
                  <a:srgbClr val="F3F7FB"/>
                </a:solidFill>
                <a:latin typeface="Cambria" pitchFamily="34" charset="0"/>
                <a:ea typeface="Cambria" pitchFamily="34" charset="-122"/>
                <a:cs typeface="Cambria" pitchFamily="34" charset="-120"/>
              </a:rPr>
              <a:t>HIGH</a:t>
            </a:r>
            <a:endParaRPr lang="en-US" sz="2000" dirty="0"/>
          </a:p>
        </p:txBody>
      </p:sp>
      <p:sp>
        <p:nvSpPr>
          <p:cNvPr id="15" name="Text 13"/>
          <p:cNvSpPr/>
          <p:nvPr/>
        </p:nvSpPr>
        <p:spPr>
          <a:xfrm>
            <a:off x="8321040" y="2514600"/>
            <a:ext cx="2880360" cy="1097280"/>
          </a:xfrm>
          <a:prstGeom prst="rect">
            <a:avLst/>
          </a:prstGeom>
          <a:noFill/>
          <a:ln/>
        </p:spPr>
        <p:txBody>
          <a:bodyPr wrap="square" rtlCol="0" anchor="ctr"/>
          <a:lstStyle/>
          <a:p>
            <a:pPr marL="0" indent="0">
              <a:lnSpc>
                <a:spcPts val="1600"/>
              </a:lnSpc>
              <a:buNone/>
            </a:pPr>
            <a:r>
              <a:rPr lang="en-US" sz="1200" dirty="0">
                <a:solidFill>
                  <a:srgbClr val="9FB0C7"/>
                </a:solidFill>
                <a:latin typeface="Calibri" pitchFamily="34" charset="0"/>
                <a:ea typeface="Calibri" pitchFamily="34" charset="-122"/>
                <a:cs typeface="Calibri" pitchFamily="34" charset="-120"/>
              </a:rPr>
              <a:t>Risk score / anomaly exceeds operational threshold.</a:t>
            </a:r>
            <a:endParaRPr lang="en-US" sz="1200" dirty="0"/>
          </a:p>
        </p:txBody>
      </p:sp>
      <p:sp>
        <p:nvSpPr>
          <p:cNvPr id="16" name="Shape 14"/>
          <p:cNvSpPr/>
          <p:nvPr/>
        </p:nvSpPr>
        <p:spPr>
          <a:xfrm>
            <a:off x="640080" y="4023360"/>
            <a:ext cx="10881360" cy="2194560"/>
          </a:xfrm>
          <a:prstGeom prst="roundRect">
            <a:avLst>
              <a:gd name="adj" fmla="val 3333"/>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17" name="Text 15"/>
          <p:cNvSpPr/>
          <p:nvPr/>
        </p:nvSpPr>
        <p:spPr>
          <a:xfrm>
            <a:off x="914400" y="4206240"/>
            <a:ext cx="5486400" cy="320040"/>
          </a:xfrm>
          <a:prstGeom prst="rect">
            <a:avLst/>
          </a:prstGeom>
          <a:noFill/>
          <a:ln/>
        </p:spPr>
        <p:txBody>
          <a:bodyPr wrap="square" rtlCol="0" anchor="ctr"/>
          <a:lstStyle/>
          <a:p>
            <a:pPr marL="0" indent="0">
              <a:buNone/>
            </a:pPr>
            <a:r>
              <a:rPr lang="en-US" sz="1500" b="1" dirty="0">
                <a:solidFill>
                  <a:srgbClr val="22D3C8"/>
                </a:solidFill>
                <a:latin typeface="Cambria" pitchFamily="34" charset="0"/>
                <a:ea typeface="Cambria" pitchFamily="34" charset="-122"/>
                <a:cs typeface="Cambria" pitchFamily="34" charset="-120"/>
              </a:rPr>
              <a:t>Anomaly &amp; Risk Scoring Flow</a:t>
            </a:r>
            <a:endParaRPr lang="en-US" sz="1500" dirty="0"/>
          </a:p>
        </p:txBody>
      </p:sp>
      <p:sp>
        <p:nvSpPr>
          <p:cNvPr id="18" name="Shape 16"/>
          <p:cNvSpPr/>
          <p:nvPr/>
        </p:nvSpPr>
        <p:spPr>
          <a:xfrm>
            <a:off x="914400" y="4892040"/>
            <a:ext cx="1874520" cy="960120"/>
          </a:xfrm>
          <a:prstGeom prst="roundRect">
            <a:avLst>
              <a:gd name="adj" fmla="val 7619"/>
            </a:avLst>
          </a:prstGeom>
          <a:solidFill>
            <a:srgbClr val="0F1826"/>
          </a:solidFill>
          <a:ln w="12700">
            <a:solidFill>
              <a:srgbClr val="223049"/>
            </a:solidFill>
            <a:prstDash val="solid"/>
          </a:ln>
        </p:spPr>
      </p:sp>
      <p:sp>
        <p:nvSpPr>
          <p:cNvPr id="19" name="Text 17"/>
          <p:cNvSpPr/>
          <p:nvPr/>
        </p:nvSpPr>
        <p:spPr>
          <a:xfrm>
            <a:off x="914400" y="4892040"/>
            <a:ext cx="1874520" cy="960120"/>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Grid Activity</a:t>
            </a:r>
            <a:endParaRPr lang="en-US" sz="1150" dirty="0"/>
          </a:p>
        </p:txBody>
      </p:sp>
      <p:sp>
        <p:nvSpPr>
          <p:cNvPr id="20" name="Shape 18"/>
          <p:cNvSpPr/>
          <p:nvPr/>
        </p:nvSpPr>
        <p:spPr>
          <a:xfrm>
            <a:off x="2816352" y="5294376"/>
            <a:ext cx="201168" cy="164592"/>
          </a:xfrm>
          <a:prstGeom prst="rightArrow">
            <a:avLst/>
          </a:prstGeom>
          <a:solidFill>
            <a:srgbClr val="22D3C8"/>
          </a:solidFill>
          <a:ln/>
        </p:spPr>
      </p:sp>
      <p:sp>
        <p:nvSpPr>
          <p:cNvPr id="21" name="Shape 19"/>
          <p:cNvSpPr/>
          <p:nvPr/>
        </p:nvSpPr>
        <p:spPr>
          <a:xfrm>
            <a:off x="3044952" y="4892040"/>
            <a:ext cx="1874520" cy="960120"/>
          </a:xfrm>
          <a:prstGeom prst="roundRect">
            <a:avLst>
              <a:gd name="adj" fmla="val 7619"/>
            </a:avLst>
          </a:prstGeom>
          <a:solidFill>
            <a:srgbClr val="0F1826"/>
          </a:solidFill>
          <a:ln w="12700">
            <a:solidFill>
              <a:srgbClr val="223049"/>
            </a:solidFill>
            <a:prstDash val="solid"/>
          </a:ln>
        </p:spPr>
      </p:sp>
      <p:sp>
        <p:nvSpPr>
          <p:cNvPr id="22" name="Text 20"/>
          <p:cNvSpPr/>
          <p:nvPr/>
        </p:nvSpPr>
        <p:spPr>
          <a:xfrm>
            <a:off x="3044952" y="4892040"/>
            <a:ext cx="1874520" cy="960120"/>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Risk Score</a:t>
            </a:r>
            <a:endParaRPr lang="en-US" sz="1150" dirty="0"/>
          </a:p>
        </p:txBody>
      </p:sp>
      <p:sp>
        <p:nvSpPr>
          <p:cNvPr id="23" name="Shape 21"/>
          <p:cNvSpPr/>
          <p:nvPr/>
        </p:nvSpPr>
        <p:spPr>
          <a:xfrm>
            <a:off x="4946904" y="5294376"/>
            <a:ext cx="201168" cy="164592"/>
          </a:xfrm>
          <a:prstGeom prst="rightArrow">
            <a:avLst/>
          </a:prstGeom>
          <a:solidFill>
            <a:srgbClr val="22D3C8"/>
          </a:solidFill>
          <a:ln/>
        </p:spPr>
      </p:sp>
      <p:sp>
        <p:nvSpPr>
          <p:cNvPr id="24" name="Shape 22"/>
          <p:cNvSpPr/>
          <p:nvPr/>
        </p:nvSpPr>
        <p:spPr>
          <a:xfrm>
            <a:off x="5175504" y="4892040"/>
            <a:ext cx="1874520" cy="960120"/>
          </a:xfrm>
          <a:prstGeom prst="roundRect">
            <a:avLst>
              <a:gd name="adj" fmla="val 7619"/>
            </a:avLst>
          </a:prstGeom>
          <a:solidFill>
            <a:srgbClr val="0F1826"/>
          </a:solidFill>
          <a:ln w="12700">
            <a:solidFill>
              <a:srgbClr val="223049"/>
            </a:solidFill>
            <a:prstDash val="solid"/>
          </a:ln>
        </p:spPr>
      </p:sp>
      <p:sp>
        <p:nvSpPr>
          <p:cNvPr id="25" name="Text 23"/>
          <p:cNvSpPr/>
          <p:nvPr/>
        </p:nvSpPr>
        <p:spPr>
          <a:xfrm>
            <a:off x="5175504" y="4892040"/>
            <a:ext cx="1874520" cy="960120"/>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Anomaly Score</a:t>
            </a:r>
            <a:endParaRPr lang="en-US" sz="1150" dirty="0"/>
          </a:p>
        </p:txBody>
      </p:sp>
      <p:sp>
        <p:nvSpPr>
          <p:cNvPr id="26" name="Shape 24"/>
          <p:cNvSpPr/>
          <p:nvPr/>
        </p:nvSpPr>
        <p:spPr>
          <a:xfrm>
            <a:off x="7077456" y="5294376"/>
            <a:ext cx="201168" cy="164592"/>
          </a:xfrm>
          <a:prstGeom prst="rightArrow">
            <a:avLst/>
          </a:prstGeom>
          <a:solidFill>
            <a:srgbClr val="22D3C8"/>
          </a:solidFill>
          <a:ln/>
        </p:spPr>
      </p:sp>
      <p:sp>
        <p:nvSpPr>
          <p:cNvPr id="27" name="Shape 25"/>
          <p:cNvSpPr/>
          <p:nvPr/>
        </p:nvSpPr>
        <p:spPr>
          <a:xfrm>
            <a:off x="7306056" y="4892040"/>
            <a:ext cx="1874520" cy="960120"/>
          </a:xfrm>
          <a:prstGeom prst="roundRect">
            <a:avLst>
              <a:gd name="adj" fmla="val 7619"/>
            </a:avLst>
          </a:prstGeom>
          <a:solidFill>
            <a:srgbClr val="0F1826"/>
          </a:solidFill>
          <a:ln w="12700">
            <a:solidFill>
              <a:srgbClr val="223049"/>
            </a:solidFill>
            <a:prstDash val="solid"/>
          </a:ln>
        </p:spPr>
      </p:sp>
      <p:sp>
        <p:nvSpPr>
          <p:cNvPr id="28" name="Text 26"/>
          <p:cNvSpPr/>
          <p:nvPr/>
        </p:nvSpPr>
        <p:spPr>
          <a:xfrm>
            <a:off x="7306056" y="4892040"/>
            <a:ext cx="1874520" cy="960120"/>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Severity Tag</a:t>
            </a:r>
            <a:endParaRPr lang="en-US" sz="1150" dirty="0"/>
          </a:p>
        </p:txBody>
      </p:sp>
      <p:sp>
        <p:nvSpPr>
          <p:cNvPr id="29" name="Shape 27"/>
          <p:cNvSpPr/>
          <p:nvPr/>
        </p:nvSpPr>
        <p:spPr>
          <a:xfrm>
            <a:off x="9208008" y="5294376"/>
            <a:ext cx="201168" cy="164592"/>
          </a:xfrm>
          <a:prstGeom prst="rightArrow">
            <a:avLst/>
          </a:prstGeom>
          <a:solidFill>
            <a:srgbClr val="22D3C8"/>
          </a:solidFill>
          <a:ln/>
        </p:spPr>
      </p:sp>
      <p:sp>
        <p:nvSpPr>
          <p:cNvPr id="30" name="Shape 28"/>
          <p:cNvSpPr/>
          <p:nvPr/>
        </p:nvSpPr>
        <p:spPr>
          <a:xfrm>
            <a:off x="9436608" y="4892040"/>
            <a:ext cx="1874520" cy="960120"/>
          </a:xfrm>
          <a:prstGeom prst="roundRect">
            <a:avLst>
              <a:gd name="adj" fmla="val 7619"/>
            </a:avLst>
          </a:prstGeom>
          <a:solidFill>
            <a:srgbClr val="0F1826"/>
          </a:solidFill>
          <a:ln w="12700">
            <a:solidFill>
              <a:srgbClr val="223049"/>
            </a:solidFill>
            <a:prstDash val="solid"/>
          </a:ln>
        </p:spPr>
      </p:sp>
      <p:sp>
        <p:nvSpPr>
          <p:cNvPr id="31" name="Text 29"/>
          <p:cNvSpPr/>
          <p:nvPr/>
        </p:nvSpPr>
        <p:spPr>
          <a:xfrm>
            <a:off x="9436608" y="4892040"/>
            <a:ext cx="1874520" cy="960120"/>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NOC Priority Queue</a:t>
            </a:r>
            <a:endParaRPr lang="en-US" sz="1150" dirty="0"/>
          </a:p>
        </p:txBody>
      </p:sp>
      <p:sp>
        <p:nvSpPr>
          <p:cNvPr id="32" name="Text 3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GEOGRAPHIC INTELLIGENCE</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Where Is the Problem, Not Just What</a:t>
            </a:r>
            <a:endParaRPr lang="en-US" sz="3000" dirty="0"/>
          </a:p>
        </p:txBody>
      </p:sp>
      <p:sp>
        <p:nvSpPr>
          <p:cNvPr id="4" name="Shape 2"/>
          <p:cNvSpPr/>
          <p:nvPr/>
        </p:nvSpPr>
        <p:spPr>
          <a:xfrm>
            <a:off x="640080" y="1600200"/>
            <a:ext cx="5120640" cy="5120640"/>
          </a:xfrm>
          <a:prstGeom prst="roundRect">
            <a:avLst>
              <a:gd name="adj" fmla="val 1429"/>
            </a:avLst>
          </a:prstGeom>
          <a:solidFill>
            <a:srgbClr val="0F1826"/>
          </a:solidFill>
          <a:ln w="12700">
            <a:solidFill>
              <a:srgbClr val="223049"/>
            </a:solidFill>
            <a:prstDash val="solid"/>
          </a:ln>
          <a:effectLst>
            <a:outerShdw blurRad="101600" dist="38100" dir="5400000" algn="bl" rotWithShape="0">
              <a:srgbClr val="000000">
                <a:alpha val="35000"/>
              </a:srgbClr>
            </a:outerShdw>
          </a:effectLst>
        </p:spPr>
      </p:sp>
      <p:sp>
        <p:nvSpPr>
          <p:cNvPr id="5" name="Shape 3"/>
          <p:cNvSpPr/>
          <p:nvPr/>
        </p:nvSpPr>
        <p:spPr>
          <a:xfrm>
            <a:off x="822960" y="1783080"/>
            <a:ext cx="557784" cy="557784"/>
          </a:xfrm>
          <a:prstGeom prst="rect">
            <a:avLst/>
          </a:prstGeom>
          <a:solidFill>
            <a:srgbClr val="34D399">
              <a:alpha val="22000"/>
            </a:srgbClr>
          </a:solidFill>
          <a:ln w="6350">
            <a:solidFill>
              <a:srgbClr val="223049"/>
            </a:solidFill>
            <a:prstDash val="solid"/>
          </a:ln>
        </p:spPr>
      </p:sp>
      <p:sp>
        <p:nvSpPr>
          <p:cNvPr id="6" name="Shape 4"/>
          <p:cNvSpPr/>
          <p:nvPr/>
        </p:nvSpPr>
        <p:spPr>
          <a:xfrm>
            <a:off x="1417320" y="1783080"/>
            <a:ext cx="557784" cy="557784"/>
          </a:xfrm>
          <a:prstGeom prst="rect">
            <a:avLst/>
          </a:prstGeom>
          <a:solidFill>
            <a:srgbClr val="34D399">
              <a:alpha val="22000"/>
            </a:srgbClr>
          </a:solidFill>
          <a:ln w="6350">
            <a:solidFill>
              <a:srgbClr val="223049"/>
            </a:solidFill>
            <a:prstDash val="solid"/>
          </a:ln>
        </p:spPr>
      </p:sp>
      <p:sp>
        <p:nvSpPr>
          <p:cNvPr id="7" name="Shape 5"/>
          <p:cNvSpPr/>
          <p:nvPr/>
        </p:nvSpPr>
        <p:spPr>
          <a:xfrm>
            <a:off x="2011680" y="1783080"/>
            <a:ext cx="557784" cy="557784"/>
          </a:xfrm>
          <a:prstGeom prst="rect">
            <a:avLst/>
          </a:prstGeom>
          <a:solidFill>
            <a:srgbClr val="F5A623">
              <a:alpha val="65000"/>
            </a:srgbClr>
          </a:solidFill>
          <a:ln w="6350">
            <a:solidFill>
              <a:srgbClr val="223049"/>
            </a:solidFill>
            <a:prstDash val="solid"/>
          </a:ln>
        </p:spPr>
      </p:sp>
      <p:sp>
        <p:nvSpPr>
          <p:cNvPr id="8" name="Shape 6"/>
          <p:cNvSpPr/>
          <p:nvPr/>
        </p:nvSpPr>
        <p:spPr>
          <a:xfrm>
            <a:off x="2606040" y="1783080"/>
            <a:ext cx="557784" cy="557784"/>
          </a:xfrm>
          <a:prstGeom prst="rect">
            <a:avLst/>
          </a:prstGeom>
          <a:solidFill>
            <a:srgbClr val="34D399">
              <a:alpha val="22000"/>
            </a:srgbClr>
          </a:solidFill>
          <a:ln w="6350">
            <a:solidFill>
              <a:srgbClr val="223049"/>
            </a:solidFill>
            <a:prstDash val="solid"/>
          </a:ln>
        </p:spPr>
      </p:sp>
      <p:sp>
        <p:nvSpPr>
          <p:cNvPr id="9" name="Shape 7"/>
          <p:cNvSpPr/>
          <p:nvPr/>
        </p:nvSpPr>
        <p:spPr>
          <a:xfrm>
            <a:off x="3200400" y="1783080"/>
            <a:ext cx="557784" cy="557784"/>
          </a:xfrm>
          <a:prstGeom prst="rect">
            <a:avLst/>
          </a:prstGeom>
          <a:solidFill>
            <a:srgbClr val="34D399">
              <a:alpha val="22000"/>
            </a:srgbClr>
          </a:solidFill>
          <a:ln w="6350">
            <a:solidFill>
              <a:srgbClr val="223049"/>
            </a:solidFill>
            <a:prstDash val="solid"/>
          </a:ln>
        </p:spPr>
      </p:sp>
      <p:sp>
        <p:nvSpPr>
          <p:cNvPr id="10" name="Shape 8"/>
          <p:cNvSpPr/>
          <p:nvPr/>
        </p:nvSpPr>
        <p:spPr>
          <a:xfrm>
            <a:off x="3794760" y="1783080"/>
            <a:ext cx="557784" cy="557784"/>
          </a:xfrm>
          <a:prstGeom prst="rect">
            <a:avLst/>
          </a:prstGeom>
          <a:solidFill>
            <a:srgbClr val="34D399">
              <a:alpha val="22000"/>
            </a:srgbClr>
          </a:solidFill>
          <a:ln w="6350">
            <a:solidFill>
              <a:srgbClr val="223049"/>
            </a:solidFill>
            <a:prstDash val="solid"/>
          </a:ln>
        </p:spPr>
      </p:sp>
      <p:sp>
        <p:nvSpPr>
          <p:cNvPr id="11" name="Shape 9"/>
          <p:cNvSpPr/>
          <p:nvPr/>
        </p:nvSpPr>
        <p:spPr>
          <a:xfrm>
            <a:off x="4389120" y="1783080"/>
            <a:ext cx="557784" cy="557784"/>
          </a:xfrm>
          <a:prstGeom prst="rect">
            <a:avLst/>
          </a:prstGeom>
          <a:solidFill>
            <a:srgbClr val="34D399">
              <a:alpha val="22000"/>
            </a:srgbClr>
          </a:solidFill>
          <a:ln w="6350">
            <a:solidFill>
              <a:srgbClr val="223049"/>
            </a:solidFill>
            <a:prstDash val="solid"/>
          </a:ln>
        </p:spPr>
      </p:sp>
      <p:sp>
        <p:nvSpPr>
          <p:cNvPr id="12" name="Shape 10"/>
          <p:cNvSpPr/>
          <p:nvPr/>
        </p:nvSpPr>
        <p:spPr>
          <a:xfrm>
            <a:off x="4983480" y="1783080"/>
            <a:ext cx="557784" cy="557784"/>
          </a:xfrm>
          <a:prstGeom prst="rect">
            <a:avLst/>
          </a:prstGeom>
          <a:solidFill>
            <a:srgbClr val="F5A623">
              <a:alpha val="65000"/>
            </a:srgbClr>
          </a:solidFill>
          <a:ln w="6350">
            <a:solidFill>
              <a:srgbClr val="223049"/>
            </a:solidFill>
            <a:prstDash val="solid"/>
          </a:ln>
        </p:spPr>
      </p:sp>
      <p:sp>
        <p:nvSpPr>
          <p:cNvPr id="13" name="Shape 11"/>
          <p:cNvSpPr/>
          <p:nvPr/>
        </p:nvSpPr>
        <p:spPr>
          <a:xfrm>
            <a:off x="822960" y="2377440"/>
            <a:ext cx="557784" cy="557784"/>
          </a:xfrm>
          <a:prstGeom prst="rect">
            <a:avLst/>
          </a:prstGeom>
          <a:solidFill>
            <a:srgbClr val="EF4A4A">
              <a:alpha val="65000"/>
            </a:srgbClr>
          </a:solidFill>
          <a:ln w="6350">
            <a:solidFill>
              <a:srgbClr val="223049"/>
            </a:solidFill>
            <a:prstDash val="solid"/>
          </a:ln>
        </p:spPr>
      </p:sp>
      <p:sp>
        <p:nvSpPr>
          <p:cNvPr id="14" name="Shape 12"/>
          <p:cNvSpPr/>
          <p:nvPr/>
        </p:nvSpPr>
        <p:spPr>
          <a:xfrm>
            <a:off x="1417320" y="2377440"/>
            <a:ext cx="557784" cy="557784"/>
          </a:xfrm>
          <a:prstGeom prst="rect">
            <a:avLst/>
          </a:prstGeom>
          <a:solidFill>
            <a:srgbClr val="34D399">
              <a:alpha val="22000"/>
            </a:srgbClr>
          </a:solidFill>
          <a:ln w="6350">
            <a:solidFill>
              <a:srgbClr val="223049"/>
            </a:solidFill>
            <a:prstDash val="solid"/>
          </a:ln>
        </p:spPr>
      </p:sp>
      <p:sp>
        <p:nvSpPr>
          <p:cNvPr id="15" name="Shape 13"/>
          <p:cNvSpPr/>
          <p:nvPr/>
        </p:nvSpPr>
        <p:spPr>
          <a:xfrm>
            <a:off x="2011680" y="2377440"/>
            <a:ext cx="557784" cy="557784"/>
          </a:xfrm>
          <a:prstGeom prst="rect">
            <a:avLst/>
          </a:prstGeom>
          <a:solidFill>
            <a:srgbClr val="34D399">
              <a:alpha val="22000"/>
            </a:srgbClr>
          </a:solidFill>
          <a:ln w="6350">
            <a:solidFill>
              <a:srgbClr val="223049"/>
            </a:solidFill>
            <a:prstDash val="solid"/>
          </a:ln>
        </p:spPr>
      </p:sp>
      <p:sp>
        <p:nvSpPr>
          <p:cNvPr id="16" name="Shape 14"/>
          <p:cNvSpPr/>
          <p:nvPr/>
        </p:nvSpPr>
        <p:spPr>
          <a:xfrm>
            <a:off x="2606040" y="2377440"/>
            <a:ext cx="557784" cy="557784"/>
          </a:xfrm>
          <a:prstGeom prst="rect">
            <a:avLst/>
          </a:prstGeom>
          <a:solidFill>
            <a:srgbClr val="34D399">
              <a:alpha val="22000"/>
            </a:srgbClr>
          </a:solidFill>
          <a:ln w="6350">
            <a:solidFill>
              <a:srgbClr val="223049"/>
            </a:solidFill>
            <a:prstDash val="solid"/>
          </a:ln>
        </p:spPr>
      </p:sp>
      <p:sp>
        <p:nvSpPr>
          <p:cNvPr id="17" name="Shape 15"/>
          <p:cNvSpPr/>
          <p:nvPr/>
        </p:nvSpPr>
        <p:spPr>
          <a:xfrm>
            <a:off x="3200400" y="2377440"/>
            <a:ext cx="557784" cy="557784"/>
          </a:xfrm>
          <a:prstGeom prst="rect">
            <a:avLst/>
          </a:prstGeom>
          <a:solidFill>
            <a:srgbClr val="34D399">
              <a:alpha val="22000"/>
            </a:srgbClr>
          </a:solidFill>
          <a:ln w="6350">
            <a:solidFill>
              <a:srgbClr val="223049"/>
            </a:solidFill>
            <a:prstDash val="solid"/>
          </a:ln>
        </p:spPr>
      </p:sp>
      <p:sp>
        <p:nvSpPr>
          <p:cNvPr id="18" name="Shape 16"/>
          <p:cNvSpPr/>
          <p:nvPr/>
        </p:nvSpPr>
        <p:spPr>
          <a:xfrm>
            <a:off x="3794760" y="2377440"/>
            <a:ext cx="557784" cy="557784"/>
          </a:xfrm>
          <a:prstGeom prst="rect">
            <a:avLst/>
          </a:prstGeom>
          <a:solidFill>
            <a:srgbClr val="34D399">
              <a:alpha val="22000"/>
            </a:srgbClr>
          </a:solidFill>
          <a:ln w="6350">
            <a:solidFill>
              <a:srgbClr val="223049"/>
            </a:solidFill>
            <a:prstDash val="solid"/>
          </a:ln>
        </p:spPr>
      </p:sp>
      <p:sp>
        <p:nvSpPr>
          <p:cNvPr id="19" name="Shape 17"/>
          <p:cNvSpPr/>
          <p:nvPr/>
        </p:nvSpPr>
        <p:spPr>
          <a:xfrm>
            <a:off x="4389120" y="2377440"/>
            <a:ext cx="557784" cy="557784"/>
          </a:xfrm>
          <a:prstGeom prst="rect">
            <a:avLst/>
          </a:prstGeom>
          <a:solidFill>
            <a:srgbClr val="34D399">
              <a:alpha val="22000"/>
            </a:srgbClr>
          </a:solidFill>
          <a:ln w="6350">
            <a:solidFill>
              <a:srgbClr val="223049"/>
            </a:solidFill>
            <a:prstDash val="solid"/>
          </a:ln>
        </p:spPr>
      </p:sp>
      <p:sp>
        <p:nvSpPr>
          <p:cNvPr id="20" name="Shape 18"/>
          <p:cNvSpPr/>
          <p:nvPr/>
        </p:nvSpPr>
        <p:spPr>
          <a:xfrm>
            <a:off x="4983480" y="2377440"/>
            <a:ext cx="557784" cy="557784"/>
          </a:xfrm>
          <a:prstGeom prst="rect">
            <a:avLst/>
          </a:prstGeom>
          <a:solidFill>
            <a:srgbClr val="F5A623">
              <a:alpha val="65000"/>
            </a:srgbClr>
          </a:solidFill>
          <a:ln w="6350">
            <a:solidFill>
              <a:srgbClr val="223049"/>
            </a:solidFill>
            <a:prstDash val="solid"/>
          </a:ln>
        </p:spPr>
      </p:sp>
      <p:sp>
        <p:nvSpPr>
          <p:cNvPr id="21" name="Shape 19"/>
          <p:cNvSpPr/>
          <p:nvPr/>
        </p:nvSpPr>
        <p:spPr>
          <a:xfrm>
            <a:off x="822960" y="2971800"/>
            <a:ext cx="557784" cy="557784"/>
          </a:xfrm>
          <a:prstGeom prst="rect">
            <a:avLst/>
          </a:prstGeom>
          <a:solidFill>
            <a:srgbClr val="34D399">
              <a:alpha val="22000"/>
            </a:srgbClr>
          </a:solidFill>
          <a:ln w="6350">
            <a:solidFill>
              <a:srgbClr val="223049"/>
            </a:solidFill>
            <a:prstDash val="solid"/>
          </a:ln>
        </p:spPr>
      </p:sp>
      <p:sp>
        <p:nvSpPr>
          <p:cNvPr id="22" name="Shape 20"/>
          <p:cNvSpPr/>
          <p:nvPr/>
        </p:nvSpPr>
        <p:spPr>
          <a:xfrm>
            <a:off x="1417320" y="2971800"/>
            <a:ext cx="557784" cy="557784"/>
          </a:xfrm>
          <a:prstGeom prst="rect">
            <a:avLst/>
          </a:prstGeom>
          <a:solidFill>
            <a:srgbClr val="34D399">
              <a:alpha val="22000"/>
            </a:srgbClr>
          </a:solidFill>
          <a:ln w="6350">
            <a:solidFill>
              <a:srgbClr val="223049"/>
            </a:solidFill>
            <a:prstDash val="solid"/>
          </a:ln>
        </p:spPr>
      </p:sp>
      <p:sp>
        <p:nvSpPr>
          <p:cNvPr id="23" name="Shape 21"/>
          <p:cNvSpPr/>
          <p:nvPr/>
        </p:nvSpPr>
        <p:spPr>
          <a:xfrm>
            <a:off x="2011680" y="2971800"/>
            <a:ext cx="557784" cy="557784"/>
          </a:xfrm>
          <a:prstGeom prst="rect">
            <a:avLst/>
          </a:prstGeom>
          <a:solidFill>
            <a:srgbClr val="34D399">
              <a:alpha val="22000"/>
            </a:srgbClr>
          </a:solidFill>
          <a:ln w="6350">
            <a:solidFill>
              <a:srgbClr val="223049"/>
            </a:solidFill>
            <a:prstDash val="solid"/>
          </a:ln>
        </p:spPr>
      </p:sp>
      <p:sp>
        <p:nvSpPr>
          <p:cNvPr id="24" name="Shape 22"/>
          <p:cNvSpPr/>
          <p:nvPr/>
        </p:nvSpPr>
        <p:spPr>
          <a:xfrm>
            <a:off x="2606040" y="2971800"/>
            <a:ext cx="557784" cy="557784"/>
          </a:xfrm>
          <a:prstGeom prst="rect">
            <a:avLst/>
          </a:prstGeom>
          <a:solidFill>
            <a:srgbClr val="34D399">
              <a:alpha val="22000"/>
            </a:srgbClr>
          </a:solidFill>
          <a:ln w="6350">
            <a:solidFill>
              <a:srgbClr val="223049"/>
            </a:solidFill>
            <a:prstDash val="solid"/>
          </a:ln>
        </p:spPr>
      </p:sp>
      <p:sp>
        <p:nvSpPr>
          <p:cNvPr id="25" name="Shape 23"/>
          <p:cNvSpPr/>
          <p:nvPr/>
        </p:nvSpPr>
        <p:spPr>
          <a:xfrm>
            <a:off x="3200400" y="2971800"/>
            <a:ext cx="557784" cy="557784"/>
          </a:xfrm>
          <a:prstGeom prst="rect">
            <a:avLst/>
          </a:prstGeom>
          <a:solidFill>
            <a:srgbClr val="34D399">
              <a:alpha val="22000"/>
            </a:srgbClr>
          </a:solidFill>
          <a:ln w="6350">
            <a:solidFill>
              <a:srgbClr val="223049"/>
            </a:solidFill>
            <a:prstDash val="solid"/>
          </a:ln>
        </p:spPr>
      </p:sp>
      <p:sp>
        <p:nvSpPr>
          <p:cNvPr id="26" name="Shape 24"/>
          <p:cNvSpPr/>
          <p:nvPr/>
        </p:nvSpPr>
        <p:spPr>
          <a:xfrm>
            <a:off x="3794760" y="2971800"/>
            <a:ext cx="557784" cy="557784"/>
          </a:xfrm>
          <a:prstGeom prst="rect">
            <a:avLst/>
          </a:prstGeom>
          <a:solidFill>
            <a:srgbClr val="34D399">
              <a:alpha val="22000"/>
            </a:srgbClr>
          </a:solidFill>
          <a:ln w="6350">
            <a:solidFill>
              <a:srgbClr val="223049"/>
            </a:solidFill>
            <a:prstDash val="solid"/>
          </a:ln>
        </p:spPr>
      </p:sp>
      <p:sp>
        <p:nvSpPr>
          <p:cNvPr id="27" name="Shape 25"/>
          <p:cNvSpPr/>
          <p:nvPr/>
        </p:nvSpPr>
        <p:spPr>
          <a:xfrm>
            <a:off x="4389120" y="2971800"/>
            <a:ext cx="557784" cy="557784"/>
          </a:xfrm>
          <a:prstGeom prst="rect">
            <a:avLst/>
          </a:prstGeom>
          <a:solidFill>
            <a:srgbClr val="34D399">
              <a:alpha val="22000"/>
            </a:srgbClr>
          </a:solidFill>
          <a:ln w="6350">
            <a:solidFill>
              <a:srgbClr val="223049"/>
            </a:solidFill>
            <a:prstDash val="solid"/>
          </a:ln>
        </p:spPr>
      </p:sp>
      <p:sp>
        <p:nvSpPr>
          <p:cNvPr id="28" name="Shape 26"/>
          <p:cNvSpPr/>
          <p:nvPr/>
        </p:nvSpPr>
        <p:spPr>
          <a:xfrm>
            <a:off x="4983480" y="2971800"/>
            <a:ext cx="557784" cy="557784"/>
          </a:xfrm>
          <a:prstGeom prst="rect">
            <a:avLst/>
          </a:prstGeom>
          <a:solidFill>
            <a:srgbClr val="34D399">
              <a:alpha val="22000"/>
            </a:srgbClr>
          </a:solidFill>
          <a:ln w="6350">
            <a:solidFill>
              <a:srgbClr val="223049"/>
            </a:solidFill>
            <a:prstDash val="solid"/>
          </a:ln>
        </p:spPr>
      </p:sp>
      <p:sp>
        <p:nvSpPr>
          <p:cNvPr id="29" name="Shape 27"/>
          <p:cNvSpPr/>
          <p:nvPr/>
        </p:nvSpPr>
        <p:spPr>
          <a:xfrm>
            <a:off x="822960" y="3566160"/>
            <a:ext cx="557784" cy="557784"/>
          </a:xfrm>
          <a:prstGeom prst="rect">
            <a:avLst/>
          </a:prstGeom>
          <a:solidFill>
            <a:srgbClr val="34D399">
              <a:alpha val="22000"/>
            </a:srgbClr>
          </a:solidFill>
          <a:ln w="6350">
            <a:solidFill>
              <a:srgbClr val="223049"/>
            </a:solidFill>
            <a:prstDash val="solid"/>
          </a:ln>
        </p:spPr>
      </p:sp>
      <p:sp>
        <p:nvSpPr>
          <p:cNvPr id="30" name="Shape 28"/>
          <p:cNvSpPr/>
          <p:nvPr/>
        </p:nvSpPr>
        <p:spPr>
          <a:xfrm>
            <a:off x="1417320" y="3566160"/>
            <a:ext cx="557784" cy="557784"/>
          </a:xfrm>
          <a:prstGeom prst="rect">
            <a:avLst/>
          </a:prstGeom>
          <a:solidFill>
            <a:srgbClr val="34D399">
              <a:alpha val="22000"/>
            </a:srgbClr>
          </a:solidFill>
          <a:ln w="6350">
            <a:solidFill>
              <a:srgbClr val="223049"/>
            </a:solidFill>
            <a:prstDash val="solid"/>
          </a:ln>
        </p:spPr>
      </p:sp>
      <p:sp>
        <p:nvSpPr>
          <p:cNvPr id="31" name="Shape 29"/>
          <p:cNvSpPr/>
          <p:nvPr/>
        </p:nvSpPr>
        <p:spPr>
          <a:xfrm>
            <a:off x="2011680" y="3566160"/>
            <a:ext cx="557784" cy="557784"/>
          </a:xfrm>
          <a:prstGeom prst="rect">
            <a:avLst/>
          </a:prstGeom>
          <a:solidFill>
            <a:srgbClr val="F5A623">
              <a:alpha val="65000"/>
            </a:srgbClr>
          </a:solidFill>
          <a:ln w="6350">
            <a:solidFill>
              <a:srgbClr val="223049"/>
            </a:solidFill>
            <a:prstDash val="solid"/>
          </a:ln>
        </p:spPr>
      </p:sp>
      <p:sp>
        <p:nvSpPr>
          <p:cNvPr id="32" name="Shape 30"/>
          <p:cNvSpPr/>
          <p:nvPr/>
        </p:nvSpPr>
        <p:spPr>
          <a:xfrm>
            <a:off x="2606040" y="3566160"/>
            <a:ext cx="557784" cy="557784"/>
          </a:xfrm>
          <a:prstGeom prst="rect">
            <a:avLst/>
          </a:prstGeom>
          <a:solidFill>
            <a:srgbClr val="34D399">
              <a:alpha val="22000"/>
            </a:srgbClr>
          </a:solidFill>
          <a:ln w="6350">
            <a:solidFill>
              <a:srgbClr val="223049"/>
            </a:solidFill>
            <a:prstDash val="solid"/>
          </a:ln>
        </p:spPr>
      </p:sp>
      <p:sp>
        <p:nvSpPr>
          <p:cNvPr id="33" name="Shape 31"/>
          <p:cNvSpPr/>
          <p:nvPr/>
        </p:nvSpPr>
        <p:spPr>
          <a:xfrm>
            <a:off x="3200400" y="3566160"/>
            <a:ext cx="557784" cy="557784"/>
          </a:xfrm>
          <a:prstGeom prst="rect">
            <a:avLst/>
          </a:prstGeom>
          <a:solidFill>
            <a:srgbClr val="34D399">
              <a:alpha val="22000"/>
            </a:srgbClr>
          </a:solidFill>
          <a:ln w="6350">
            <a:solidFill>
              <a:srgbClr val="223049"/>
            </a:solidFill>
            <a:prstDash val="solid"/>
          </a:ln>
        </p:spPr>
      </p:sp>
      <p:sp>
        <p:nvSpPr>
          <p:cNvPr id="34" name="Shape 32"/>
          <p:cNvSpPr/>
          <p:nvPr/>
        </p:nvSpPr>
        <p:spPr>
          <a:xfrm>
            <a:off x="3794760" y="3566160"/>
            <a:ext cx="557784" cy="557784"/>
          </a:xfrm>
          <a:prstGeom prst="rect">
            <a:avLst/>
          </a:prstGeom>
          <a:solidFill>
            <a:srgbClr val="34D399">
              <a:alpha val="22000"/>
            </a:srgbClr>
          </a:solidFill>
          <a:ln w="6350">
            <a:solidFill>
              <a:srgbClr val="223049"/>
            </a:solidFill>
            <a:prstDash val="solid"/>
          </a:ln>
        </p:spPr>
      </p:sp>
      <p:sp>
        <p:nvSpPr>
          <p:cNvPr id="35" name="Shape 33"/>
          <p:cNvSpPr/>
          <p:nvPr/>
        </p:nvSpPr>
        <p:spPr>
          <a:xfrm>
            <a:off x="4389120" y="3566160"/>
            <a:ext cx="557784" cy="557784"/>
          </a:xfrm>
          <a:prstGeom prst="rect">
            <a:avLst/>
          </a:prstGeom>
          <a:solidFill>
            <a:srgbClr val="34D399">
              <a:alpha val="22000"/>
            </a:srgbClr>
          </a:solidFill>
          <a:ln w="6350">
            <a:solidFill>
              <a:srgbClr val="223049"/>
            </a:solidFill>
            <a:prstDash val="solid"/>
          </a:ln>
        </p:spPr>
      </p:sp>
      <p:sp>
        <p:nvSpPr>
          <p:cNvPr id="36" name="Shape 34"/>
          <p:cNvSpPr/>
          <p:nvPr/>
        </p:nvSpPr>
        <p:spPr>
          <a:xfrm>
            <a:off x="4983480" y="3566160"/>
            <a:ext cx="557784" cy="557784"/>
          </a:xfrm>
          <a:prstGeom prst="rect">
            <a:avLst/>
          </a:prstGeom>
          <a:solidFill>
            <a:srgbClr val="EF4A4A">
              <a:alpha val="65000"/>
            </a:srgbClr>
          </a:solidFill>
          <a:ln w="6350">
            <a:solidFill>
              <a:srgbClr val="223049"/>
            </a:solidFill>
            <a:prstDash val="solid"/>
          </a:ln>
        </p:spPr>
      </p:sp>
      <p:sp>
        <p:nvSpPr>
          <p:cNvPr id="37" name="Shape 35"/>
          <p:cNvSpPr/>
          <p:nvPr/>
        </p:nvSpPr>
        <p:spPr>
          <a:xfrm>
            <a:off x="822960" y="4160520"/>
            <a:ext cx="557784" cy="557784"/>
          </a:xfrm>
          <a:prstGeom prst="rect">
            <a:avLst/>
          </a:prstGeom>
          <a:solidFill>
            <a:srgbClr val="34D399">
              <a:alpha val="22000"/>
            </a:srgbClr>
          </a:solidFill>
          <a:ln w="6350">
            <a:solidFill>
              <a:srgbClr val="223049"/>
            </a:solidFill>
            <a:prstDash val="solid"/>
          </a:ln>
        </p:spPr>
      </p:sp>
      <p:sp>
        <p:nvSpPr>
          <p:cNvPr id="38" name="Shape 36"/>
          <p:cNvSpPr/>
          <p:nvPr/>
        </p:nvSpPr>
        <p:spPr>
          <a:xfrm>
            <a:off x="1417320" y="4160520"/>
            <a:ext cx="557784" cy="557784"/>
          </a:xfrm>
          <a:prstGeom prst="rect">
            <a:avLst/>
          </a:prstGeom>
          <a:solidFill>
            <a:srgbClr val="34D399">
              <a:alpha val="22000"/>
            </a:srgbClr>
          </a:solidFill>
          <a:ln w="6350">
            <a:solidFill>
              <a:srgbClr val="223049"/>
            </a:solidFill>
            <a:prstDash val="solid"/>
          </a:ln>
        </p:spPr>
      </p:sp>
      <p:sp>
        <p:nvSpPr>
          <p:cNvPr id="39" name="Shape 37"/>
          <p:cNvSpPr/>
          <p:nvPr/>
        </p:nvSpPr>
        <p:spPr>
          <a:xfrm>
            <a:off x="2011680" y="4160520"/>
            <a:ext cx="557784" cy="557784"/>
          </a:xfrm>
          <a:prstGeom prst="rect">
            <a:avLst/>
          </a:prstGeom>
          <a:solidFill>
            <a:srgbClr val="F5A623">
              <a:alpha val="65000"/>
            </a:srgbClr>
          </a:solidFill>
          <a:ln w="6350">
            <a:solidFill>
              <a:srgbClr val="223049"/>
            </a:solidFill>
            <a:prstDash val="solid"/>
          </a:ln>
        </p:spPr>
      </p:sp>
      <p:sp>
        <p:nvSpPr>
          <p:cNvPr id="40" name="Shape 38"/>
          <p:cNvSpPr/>
          <p:nvPr/>
        </p:nvSpPr>
        <p:spPr>
          <a:xfrm>
            <a:off x="2606040" y="4160520"/>
            <a:ext cx="557784" cy="557784"/>
          </a:xfrm>
          <a:prstGeom prst="rect">
            <a:avLst/>
          </a:prstGeom>
          <a:solidFill>
            <a:srgbClr val="34D399">
              <a:alpha val="22000"/>
            </a:srgbClr>
          </a:solidFill>
          <a:ln w="6350">
            <a:solidFill>
              <a:srgbClr val="223049"/>
            </a:solidFill>
            <a:prstDash val="solid"/>
          </a:ln>
        </p:spPr>
      </p:sp>
      <p:sp>
        <p:nvSpPr>
          <p:cNvPr id="41" name="Shape 39"/>
          <p:cNvSpPr/>
          <p:nvPr/>
        </p:nvSpPr>
        <p:spPr>
          <a:xfrm>
            <a:off x="3200400" y="4160520"/>
            <a:ext cx="557784" cy="557784"/>
          </a:xfrm>
          <a:prstGeom prst="rect">
            <a:avLst/>
          </a:prstGeom>
          <a:solidFill>
            <a:srgbClr val="34D399">
              <a:alpha val="22000"/>
            </a:srgbClr>
          </a:solidFill>
          <a:ln w="6350">
            <a:solidFill>
              <a:srgbClr val="223049"/>
            </a:solidFill>
            <a:prstDash val="solid"/>
          </a:ln>
        </p:spPr>
      </p:sp>
      <p:sp>
        <p:nvSpPr>
          <p:cNvPr id="42" name="Shape 40"/>
          <p:cNvSpPr/>
          <p:nvPr/>
        </p:nvSpPr>
        <p:spPr>
          <a:xfrm>
            <a:off x="3794760" y="4160520"/>
            <a:ext cx="557784" cy="557784"/>
          </a:xfrm>
          <a:prstGeom prst="rect">
            <a:avLst/>
          </a:prstGeom>
          <a:solidFill>
            <a:srgbClr val="34D399">
              <a:alpha val="22000"/>
            </a:srgbClr>
          </a:solidFill>
          <a:ln w="6350">
            <a:solidFill>
              <a:srgbClr val="223049"/>
            </a:solidFill>
            <a:prstDash val="solid"/>
          </a:ln>
        </p:spPr>
      </p:sp>
      <p:sp>
        <p:nvSpPr>
          <p:cNvPr id="43" name="Shape 41"/>
          <p:cNvSpPr/>
          <p:nvPr/>
        </p:nvSpPr>
        <p:spPr>
          <a:xfrm>
            <a:off x="4389120" y="4160520"/>
            <a:ext cx="557784" cy="557784"/>
          </a:xfrm>
          <a:prstGeom prst="rect">
            <a:avLst/>
          </a:prstGeom>
          <a:solidFill>
            <a:srgbClr val="F5A623">
              <a:alpha val="65000"/>
            </a:srgbClr>
          </a:solidFill>
          <a:ln w="6350">
            <a:solidFill>
              <a:srgbClr val="223049"/>
            </a:solidFill>
            <a:prstDash val="solid"/>
          </a:ln>
        </p:spPr>
      </p:sp>
      <p:sp>
        <p:nvSpPr>
          <p:cNvPr id="44" name="Shape 42"/>
          <p:cNvSpPr/>
          <p:nvPr/>
        </p:nvSpPr>
        <p:spPr>
          <a:xfrm>
            <a:off x="4983480" y="4160520"/>
            <a:ext cx="557784" cy="557784"/>
          </a:xfrm>
          <a:prstGeom prst="rect">
            <a:avLst/>
          </a:prstGeom>
          <a:solidFill>
            <a:srgbClr val="34D399">
              <a:alpha val="22000"/>
            </a:srgbClr>
          </a:solidFill>
          <a:ln w="6350">
            <a:solidFill>
              <a:srgbClr val="223049"/>
            </a:solidFill>
            <a:prstDash val="solid"/>
          </a:ln>
        </p:spPr>
      </p:sp>
      <p:sp>
        <p:nvSpPr>
          <p:cNvPr id="45" name="Shape 43"/>
          <p:cNvSpPr/>
          <p:nvPr/>
        </p:nvSpPr>
        <p:spPr>
          <a:xfrm>
            <a:off x="822960" y="4754880"/>
            <a:ext cx="557784" cy="557784"/>
          </a:xfrm>
          <a:prstGeom prst="rect">
            <a:avLst/>
          </a:prstGeom>
          <a:solidFill>
            <a:srgbClr val="34D399">
              <a:alpha val="22000"/>
            </a:srgbClr>
          </a:solidFill>
          <a:ln w="6350">
            <a:solidFill>
              <a:srgbClr val="223049"/>
            </a:solidFill>
            <a:prstDash val="solid"/>
          </a:ln>
        </p:spPr>
      </p:sp>
      <p:sp>
        <p:nvSpPr>
          <p:cNvPr id="46" name="Shape 44"/>
          <p:cNvSpPr/>
          <p:nvPr/>
        </p:nvSpPr>
        <p:spPr>
          <a:xfrm>
            <a:off x="1417320" y="4754880"/>
            <a:ext cx="557784" cy="557784"/>
          </a:xfrm>
          <a:prstGeom prst="rect">
            <a:avLst/>
          </a:prstGeom>
          <a:solidFill>
            <a:srgbClr val="34D399">
              <a:alpha val="22000"/>
            </a:srgbClr>
          </a:solidFill>
          <a:ln w="6350">
            <a:solidFill>
              <a:srgbClr val="223049"/>
            </a:solidFill>
            <a:prstDash val="solid"/>
          </a:ln>
        </p:spPr>
      </p:sp>
      <p:sp>
        <p:nvSpPr>
          <p:cNvPr id="47" name="Shape 45"/>
          <p:cNvSpPr/>
          <p:nvPr/>
        </p:nvSpPr>
        <p:spPr>
          <a:xfrm>
            <a:off x="2011680" y="4754880"/>
            <a:ext cx="557784" cy="557784"/>
          </a:xfrm>
          <a:prstGeom prst="rect">
            <a:avLst/>
          </a:prstGeom>
          <a:solidFill>
            <a:srgbClr val="34D399">
              <a:alpha val="22000"/>
            </a:srgbClr>
          </a:solidFill>
          <a:ln w="6350">
            <a:solidFill>
              <a:srgbClr val="223049"/>
            </a:solidFill>
            <a:prstDash val="solid"/>
          </a:ln>
        </p:spPr>
      </p:sp>
      <p:sp>
        <p:nvSpPr>
          <p:cNvPr id="48" name="Shape 46"/>
          <p:cNvSpPr/>
          <p:nvPr/>
        </p:nvSpPr>
        <p:spPr>
          <a:xfrm>
            <a:off x="2606040" y="4754880"/>
            <a:ext cx="557784" cy="557784"/>
          </a:xfrm>
          <a:prstGeom prst="rect">
            <a:avLst/>
          </a:prstGeom>
          <a:solidFill>
            <a:srgbClr val="34D399">
              <a:alpha val="22000"/>
            </a:srgbClr>
          </a:solidFill>
          <a:ln w="6350">
            <a:solidFill>
              <a:srgbClr val="223049"/>
            </a:solidFill>
            <a:prstDash val="solid"/>
          </a:ln>
        </p:spPr>
      </p:sp>
      <p:sp>
        <p:nvSpPr>
          <p:cNvPr id="49" name="Shape 47"/>
          <p:cNvSpPr/>
          <p:nvPr/>
        </p:nvSpPr>
        <p:spPr>
          <a:xfrm>
            <a:off x="3200400" y="4754880"/>
            <a:ext cx="557784" cy="557784"/>
          </a:xfrm>
          <a:prstGeom prst="rect">
            <a:avLst/>
          </a:prstGeom>
          <a:solidFill>
            <a:srgbClr val="34D399">
              <a:alpha val="22000"/>
            </a:srgbClr>
          </a:solidFill>
          <a:ln w="6350">
            <a:solidFill>
              <a:srgbClr val="223049"/>
            </a:solidFill>
            <a:prstDash val="solid"/>
          </a:ln>
        </p:spPr>
      </p:sp>
      <p:sp>
        <p:nvSpPr>
          <p:cNvPr id="50" name="Shape 48"/>
          <p:cNvSpPr/>
          <p:nvPr/>
        </p:nvSpPr>
        <p:spPr>
          <a:xfrm>
            <a:off x="3794760" y="4754880"/>
            <a:ext cx="557784" cy="557784"/>
          </a:xfrm>
          <a:prstGeom prst="rect">
            <a:avLst/>
          </a:prstGeom>
          <a:solidFill>
            <a:srgbClr val="34D399">
              <a:alpha val="22000"/>
            </a:srgbClr>
          </a:solidFill>
          <a:ln w="6350">
            <a:solidFill>
              <a:srgbClr val="223049"/>
            </a:solidFill>
            <a:prstDash val="solid"/>
          </a:ln>
        </p:spPr>
      </p:sp>
      <p:sp>
        <p:nvSpPr>
          <p:cNvPr id="51" name="Shape 49"/>
          <p:cNvSpPr/>
          <p:nvPr/>
        </p:nvSpPr>
        <p:spPr>
          <a:xfrm>
            <a:off x="4389120" y="4754880"/>
            <a:ext cx="557784" cy="557784"/>
          </a:xfrm>
          <a:prstGeom prst="rect">
            <a:avLst/>
          </a:prstGeom>
          <a:solidFill>
            <a:srgbClr val="34D399">
              <a:alpha val="22000"/>
            </a:srgbClr>
          </a:solidFill>
          <a:ln w="6350">
            <a:solidFill>
              <a:srgbClr val="223049"/>
            </a:solidFill>
            <a:prstDash val="solid"/>
          </a:ln>
        </p:spPr>
      </p:sp>
      <p:sp>
        <p:nvSpPr>
          <p:cNvPr id="52" name="Shape 50"/>
          <p:cNvSpPr/>
          <p:nvPr/>
        </p:nvSpPr>
        <p:spPr>
          <a:xfrm>
            <a:off x="4983480" y="4754880"/>
            <a:ext cx="557784" cy="557784"/>
          </a:xfrm>
          <a:prstGeom prst="rect">
            <a:avLst/>
          </a:prstGeom>
          <a:solidFill>
            <a:srgbClr val="34D399">
              <a:alpha val="22000"/>
            </a:srgbClr>
          </a:solidFill>
          <a:ln w="6350">
            <a:solidFill>
              <a:srgbClr val="223049"/>
            </a:solidFill>
            <a:prstDash val="solid"/>
          </a:ln>
        </p:spPr>
      </p:sp>
      <p:sp>
        <p:nvSpPr>
          <p:cNvPr id="53" name="Shape 51"/>
          <p:cNvSpPr/>
          <p:nvPr/>
        </p:nvSpPr>
        <p:spPr>
          <a:xfrm>
            <a:off x="822960" y="5349240"/>
            <a:ext cx="557784" cy="557784"/>
          </a:xfrm>
          <a:prstGeom prst="rect">
            <a:avLst/>
          </a:prstGeom>
          <a:solidFill>
            <a:srgbClr val="34D399">
              <a:alpha val="22000"/>
            </a:srgbClr>
          </a:solidFill>
          <a:ln w="6350">
            <a:solidFill>
              <a:srgbClr val="223049"/>
            </a:solidFill>
            <a:prstDash val="solid"/>
          </a:ln>
        </p:spPr>
      </p:sp>
      <p:sp>
        <p:nvSpPr>
          <p:cNvPr id="54" name="Shape 52"/>
          <p:cNvSpPr/>
          <p:nvPr/>
        </p:nvSpPr>
        <p:spPr>
          <a:xfrm>
            <a:off x="1417320" y="5349240"/>
            <a:ext cx="557784" cy="557784"/>
          </a:xfrm>
          <a:prstGeom prst="rect">
            <a:avLst/>
          </a:prstGeom>
          <a:solidFill>
            <a:srgbClr val="34D399">
              <a:alpha val="22000"/>
            </a:srgbClr>
          </a:solidFill>
          <a:ln w="6350">
            <a:solidFill>
              <a:srgbClr val="223049"/>
            </a:solidFill>
            <a:prstDash val="solid"/>
          </a:ln>
        </p:spPr>
      </p:sp>
      <p:sp>
        <p:nvSpPr>
          <p:cNvPr id="55" name="Shape 53"/>
          <p:cNvSpPr/>
          <p:nvPr/>
        </p:nvSpPr>
        <p:spPr>
          <a:xfrm>
            <a:off x="2011680" y="5349240"/>
            <a:ext cx="557784" cy="557784"/>
          </a:xfrm>
          <a:prstGeom prst="rect">
            <a:avLst/>
          </a:prstGeom>
          <a:solidFill>
            <a:srgbClr val="34D399">
              <a:alpha val="22000"/>
            </a:srgbClr>
          </a:solidFill>
          <a:ln w="6350">
            <a:solidFill>
              <a:srgbClr val="223049"/>
            </a:solidFill>
            <a:prstDash val="solid"/>
          </a:ln>
        </p:spPr>
      </p:sp>
      <p:sp>
        <p:nvSpPr>
          <p:cNvPr id="56" name="Shape 54"/>
          <p:cNvSpPr/>
          <p:nvPr/>
        </p:nvSpPr>
        <p:spPr>
          <a:xfrm>
            <a:off x="2606040" y="5349240"/>
            <a:ext cx="557784" cy="557784"/>
          </a:xfrm>
          <a:prstGeom prst="rect">
            <a:avLst/>
          </a:prstGeom>
          <a:solidFill>
            <a:srgbClr val="34D399">
              <a:alpha val="22000"/>
            </a:srgbClr>
          </a:solidFill>
          <a:ln w="6350">
            <a:solidFill>
              <a:srgbClr val="223049"/>
            </a:solidFill>
            <a:prstDash val="solid"/>
          </a:ln>
        </p:spPr>
      </p:sp>
      <p:sp>
        <p:nvSpPr>
          <p:cNvPr id="57" name="Shape 55"/>
          <p:cNvSpPr/>
          <p:nvPr/>
        </p:nvSpPr>
        <p:spPr>
          <a:xfrm>
            <a:off x="3200400" y="5349240"/>
            <a:ext cx="557784" cy="557784"/>
          </a:xfrm>
          <a:prstGeom prst="rect">
            <a:avLst/>
          </a:prstGeom>
          <a:solidFill>
            <a:srgbClr val="F5A623">
              <a:alpha val="65000"/>
            </a:srgbClr>
          </a:solidFill>
          <a:ln w="6350">
            <a:solidFill>
              <a:srgbClr val="223049"/>
            </a:solidFill>
            <a:prstDash val="solid"/>
          </a:ln>
        </p:spPr>
      </p:sp>
      <p:sp>
        <p:nvSpPr>
          <p:cNvPr id="58" name="Shape 56"/>
          <p:cNvSpPr/>
          <p:nvPr/>
        </p:nvSpPr>
        <p:spPr>
          <a:xfrm>
            <a:off x="3794760" y="5349240"/>
            <a:ext cx="557784" cy="557784"/>
          </a:xfrm>
          <a:prstGeom prst="rect">
            <a:avLst/>
          </a:prstGeom>
          <a:solidFill>
            <a:srgbClr val="F5A623">
              <a:alpha val="65000"/>
            </a:srgbClr>
          </a:solidFill>
          <a:ln w="6350">
            <a:solidFill>
              <a:srgbClr val="223049"/>
            </a:solidFill>
            <a:prstDash val="solid"/>
          </a:ln>
        </p:spPr>
      </p:sp>
      <p:sp>
        <p:nvSpPr>
          <p:cNvPr id="59" name="Shape 57"/>
          <p:cNvSpPr/>
          <p:nvPr/>
        </p:nvSpPr>
        <p:spPr>
          <a:xfrm>
            <a:off x="4389120" y="5349240"/>
            <a:ext cx="557784" cy="557784"/>
          </a:xfrm>
          <a:prstGeom prst="rect">
            <a:avLst/>
          </a:prstGeom>
          <a:solidFill>
            <a:srgbClr val="34D399">
              <a:alpha val="22000"/>
            </a:srgbClr>
          </a:solidFill>
          <a:ln w="6350">
            <a:solidFill>
              <a:srgbClr val="223049"/>
            </a:solidFill>
            <a:prstDash val="solid"/>
          </a:ln>
        </p:spPr>
      </p:sp>
      <p:sp>
        <p:nvSpPr>
          <p:cNvPr id="60" name="Shape 58"/>
          <p:cNvSpPr/>
          <p:nvPr/>
        </p:nvSpPr>
        <p:spPr>
          <a:xfrm>
            <a:off x="4983480" y="5349240"/>
            <a:ext cx="557784" cy="557784"/>
          </a:xfrm>
          <a:prstGeom prst="rect">
            <a:avLst/>
          </a:prstGeom>
          <a:solidFill>
            <a:srgbClr val="34D399">
              <a:alpha val="22000"/>
            </a:srgbClr>
          </a:solidFill>
          <a:ln w="6350">
            <a:solidFill>
              <a:srgbClr val="223049"/>
            </a:solidFill>
            <a:prstDash val="solid"/>
          </a:ln>
        </p:spPr>
      </p:sp>
      <p:sp>
        <p:nvSpPr>
          <p:cNvPr id="61" name="Shape 59"/>
          <p:cNvSpPr/>
          <p:nvPr/>
        </p:nvSpPr>
        <p:spPr>
          <a:xfrm>
            <a:off x="822960" y="5943600"/>
            <a:ext cx="557784" cy="557784"/>
          </a:xfrm>
          <a:prstGeom prst="rect">
            <a:avLst/>
          </a:prstGeom>
          <a:solidFill>
            <a:srgbClr val="34D399">
              <a:alpha val="22000"/>
            </a:srgbClr>
          </a:solidFill>
          <a:ln w="6350">
            <a:solidFill>
              <a:srgbClr val="223049"/>
            </a:solidFill>
            <a:prstDash val="solid"/>
          </a:ln>
        </p:spPr>
      </p:sp>
      <p:sp>
        <p:nvSpPr>
          <p:cNvPr id="62" name="Shape 60"/>
          <p:cNvSpPr/>
          <p:nvPr/>
        </p:nvSpPr>
        <p:spPr>
          <a:xfrm>
            <a:off x="1417320" y="5943600"/>
            <a:ext cx="557784" cy="557784"/>
          </a:xfrm>
          <a:prstGeom prst="rect">
            <a:avLst/>
          </a:prstGeom>
          <a:solidFill>
            <a:srgbClr val="34D399">
              <a:alpha val="22000"/>
            </a:srgbClr>
          </a:solidFill>
          <a:ln w="6350">
            <a:solidFill>
              <a:srgbClr val="223049"/>
            </a:solidFill>
            <a:prstDash val="solid"/>
          </a:ln>
        </p:spPr>
      </p:sp>
      <p:sp>
        <p:nvSpPr>
          <p:cNvPr id="63" name="Shape 61"/>
          <p:cNvSpPr/>
          <p:nvPr/>
        </p:nvSpPr>
        <p:spPr>
          <a:xfrm>
            <a:off x="2011680" y="5943600"/>
            <a:ext cx="557784" cy="557784"/>
          </a:xfrm>
          <a:prstGeom prst="rect">
            <a:avLst/>
          </a:prstGeom>
          <a:solidFill>
            <a:srgbClr val="34D399">
              <a:alpha val="22000"/>
            </a:srgbClr>
          </a:solidFill>
          <a:ln w="6350">
            <a:solidFill>
              <a:srgbClr val="223049"/>
            </a:solidFill>
            <a:prstDash val="solid"/>
          </a:ln>
        </p:spPr>
      </p:sp>
      <p:sp>
        <p:nvSpPr>
          <p:cNvPr id="64" name="Shape 62"/>
          <p:cNvSpPr/>
          <p:nvPr/>
        </p:nvSpPr>
        <p:spPr>
          <a:xfrm>
            <a:off x="2606040" y="5943600"/>
            <a:ext cx="557784" cy="557784"/>
          </a:xfrm>
          <a:prstGeom prst="rect">
            <a:avLst/>
          </a:prstGeom>
          <a:solidFill>
            <a:srgbClr val="F5A623">
              <a:alpha val="65000"/>
            </a:srgbClr>
          </a:solidFill>
          <a:ln w="6350">
            <a:solidFill>
              <a:srgbClr val="223049"/>
            </a:solidFill>
            <a:prstDash val="solid"/>
          </a:ln>
        </p:spPr>
      </p:sp>
      <p:sp>
        <p:nvSpPr>
          <p:cNvPr id="65" name="Shape 63"/>
          <p:cNvSpPr/>
          <p:nvPr/>
        </p:nvSpPr>
        <p:spPr>
          <a:xfrm>
            <a:off x="3200400" y="5943600"/>
            <a:ext cx="557784" cy="557784"/>
          </a:xfrm>
          <a:prstGeom prst="rect">
            <a:avLst/>
          </a:prstGeom>
          <a:solidFill>
            <a:srgbClr val="34D399">
              <a:alpha val="22000"/>
            </a:srgbClr>
          </a:solidFill>
          <a:ln w="6350">
            <a:solidFill>
              <a:srgbClr val="223049"/>
            </a:solidFill>
            <a:prstDash val="solid"/>
          </a:ln>
        </p:spPr>
      </p:sp>
      <p:sp>
        <p:nvSpPr>
          <p:cNvPr id="66" name="Shape 64"/>
          <p:cNvSpPr/>
          <p:nvPr/>
        </p:nvSpPr>
        <p:spPr>
          <a:xfrm>
            <a:off x="3794760" y="5943600"/>
            <a:ext cx="557784" cy="557784"/>
          </a:xfrm>
          <a:prstGeom prst="rect">
            <a:avLst/>
          </a:prstGeom>
          <a:solidFill>
            <a:srgbClr val="34D399">
              <a:alpha val="22000"/>
            </a:srgbClr>
          </a:solidFill>
          <a:ln w="6350">
            <a:solidFill>
              <a:srgbClr val="223049"/>
            </a:solidFill>
            <a:prstDash val="solid"/>
          </a:ln>
        </p:spPr>
      </p:sp>
      <p:sp>
        <p:nvSpPr>
          <p:cNvPr id="67" name="Shape 65"/>
          <p:cNvSpPr/>
          <p:nvPr/>
        </p:nvSpPr>
        <p:spPr>
          <a:xfrm>
            <a:off x="4389120" y="5943600"/>
            <a:ext cx="557784" cy="557784"/>
          </a:xfrm>
          <a:prstGeom prst="rect">
            <a:avLst/>
          </a:prstGeom>
          <a:solidFill>
            <a:srgbClr val="F5A623">
              <a:alpha val="65000"/>
            </a:srgbClr>
          </a:solidFill>
          <a:ln w="6350">
            <a:solidFill>
              <a:srgbClr val="223049"/>
            </a:solidFill>
            <a:prstDash val="solid"/>
          </a:ln>
        </p:spPr>
      </p:sp>
      <p:sp>
        <p:nvSpPr>
          <p:cNvPr id="68" name="Shape 66"/>
          <p:cNvSpPr/>
          <p:nvPr/>
        </p:nvSpPr>
        <p:spPr>
          <a:xfrm>
            <a:off x="4983480" y="5943600"/>
            <a:ext cx="557784" cy="557784"/>
          </a:xfrm>
          <a:prstGeom prst="rect">
            <a:avLst/>
          </a:prstGeom>
          <a:solidFill>
            <a:srgbClr val="34D399">
              <a:alpha val="22000"/>
            </a:srgbClr>
          </a:solidFill>
          <a:ln w="6350">
            <a:solidFill>
              <a:srgbClr val="223049"/>
            </a:solidFill>
            <a:prstDash val="solid"/>
          </a:ln>
        </p:spPr>
      </p:sp>
      <p:sp>
        <p:nvSpPr>
          <p:cNvPr id="69" name="Text 67"/>
          <p:cNvSpPr/>
          <p:nvPr/>
        </p:nvSpPr>
        <p:spPr>
          <a:xfrm>
            <a:off x="640080" y="6793992"/>
            <a:ext cx="5120640" cy="274320"/>
          </a:xfrm>
          <a:prstGeom prst="rect">
            <a:avLst/>
          </a:prstGeom>
          <a:noFill/>
          <a:ln/>
        </p:spPr>
        <p:txBody>
          <a:bodyPr wrap="square" rtlCol="0" anchor="ctr"/>
          <a:lstStyle/>
          <a:p>
            <a:pPr marL="0" indent="0">
              <a:buNone/>
            </a:pPr>
            <a:r>
              <a:rPr lang="en-US" sz="950" i="1" dirty="0">
                <a:solidFill>
                  <a:srgbClr val="5D7391"/>
                </a:solidFill>
                <a:latin typeface="Calibri" pitchFamily="34" charset="0"/>
                <a:ea typeface="Calibri" pitchFamily="34" charset="-122"/>
                <a:cs typeface="Calibri" pitchFamily="34" charset="-120"/>
              </a:rPr>
              <a:t>MILAN NETWORK GRID — ILLUSTRATIVE STATUS OVERLAY</a:t>
            </a:r>
            <a:endParaRPr lang="en-US" sz="950" dirty="0"/>
          </a:p>
        </p:txBody>
      </p:sp>
      <p:sp>
        <p:nvSpPr>
          <p:cNvPr id="70" name="Shape 68"/>
          <p:cNvSpPr/>
          <p:nvPr/>
        </p:nvSpPr>
        <p:spPr>
          <a:xfrm>
            <a:off x="6035040" y="1600200"/>
            <a:ext cx="1188720" cy="329184"/>
          </a:xfrm>
          <a:prstGeom prst="roundRect">
            <a:avLst>
              <a:gd name="adj" fmla="val 50000"/>
            </a:avLst>
          </a:prstGeom>
          <a:solidFill>
            <a:srgbClr val="0F1826"/>
          </a:solidFill>
          <a:ln w="12700">
            <a:solidFill>
              <a:srgbClr val="34D399"/>
            </a:solidFill>
            <a:prstDash val="solid"/>
          </a:ln>
        </p:spPr>
      </p:sp>
      <p:sp>
        <p:nvSpPr>
          <p:cNvPr id="71" name="Shape 69"/>
          <p:cNvSpPr/>
          <p:nvPr/>
        </p:nvSpPr>
        <p:spPr>
          <a:xfrm>
            <a:off x="6199632" y="1700784"/>
            <a:ext cx="128016" cy="128016"/>
          </a:xfrm>
          <a:prstGeom prst="ellipse">
            <a:avLst/>
          </a:prstGeom>
          <a:solidFill>
            <a:srgbClr val="34D399"/>
          </a:solidFill>
          <a:ln/>
        </p:spPr>
      </p:sp>
      <p:sp>
        <p:nvSpPr>
          <p:cNvPr id="72" name="Text 70"/>
          <p:cNvSpPr/>
          <p:nvPr/>
        </p:nvSpPr>
        <p:spPr>
          <a:xfrm>
            <a:off x="6400800" y="1600200"/>
            <a:ext cx="731520" cy="329184"/>
          </a:xfrm>
          <a:prstGeom prst="rect">
            <a:avLst/>
          </a:prstGeom>
          <a:noFill/>
          <a:ln/>
        </p:spPr>
        <p:txBody>
          <a:bodyPr wrap="square" rtlCol="0" anchor="ctr"/>
          <a:lstStyle/>
          <a:p>
            <a:pPr marL="0" indent="0">
              <a:buNone/>
            </a:pPr>
            <a:r>
              <a:rPr lang="en-US" sz="1050" b="1" dirty="0">
                <a:solidFill>
                  <a:srgbClr val="F3F7FB"/>
                </a:solidFill>
                <a:latin typeface="Calibri" pitchFamily="34" charset="0"/>
                <a:ea typeface="Calibri" pitchFamily="34" charset="-122"/>
                <a:cs typeface="Calibri" pitchFamily="34" charset="-120"/>
              </a:rPr>
              <a:t>NORMAL</a:t>
            </a:r>
            <a:endParaRPr lang="en-US" sz="1050" dirty="0"/>
          </a:p>
        </p:txBody>
      </p:sp>
      <p:sp>
        <p:nvSpPr>
          <p:cNvPr id="73" name="Shape 71"/>
          <p:cNvSpPr/>
          <p:nvPr/>
        </p:nvSpPr>
        <p:spPr>
          <a:xfrm>
            <a:off x="7406640" y="1600200"/>
            <a:ext cx="1531620" cy="329184"/>
          </a:xfrm>
          <a:prstGeom prst="roundRect">
            <a:avLst>
              <a:gd name="adj" fmla="val 50000"/>
            </a:avLst>
          </a:prstGeom>
          <a:solidFill>
            <a:srgbClr val="0F1826"/>
          </a:solidFill>
          <a:ln w="12700">
            <a:solidFill>
              <a:srgbClr val="F5A623"/>
            </a:solidFill>
            <a:prstDash val="solid"/>
          </a:ln>
        </p:spPr>
      </p:sp>
      <p:sp>
        <p:nvSpPr>
          <p:cNvPr id="74" name="Shape 72"/>
          <p:cNvSpPr/>
          <p:nvPr/>
        </p:nvSpPr>
        <p:spPr>
          <a:xfrm>
            <a:off x="7571232" y="1700784"/>
            <a:ext cx="128016" cy="128016"/>
          </a:xfrm>
          <a:prstGeom prst="ellipse">
            <a:avLst/>
          </a:prstGeom>
          <a:solidFill>
            <a:srgbClr val="F5A623"/>
          </a:solidFill>
          <a:ln/>
        </p:spPr>
      </p:sp>
      <p:sp>
        <p:nvSpPr>
          <p:cNvPr id="75" name="Text 73"/>
          <p:cNvSpPr/>
          <p:nvPr/>
        </p:nvSpPr>
        <p:spPr>
          <a:xfrm>
            <a:off x="7772400" y="1600200"/>
            <a:ext cx="1074420" cy="329184"/>
          </a:xfrm>
          <a:prstGeom prst="rect">
            <a:avLst/>
          </a:prstGeom>
          <a:noFill/>
          <a:ln/>
        </p:spPr>
        <p:txBody>
          <a:bodyPr wrap="square" rtlCol="0" anchor="ctr"/>
          <a:lstStyle/>
          <a:p>
            <a:pPr marL="0" indent="0">
              <a:buNone/>
            </a:pPr>
            <a:r>
              <a:rPr lang="en-US" sz="1050" b="1" dirty="0">
                <a:solidFill>
                  <a:srgbClr val="F3F7FB"/>
                </a:solidFill>
                <a:latin typeface="Calibri" pitchFamily="34" charset="0"/>
                <a:ea typeface="Calibri" pitchFamily="34" charset="-122"/>
                <a:cs typeface="Calibri" pitchFamily="34" charset="-120"/>
              </a:rPr>
              <a:t>ATTENTION</a:t>
            </a:r>
            <a:endParaRPr lang="en-US" sz="1050" dirty="0"/>
          </a:p>
        </p:txBody>
      </p:sp>
      <p:sp>
        <p:nvSpPr>
          <p:cNvPr id="76" name="Shape 74"/>
          <p:cNvSpPr/>
          <p:nvPr/>
        </p:nvSpPr>
        <p:spPr>
          <a:xfrm>
            <a:off x="9121140" y="1600200"/>
            <a:ext cx="960120" cy="329184"/>
          </a:xfrm>
          <a:prstGeom prst="roundRect">
            <a:avLst>
              <a:gd name="adj" fmla="val 50000"/>
            </a:avLst>
          </a:prstGeom>
          <a:solidFill>
            <a:srgbClr val="0F1826"/>
          </a:solidFill>
          <a:ln w="12700">
            <a:solidFill>
              <a:srgbClr val="EF4A4A"/>
            </a:solidFill>
            <a:prstDash val="solid"/>
          </a:ln>
        </p:spPr>
      </p:sp>
      <p:sp>
        <p:nvSpPr>
          <p:cNvPr id="77" name="Shape 75"/>
          <p:cNvSpPr/>
          <p:nvPr/>
        </p:nvSpPr>
        <p:spPr>
          <a:xfrm>
            <a:off x="9285732" y="1700784"/>
            <a:ext cx="128016" cy="128016"/>
          </a:xfrm>
          <a:prstGeom prst="ellipse">
            <a:avLst/>
          </a:prstGeom>
          <a:solidFill>
            <a:srgbClr val="EF4A4A"/>
          </a:solidFill>
          <a:ln/>
        </p:spPr>
      </p:sp>
      <p:sp>
        <p:nvSpPr>
          <p:cNvPr id="78" name="Text 76"/>
          <p:cNvSpPr/>
          <p:nvPr/>
        </p:nvSpPr>
        <p:spPr>
          <a:xfrm>
            <a:off x="9486900" y="1600200"/>
            <a:ext cx="502920" cy="329184"/>
          </a:xfrm>
          <a:prstGeom prst="rect">
            <a:avLst/>
          </a:prstGeom>
          <a:noFill/>
          <a:ln/>
        </p:spPr>
        <p:txBody>
          <a:bodyPr wrap="square" rtlCol="0" anchor="ctr"/>
          <a:lstStyle/>
          <a:p>
            <a:pPr marL="0" indent="0">
              <a:buNone/>
            </a:pPr>
            <a:r>
              <a:rPr lang="en-US" sz="1050" b="1" dirty="0">
                <a:solidFill>
                  <a:srgbClr val="F3F7FB"/>
                </a:solidFill>
                <a:latin typeface="Calibri" pitchFamily="34" charset="0"/>
                <a:ea typeface="Calibri" pitchFamily="34" charset="-122"/>
                <a:cs typeface="Calibri" pitchFamily="34" charset="-120"/>
              </a:rPr>
              <a:t>HIGH</a:t>
            </a:r>
            <a:endParaRPr lang="en-US" sz="1050" dirty="0"/>
          </a:p>
        </p:txBody>
      </p:sp>
      <p:sp>
        <p:nvSpPr>
          <p:cNvPr id="79" name="Shape 77"/>
          <p:cNvSpPr/>
          <p:nvPr/>
        </p:nvSpPr>
        <p:spPr>
          <a:xfrm>
            <a:off x="6035040" y="2221992"/>
            <a:ext cx="128016" cy="128016"/>
          </a:xfrm>
          <a:prstGeom prst="ellipse">
            <a:avLst/>
          </a:prstGeom>
          <a:solidFill>
            <a:srgbClr val="22D3C8"/>
          </a:solidFill>
          <a:ln/>
        </p:spPr>
      </p:sp>
      <p:sp>
        <p:nvSpPr>
          <p:cNvPr id="80" name="Text 78"/>
          <p:cNvSpPr/>
          <p:nvPr/>
        </p:nvSpPr>
        <p:spPr>
          <a:xfrm>
            <a:off x="6309360" y="2103120"/>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Grid ID</a:t>
            </a:r>
            <a:endParaRPr lang="en-US" sz="1250" dirty="0"/>
          </a:p>
        </p:txBody>
      </p:sp>
      <p:sp>
        <p:nvSpPr>
          <p:cNvPr id="81" name="Shape 79"/>
          <p:cNvSpPr/>
          <p:nvPr/>
        </p:nvSpPr>
        <p:spPr>
          <a:xfrm>
            <a:off x="6035040" y="2642616"/>
            <a:ext cx="128016" cy="128016"/>
          </a:xfrm>
          <a:prstGeom prst="ellipse">
            <a:avLst/>
          </a:prstGeom>
          <a:solidFill>
            <a:srgbClr val="22D3C8"/>
          </a:solidFill>
          <a:ln/>
        </p:spPr>
      </p:sp>
      <p:sp>
        <p:nvSpPr>
          <p:cNvPr id="82" name="Text 80"/>
          <p:cNvSpPr/>
          <p:nvPr/>
        </p:nvSpPr>
        <p:spPr>
          <a:xfrm>
            <a:off x="6309360" y="2523744"/>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Network Activity</a:t>
            </a:r>
            <a:endParaRPr lang="en-US" sz="1250" dirty="0"/>
          </a:p>
        </p:txBody>
      </p:sp>
      <p:sp>
        <p:nvSpPr>
          <p:cNvPr id="83" name="Shape 81"/>
          <p:cNvSpPr/>
          <p:nvPr/>
        </p:nvSpPr>
        <p:spPr>
          <a:xfrm>
            <a:off x="6035040" y="3063240"/>
            <a:ext cx="128016" cy="128016"/>
          </a:xfrm>
          <a:prstGeom prst="ellipse">
            <a:avLst/>
          </a:prstGeom>
          <a:solidFill>
            <a:srgbClr val="22D3C8"/>
          </a:solidFill>
          <a:ln/>
        </p:spPr>
      </p:sp>
      <p:sp>
        <p:nvSpPr>
          <p:cNvPr id="84" name="Text 82"/>
          <p:cNvSpPr/>
          <p:nvPr/>
        </p:nvSpPr>
        <p:spPr>
          <a:xfrm>
            <a:off x="6309360" y="2944368"/>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Risk</a:t>
            </a:r>
            <a:endParaRPr lang="en-US" sz="1250" dirty="0"/>
          </a:p>
        </p:txBody>
      </p:sp>
      <p:sp>
        <p:nvSpPr>
          <p:cNvPr id="85" name="Shape 83"/>
          <p:cNvSpPr/>
          <p:nvPr/>
        </p:nvSpPr>
        <p:spPr>
          <a:xfrm>
            <a:off x="6035040" y="3483864"/>
            <a:ext cx="128016" cy="128016"/>
          </a:xfrm>
          <a:prstGeom prst="ellipse">
            <a:avLst/>
          </a:prstGeom>
          <a:solidFill>
            <a:srgbClr val="22D3C8"/>
          </a:solidFill>
          <a:ln/>
        </p:spPr>
      </p:sp>
      <p:sp>
        <p:nvSpPr>
          <p:cNvPr id="86" name="Text 84"/>
          <p:cNvSpPr/>
          <p:nvPr/>
        </p:nvSpPr>
        <p:spPr>
          <a:xfrm>
            <a:off x="6309360" y="3364992"/>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Alerts</a:t>
            </a:r>
            <a:endParaRPr lang="en-US" sz="1250" dirty="0"/>
          </a:p>
        </p:txBody>
      </p:sp>
      <p:sp>
        <p:nvSpPr>
          <p:cNvPr id="87" name="Shape 85"/>
          <p:cNvSpPr/>
          <p:nvPr/>
        </p:nvSpPr>
        <p:spPr>
          <a:xfrm>
            <a:off x="6035040" y="3904488"/>
            <a:ext cx="128016" cy="128016"/>
          </a:xfrm>
          <a:prstGeom prst="ellipse">
            <a:avLst/>
          </a:prstGeom>
          <a:solidFill>
            <a:srgbClr val="22D3C8"/>
          </a:solidFill>
          <a:ln/>
        </p:spPr>
      </p:sp>
      <p:sp>
        <p:nvSpPr>
          <p:cNvPr id="88" name="Text 86"/>
          <p:cNvSpPr/>
          <p:nvPr/>
        </p:nvSpPr>
        <p:spPr>
          <a:xfrm>
            <a:off x="6309360" y="3785616"/>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Hotspots</a:t>
            </a:r>
            <a:endParaRPr lang="en-US" sz="1250" dirty="0"/>
          </a:p>
        </p:txBody>
      </p:sp>
      <p:sp>
        <p:nvSpPr>
          <p:cNvPr id="89" name="Shape 87"/>
          <p:cNvSpPr/>
          <p:nvPr/>
        </p:nvSpPr>
        <p:spPr>
          <a:xfrm>
            <a:off x="6035040" y="4325112"/>
            <a:ext cx="128016" cy="128016"/>
          </a:xfrm>
          <a:prstGeom prst="ellipse">
            <a:avLst/>
          </a:prstGeom>
          <a:solidFill>
            <a:srgbClr val="22D3C8"/>
          </a:solidFill>
          <a:ln/>
        </p:spPr>
      </p:sp>
      <p:sp>
        <p:nvSpPr>
          <p:cNvPr id="90" name="Text 88"/>
          <p:cNvSpPr/>
          <p:nvPr/>
        </p:nvSpPr>
        <p:spPr>
          <a:xfrm>
            <a:off x="6309360" y="4206240"/>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Geographic Location</a:t>
            </a:r>
            <a:endParaRPr lang="en-US" sz="1250" dirty="0"/>
          </a:p>
        </p:txBody>
      </p:sp>
      <p:sp>
        <p:nvSpPr>
          <p:cNvPr id="91" name="Shape 89"/>
          <p:cNvSpPr/>
          <p:nvPr/>
        </p:nvSpPr>
        <p:spPr>
          <a:xfrm>
            <a:off x="6035040" y="4745736"/>
            <a:ext cx="128016" cy="128016"/>
          </a:xfrm>
          <a:prstGeom prst="ellipse">
            <a:avLst/>
          </a:prstGeom>
          <a:solidFill>
            <a:srgbClr val="22D3C8"/>
          </a:solidFill>
          <a:ln/>
        </p:spPr>
      </p:sp>
      <p:sp>
        <p:nvSpPr>
          <p:cNvPr id="92" name="Text 90"/>
          <p:cNvSpPr/>
          <p:nvPr/>
        </p:nvSpPr>
        <p:spPr>
          <a:xfrm>
            <a:off x="6309360" y="4626864"/>
            <a:ext cx="5212080" cy="329184"/>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Neighboring Grids</a:t>
            </a:r>
            <a:endParaRPr lang="en-US" sz="1250" dirty="0"/>
          </a:p>
        </p:txBody>
      </p:sp>
      <p:sp>
        <p:nvSpPr>
          <p:cNvPr id="93" name="Shape 91"/>
          <p:cNvSpPr/>
          <p:nvPr/>
        </p:nvSpPr>
        <p:spPr>
          <a:xfrm>
            <a:off x="6035040" y="5623560"/>
            <a:ext cx="5486400" cy="777240"/>
          </a:xfrm>
          <a:prstGeom prst="roundRect">
            <a:avLst>
              <a:gd name="adj" fmla="val 9412"/>
            </a:avLst>
          </a:prstGeom>
          <a:solidFill>
            <a:srgbClr val="141F32"/>
          </a:solidFill>
          <a:ln w="12700">
            <a:solidFill>
              <a:srgbClr val="22D3C8"/>
            </a:solidFill>
            <a:prstDash val="solid"/>
          </a:ln>
          <a:effectLst>
            <a:outerShdw blurRad="101600" dist="38100" dir="5400000" algn="bl" rotWithShape="0">
              <a:srgbClr val="000000">
                <a:alpha val="35000"/>
              </a:srgbClr>
            </a:outerShdw>
          </a:effectLst>
        </p:spPr>
      </p:sp>
      <p:sp>
        <p:nvSpPr>
          <p:cNvPr id="94" name="Text 92"/>
          <p:cNvSpPr/>
          <p:nvPr/>
        </p:nvSpPr>
        <p:spPr>
          <a:xfrm>
            <a:off x="6263640" y="5623560"/>
            <a:ext cx="5029200" cy="777240"/>
          </a:xfrm>
          <a:prstGeom prst="rect">
            <a:avLst/>
          </a:prstGeom>
          <a:noFill/>
          <a:ln/>
        </p:spPr>
        <p:txBody>
          <a:bodyPr wrap="square" rtlCol="0" anchor="ctr"/>
          <a:lstStyle/>
          <a:p>
            <a:pPr marL="0" indent="0">
              <a:buNone/>
            </a:pPr>
            <a:r>
              <a:rPr lang="en-US" sz="1150" i="1" dirty="0">
                <a:solidFill>
                  <a:srgbClr val="F3F7FB"/>
                </a:solidFill>
                <a:latin typeface="Calibri" pitchFamily="34" charset="0"/>
                <a:ea typeface="Calibri" pitchFamily="34" charset="-122"/>
                <a:cs typeface="Calibri" pitchFamily="34" charset="-120"/>
              </a:rPr>
              <a:t>Geographic context shifts the question from “what” to “where” — critical for field dispatch.</a:t>
            </a:r>
            <a:endParaRPr lang="en-US" sz="1150" dirty="0"/>
          </a:p>
        </p:txBody>
      </p:sp>
      <p:sp>
        <p:nvSpPr>
          <p:cNvPr id="95" name="Text 9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FASTAPI BACKEND</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A Clean Service Layer for the NOC</a:t>
            </a:r>
            <a:endParaRPr lang="en-US" sz="3000" dirty="0"/>
          </a:p>
        </p:txBody>
      </p:sp>
      <p:sp>
        <p:nvSpPr>
          <p:cNvPr id="4" name="Shape 2"/>
          <p:cNvSpPr/>
          <p:nvPr/>
        </p:nvSpPr>
        <p:spPr>
          <a:xfrm>
            <a:off x="640080" y="1691640"/>
            <a:ext cx="2514600" cy="822960"/>
          </a:xfrm>
          <a:prstGeom prst="roundRect">
            <a:avLst>
              <a:gd name="adj" fmla="val 8889"/>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5" name="Text 3"/>
          <p:cNvSpPr/>
          <p:nvPr/>
        </p:nvSpPr>
        <p:spPr>
          <a:xfrm>
            <a:off x="640080" y="1691640"/>
            <a:ext cx="2514600" cy="822960"/>
          </a:xfrm>
          <a:prstGeom prst="rect">
            <a:avLst/>
          </a:prstGeom>
          <a:noFill/>
          <a:ln/>
        </p:spPr>
        <p:txBody>
          <a:bodyPr wrap="square" rtlCol="0" anchor="ctr"/>
          <a:lstStyle/>
          <a:p>
            <a:pPr marL="0" indent="0" algn="ctr">
              <a:buNone/>
            </a:pPr>
            <a:r>
              <a:rPr lang="en-US" sz="1250" b="1" dirty="0">
                <a:solidFill>
                  <a:srgbClr val="F3F7FB"/>
                </a:solidFill>
                <a:latin typeface="Calibri" pitchFamily="34" charset="0"/>
                <a:ea typeface="Calibri" pitchFamily="34" charset="-122"/>
                <a:cs typeface="Calibri" pitchFamily="34" charset="-120"/>
              </a:rPr>
              <a:t>React</a:t>
            </a:r>
            <a:endParaRPr lang="en-US" sz="1250" dirty="0"/>
          </a:p>
        </p:txBody>
      </p:sp>
      <p:sp>
        <p:nvSpPr>
          <p:cNvPr id="6" name="Shape 4"/>
          <p:cNvSpPr/>
          <p:nvPr/>
        </p:nvSpPr>
        <p:spPr>
          <a:xfrm>
            <a:off x="3182112" y="2020824"/>
            <a:ext cx="201168" cy="164592"/>
          </a:xfrm>
          <a:prstGeom prst="rightArrow">
            <a:avLst/>
          </a:prstGeom>
          <a:solidFill>
            <a:srgbClr val="34D399"/>
          </a:solidFill>
          <a:ln/>
        </p:spPr>
      </p:sp>
      <p:sp>
        <p:nvSpPr>
          <p:cNvPr id="7" name="Shape 5"/>
          <p:cNvSpPr/>
          <p:nvPr/>
        </p:nvSpPr>
        <p:spPr>
          <a:xfrm>
            <a:off x="3410712" y="1691640"/>
            <a:ext cx="2514600" cy="822960"/>
          </a:xfrm>
          <a:prstGeom prst="roundRect">
            <a:avLst>
              <a:gd name="adj" fmla="val 8889"/>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8" name="Text 6"/>
          <p:cNvSpPr/>
          <p:nvPr/>
        </p:nvSpPr>
        <p:spPr>
          <a:xfrm>
            <a:off x="3410712" y="1691640"/>
            <a:ext cx="2514600" cy="822960"/>
          </a:xfrm>
          <a:prstGeom prst="rect">
            <a:avLst/>
          </a:prstGeom>
          <a:noFill/>
          <a:ln/>
        </p:spPr>
        <p:txBody>
          <a:bodyPr wrap="square" rtlCol="0" anchor="ctr"/>
          <a:lstStyle/>
          <a:p>
            <a:pPr marL="0" indent="0" algn="ctr">
              <a:buNone/>
            </a:pPr>
            <a:r>
              <a:rPr lang="en-US" sz="1250" b="1" dirty="0">
                <a:solidFill>
                  <a:srgbClr val="F3F7FB"/>
                </a:solidFill>
                <a:latin typeface="Calibri" pitchFamily="34" charset="0"/>
                <a:ea typeface="Calibri" pitchFamily="34" charset="-122"/>
                <a:cs typeface="Calibri" pitchFamily="34" charset="-120"/>
              </a:rPr>
              <a:t>Axios / API Client</a:t>
            </a:r>
            <a:endParaRPr lang="en-US" sz="1250" dirty="0"/>
          </a:p>
        </p:txBody>
      </p:sp>
      <p:sp>
        <p:nvSpPr>
          <p:cNvPr id="9" name="Shape 7"/>
          <p:cNvSpPr/>
          <p:nvPr/>
        </p:nvSpPr>
        <p:spPr>
          <a:xfrm>
            <a:off x="5952744" y="2020824"/>
            <a:ext cx="201168" cy="164592"/>
          </a:xfrm>
          <a:prstGeom prst="rightArrow">
            <a:avLst/>
          </a:prstGeom>
          <a:solidFill>
            <a:srgbClr val="34D399"/>
          </a:solidFill>
          <a:ln/>
        </p:spPr>
      </p:sp>
      <p:sp>
        <p:nvSpPr>
          <p:cNvPr id="10" name="Shape 8"/>
          <p:cNvSpPr/>
          <p:nvPr/>
        </p:nvSpPr>
        <p:spPr>
          <a:xfrm>
            <a:off x="6181344" y="1691640"/>
            <a:ext cx="2514600" cy="822960"/>
          </a:xfrm>
          <a:prstGeom prst="roundRect">
            <a:avLst>
              <a:gd name="adj" fmla="val 8889"/>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11" name="Text 9"/>
          <p:cNvSpPr/>
          <p:nvPr/>
        </p:nvSpPr>
        <p:spPr>
          <a:xfrm>
            <a:off x="6181344" y="1691640"/>
            <a:ext cx="2514600" cy="822960"/>
          </a:xfrm>
          <a:prstGeom prst="rect">
            <a:avLst/>
          </a:prstGeom>
          <a:noFill/>
          <a:ln/>
        </p:spPr>
        <p:txBody>
          <a:bodyPr wrap="square" rtlCol="0" anchor="ctr"/>
          <a:lstStyle/>
          <a:p>
            <a:pPr marL="0" indent="0" algn="ctr">
              <a:buNone/>
            </a:pPr>
            <a:r>
              <a:rPr lang="en-US" sz="1250" b="1" dirty="0">
                <a:solidFill>
                  <a:srgbClr val="F3F7FB"/>
                </a:solidFill>
                <a:latin typeface="Calibri" pitchFamily="34" charset="0"/>
                <a:ea typeface="Calibri" pitchFamily="34" charset="-122"/>
                <a:cs typeface="Calibri" pitchFamily="34" charset="-120"/>
              </a:rPr>
              <a:t>FastAPI</a:t>
            </a:r>
            <a:endParaRPr lang="en-US" sz="1250" dirty="0"/>
          </a:p>
        </p:txBody>
      </p:sp>
      <p:sp>
        <p:nvSpPr>
          <p:cNvPr id="12" name="Shape 10"/>
          <p:cNvSpPr/>
          <p:nvPr/>
        </p:nvSpPr>
        <p:spPr>
          <a:xfrm>
            <a:off x="8723376" y="2020824"/>
            <a:ext cx="201168" cy="164592"/>
          </a:xfrm>
          <a:prstGeom prst="rightArrow">
            <a:avLst/>
          </a:prstGeom>
          <a:solidFill>
            <a:srgbClr val="34D399"/>
          </a:solidFill>
          <a:ln/>
        </p:spPr>
      </p:sp>
      <p:sp>
        <p:nvSpPr>
          <p:cNvPr id="13" name="Shape 11"/>
          <p:cNvSpPr/>
          <p:nvPr/>
        </p:nvSpPr>
        <p:spPr>
          <a:xfrm>
            <a:off x="8951976" y="1691640"/>
            <a:ext cx="2514600" cy="822960"/>
          </a:xfrm>
          <a:prstGeom prst="roundRect">
            <a:avLst>
              <a:gd name="adj" fmla="val 8889"/>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14" name="Text 12"/>
          <p:cNvSpPr/>
          <p:nvPr/>
        </p:nvSpPr>
        <p:spPr>
          <a:xfrm>
            <a:off x="8951976" y="1691640"/>
            <a:ext cx="2514600" cy="822960"/>
          </a:xfrm>
          <a:prstGeom prst="rect">
            <a:avLst/>
          </a:prstGeom>
          <a:noFill/>
          <a:ln/>
        </p:spPr>
        <p:txBody>
          <a:bodyPr wrap="square" rtlCol="0" anchor="ctr"/>
          <a:lstStyle/>
          <a:p>
            <a:pPr marL="0" indent="0" algn="ctr">
              <a:buNone/>
            </a:pPr>
            <a:r>
              <a:rPr lang="en-US" sz="1250" b="1" dirty="0">
                <a:solidFill>
                  <a:srgbClr val="F3F7FB"/>
                </a:solidFill>
                <a:latin typeface="Calibri" pitchFamily="34" charset="0"/>
                <a:ea typeface="Calibri" pitchFamily="34" charset="-122"/>
                <a:cs typeface="Calibri" pitchFamily="34" charset="-120"/>
              </a:rPr>
              <a:t>Analytics + ML Outputs</a:t>
            </a:r>
            <a:endParaRPr lang="en-US" sz="1250" dirty="0"/>
          </a:p>
        </p:txBody>
      </p:sp>
      <p:sp>
        <p:nvSpPr>
          <p:cNvPr id="15" name="Shape 13"/>
          <p:cNvSpPr/>
          <p:nvPr/>
        </p:nvSpPr>
        <p:spPr>
          <a:xfrm>
            <a:off x="640080" y="2880360"/>
            <a:ext cx="10881360" cy="3017520"/>
          </a:xfrm>
          <a:prstGeom prst="roundRect">
            <a:avLst>
              <a:gd name="adj" fmla="val 2424"/>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16" name="Text 14"/>
          <p:cNvSpPr/>
          <p:nvPr/>
        </p:nvSpPr>
        <p:spPr>
          <a:xfrm>
            <a:off x="914400" y="3063240"/>
            <a:ext cx="5486400" cy="320040"/>
          </a:xfrm>
          <a:prstGeom prst="rect">
            <a:avLst/>
          </a:prstGeom>
          <a:noFill/>
          <a:ln/>
        </p:spPr>
        <p:txBody>
          <a:bodyPr wrap="square" rtlCol="0" anchor="ctr"/>
          <a:lstStyle/>
          <a:p>
            <a:pPr marL="0" indent="0">
              <a:buNone/>
            </a:pPr>
            <a:r>
              <a:rPr lang="en-US" sz="1500" b="1" dirty="0">
                <a:solidFill>
                  <a:srgbClr val="22D3C8"/>
                </a:solidFill>
                <a:latin typeface="Cambria" pitchFamily="34" charset="0"/>
                <a:ea typeface="Cambria" pitchFamily="34" charset="-122"/>
                <a:cs typeface="Cambria" pitchFamily="34" charset="-120"/>
              </a:rPr>
              <a:t>Key Endpoints</a:t>
            </a:r>
            <a:endParaRPr lang="en-US" sz="1500" dirty="0"/>
          </a:p>
        </p:txBody>
      </p:sp>
      <p:sp>
        <p:nvSpPr>
          <p:cNvPr id="17" name="Shape 15"/>
          <p:cNvSpPr/>
          <p:nvPr/>
        </p:nvSpPr>
        <p:spPr>
          <a:xfrm>
            <a:off x="914400" y="3520440"/>
            <a:ext cx="3520440" cy="475488"/>
          </a:xfrm>
          <a:prstGeom prst="roundRect">
            <a:avLst>
              <a:gd name="adj" fmla="val 11538"/>
            </a:avLst>
          </a:prstGeom>
          <a:solidFill>
            <a:srgbClr val="0F1826"/>
          </a:solidFill>
          <a:ln w="12700">
            <a:solidFill>
              <a:srgbClr val="223049"/>
            </a:solidFill>
            <a:prstDash val="solid"/>
          </a:ln>
        </p:spPr>
      </p:sp>
      <p:sp>
        <p:nvSpPr>
          <p:cNvPr id="18" name="Text 16"/>
          <p:cNvSpPr/>
          <p:nvPr/>
        </p:nvSpPr>
        <p:spPr>
          <a:xfrm>
            <a:off x="1024128" y="3520440"/>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19" name="Text 17"/>
          <p:cNvSpPr/>
          <p:nvPr/>
        </p:nvSpPr>
        <p:spPr>
          <a:xfrm>
            <a:off x="1600200" y="3520440"/>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/network/summary</a:t>
            </a:r>
            <a:endParaRPr lang="en-US" sz="1000" dirty="0"/>
          </a:p>
        </p:txBody>
      </p:sp>
      <p:sp>
        <p:nvSpPr>
          <p:cNvPr id="20" name="Shape 18"/>
          <p:cNvSpPr/>
          <p:nvPr/>
        </p:nvSpPr>
        <p:spPr>
          <a:xfrm>
            <a:off x="4572000" y="3520440"/>
            <a:ext cx="3520440" cy="475488"/>
          </a:xfrm>
          <a:prstGeom prst="roundRect">
            <a:avLst>
              <a:gd name="adj" fmla="val 11538"/>
            </a:avLst>
          </a:prstGeom>
          <a:solidFill>
            <a:srgbClr val="0F1826"/>
          </a:solidFill>
          <a:ln w="12700">
            <a:solidFill>
              <a:srgbClr val="223049"/>
            </a:solidFill>
            <a:prstDash val="solid"/>
          </a:ln>
        </p:spPr>
      </p:sp>
      <p:sp>
        <p:nvSpPr>
          <p:cNvPr id="21" name="Text 19"/>
          <p:cNvSpPr/>
          <p:nvPr/>
        </p:nvSpPr>
        <p:spPr>
          <a:xfrm>
            <a:off x="4681728" y="3520440"/>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22" name="Text 20"/>
          <p:cNvSpPr/>
          <p:nvPr/>
        </p:nvSpPr>
        <p:spPr>
          <a:xfrm>
            <a:off x="5257800" y="3520440"/>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/network/grid/{grid_id}</a:t>
            </a:r>
            <a:endParaRPr lang="en-US" sz="1000" dirty="0"/>
          </a:p>
        </p:txBody>
      </p:sp>
      <p:sp>
        <p:nvSpPr>
          <p:cNvPr id="23" name="Shape 21"/>
          <p:cNvSpPr/>
          <p:nvPr/>
        </p:nvSpPr>
        <p:spPr>
          <a:xfrm>
            <a:off x="8229600" y="3520440"/>
            <a:ext cx="3520440" cy="475488"/>
          </a:xfrm>
          <a:prstGeom prst="roundRect">
            <a:avLst>
              <a:gd name="adj" fmla="val 11538"/>
            </a:avLst>
          </a:prstGeom>
          <a:solidFill>
            <a:srgbClr val="0F1826"/>
          </a:solidFill>
          <a:ln w="12700">
            <a:solidFill>
              <a:srgbClr val="223049"/>
            </a:solidFill>
            <a:prstDash val="solid"/>
          </a:ln>
        </p:spPr>
      </p:sp>
      <p:sp>
        <p:nvSpPr>
          <p:cNvPr id="24" name="Text 22"/>
          <p:cNvSpPr/>
          <p:nvPr/>
        </p:nvSpPr>
        <p:spPr>
          <a:xfrm>
            <a:off x="8339328" y="3520440"/>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25" name="Text 23"/>
          <p:cNvSpPr/>
          <p:nvPr/>
        </p:nvSpPr>
        <p:spPr>
          <a:xfrm>
            <a:off x="8915400" y="3520440"/>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/network/hotspots</a:t>
            </a:r>
            <a:endParaRPr lang="en-US" sz="1000" dirty="0"/>
          </a:p>
        </p:txBody>
      </p:sp>
      <p:sp>
        <p:nvSpPr>
          <p:cNvPr id="26" name="Shape 24"/>
          <p:cNvSpPr/>
          <p:nvPr/>
        </p:nvSpPr>
        <p:spPr>
          <a:xfrm>
            <a:off x="914400" y="4087368"/>
            <a:ext cx="3520440" cy="475488"/>
          </a:xfrm>
          <a:prstGeom prst="roundRect">
            <a:avLst>
              <a:gd name="adj" fmla="val 11538"/>
            </a:avLst>
          </a:prstGeom>
          <a:solidFill>
            <a:srgbClr val="0F1826"/>
          </a:solidFill>
          <a:ln w="12700">
            <a:solidFill>
              <a:srgbClr val="223049"/>
            </a:solidFill>
            <a:prstDash val="solid"/>
          </a:ln>
        </p:spPr>
      </p:sp>
      <p:sp>
        <p:nvSpPr>
          <p:cNvPr id="27" name="Text 25"/>
          <p:cNvSpPr/>
          <p:nvPr/>
        </p:nvSpPr>
        <p:spPr>
          <a:xfrm>
            <a:off x="1024128" y="4087368"/>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28" name="Text 26"/>
          <p:cNvSpPr/>
          <p:nvPr/>
        </p:nvSpPr>
        <p:spPr>
          <a:xfrm>
            <a:off x="1600200" y="4087368"/>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/network/alerts</a:t>
            </a:r>
            <a:endParaRPr lang="en-US" sz="1000" dirty="0"/>
          </a:p>
        </p:txBody>
      </p:sp>
      <p:sp>
        <p:nvSpPr>
          <p:cNvPr id="29" name="Shape 27"/>
          <p:cNvSpPr/>
          <p:nvPr/>
        </p:nvSpPr>
        <p:spPr>
          <a:xfrm>
            <a:off x="4572000" y="4087368"/>
            <a:ext cx="3520440" cy="475488"/>
          </a:xfrm>
          <a:prstGeom prst="roundRect">
            <a:avLst>
              <a:gd name="adj" fmla="val 11538"/>
            </a:avLst>
          </a:prstGeom>
          <a:solidFill>
            <a:srgbClr val="0F1826"/>
          </a:solidFill>
          <a:ln w="12700">
            <a:solidFill>
              <a:srgbClr val="223049"/>
            </a:solidFill>
            <a:prstDash val="solid"/>
          </a:ln>
        </p:spPr>
      </p:sp>
      <p:sp>
        <p:nvSpPr>
          <p:cNvPr id="30" name="Text 28"/>
          <p:cNvSpPr/>
          <p:nvPr/>
        </p:nvSpPr>
        <p:spPr>
          <a:xfrm>
            <a:off x="4681728" y="4087368"/>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31" name="Text 29"/>
          <p:cNvSpPr/>
          <p:nvPr/>
        </p:nvSpPr>
        <p:spPr>
          <a:xfrm>
            <a:off x="5257800" y="4087368"/>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/network/grid/{grid_id}/features</a:t>
            </a:r>
            <a:endParaRPr lang="en-US" sz="1000" dirty="0"/>
          </a:p>
        </p:txBody>
      </p:sp>
      <p:sp>
        <p:nvSpPr>
          <p:cNvPr id="32" name="Shape 30"/>
          <p:cNvSpPr/>
          <p:nvPr/>
        </p:nvSpPr>
        <p:spPr>
          <a:xfrm>
            <a:off x="8229600" y="4087368"/>
            <a:ext cx="3520440" cy="475488"/>
          </a:xfrm>
          <a:prstGeom prst="roundRect">
            <a:avLst>
              <a:gd name="adj" fmla="val 11538"/>
            </a:avLst>
          </a:prstGeom>
          <a:solidFill>
            <a:srgbClr val="0F1826"/>
          </a:solidFill>
          <a:ln w="12700">
            <a:solidFill>
              <a:srgbClr val="223049"/>
            </a:solidFill>
            <a:prstDash val="solid"/>
          </a:ln>
        </p:spPr>
      </p:sp>
      <p:sp>
        <p:nvSpPr>
          <p:cNvPr id="33" name="Text 31"/>
          <p:cNvSpPr/>
          <p:nvPr/>
        </p:nvSpPr>
        <p:spPr>
          <a:xfrm>
            <a:off x="8339328" y="4087368"/>
            <a:ext cx="594360" cy="475488"/>
          </a:xfrm>
          <a:prstGeom prst="rect">
            <a:avLst/>
          </a:prstGeom>
          <a:noFill/>
          <a:ln/>
        </p:spPr>
        <p:txBody>
          <a:bodyPr wrap="square" rtlCol="0" anchor="ctr"/>
          <a:lstStyle/>
          <a:p>
            <a:pPr marL="0" indent="0">
              <a:buNone/>
            </a:pPr>
            <a:r>
              <a:rPr lang="en-US" sz="950" b="1" dirty="0">
                <a:solidFill>
                  <a:srgbClr val="F5A623"/>
                </a:solidFill>
                <a:latin typeface="Calibri" pitchFamily="34" charset="0"/>
                <a:ea typeface="Calibri" pitchFamily="34" charset="-122"/>
                <a:cs typeface="Calibri" pitchFamily="34" charset="-120"/>
              </a:rPr>
              <a:t>POST</a:t>
            </a:r>
            <a:endParaRPr lang="en-US" sz="950" dirty="0"/>
          </a:p>
        </p:txBody>
      </p:sp>
      <p:sp>
        <p:nvSpPr>
          <p:cNvPr id="34" name="Text 32"/>
          <p:cNvSpPr/>
          <p:nvPr/>
        </p:nvSpPr>
        <p:spPr>
          <a:xfrm>
            <a:off x="8915400" y="4087368"/>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/network/predict-risk</a:t>
            </a:r>
            <a:endParaRPr lang="en-US" sz="1000" dirty="0"/>
          </a:p>
        </p:txBody>
      </p:sp>
      <p:sp>
        <p:nvSpPr>
          <p:cNvPr id="35" name="Shape 33"/>
          <p:cNvSpPr/>
          <p:nvPr/>
        </p:nvSpPr>
        <p:spPr>
          <a:xfrm>
            <a:off x="914400" y="4654296"/>
            <a:ext cx="3520440" cy="475488"/>
          </a:xfrm>
          <a:prstGeom prst="roundRect">
            <a:avLst>
              <a:gd name="adj" fmla="val 11538"/>
            </a:avLst>
          </a:prstGeom>
          <a:solidFill>
            <a:srgbClr val="0F1826"/>
          </a:solidFill>
          <a:ln w="12700">
            <a:solidFill>
              <a:srgbClr val="223049"/>
            </a:solidFill>
            <a:prstDash val="solid"/>
          </a:ln>
        </p:spPr>
      </p:sp>
      <p:sp>
        <p:nvSpPr>
          <p:cNvPr id="36" name="Text 34"/>
          <p:cNvSpPr/>
          <p:nvPr/>
        </p:nvSpPr>
        <p:spPr>
          <a:xfrm>
            <a:off x="1024128" y="4654296"/>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37" name="Text 35"/>
          <p:cNvSpPr/>
          <p:nvPr/>
        </p:nvSpPr>
        <p:spPr>
          <a:xfrm>
            <a:off x="1600200" y="4654296"/>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/pipeline/status</a:t>
            </a:r>
            <a:endParaRPr lang="en-US" sz="1000" dirty="0"/>
          </a:p>
        </p:txBody>
      </p:sp>
      <p:sp>
        <p:nvSpPr>
          <p:cNvPr id="38" name="Shape 36"/>
          <p:cNvSpPr/>
          <p:nvPr/>
        </p:nvSpPr>
        <p:spPr>
          <a:xfrm>
            <a:off x="4572000" y="4654296"/>
            <a:ext cx="3520440" cy="475488"/>
          </a:xfrm>
          <a:prstGeom prst="roundRect">
            <a:avLst>
              <a:gd name="adj" fmla="val 11538"/>
            </a:avLst>
          </a:prstGeom>
          <a:solidFill>
            <a:srgbClr val="0F1826"/>
          </a:solidFill>
          <a:ln w="12700">
            <a:solidFill>
              <a:srgbClr val="223049"/>
            </a:solidFill>
            <a:prstDash val="solid"/>
          </a:ln>
        </p:spPr>
      </p:sp>
      <p:sp>
        <p:nvSpPr>
          <p:cNvPr id="39" name="Text 37"/>
          <p:cNvSpPr/>
          <p:nvPr/>
        </p:nvSpPr>
        <p:spPr>
          <a:xfrm>
            <a:off x="4681728" y="4654296"/>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40" name="Text 38"/>
          <p:cNvSpPr/>
          <p:nvPr/>
        </p:nvSpPr>
        <p:spPr>
          <a:xfrm>
            <a:off x="5257800" y="4654296"/>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/network/grid/{grid_id}/location</a:t>
            </a:r>
            <a:endParaRPr lang="en-US" sz="1000" dirty="0"/>
          </a:p>
        </p:txBody>
      </p:sp>
      <p:sp>
        <p:nvSpPr>
          <p:cNvPr id="41" name="Shape 39"/>
          <p:cNvSpPr/>
          <p:nvPr/>
        </p:nvSpPr>
        <p:spPr>
          <a:xfrm>
            <a:off x="8229600" y="4654296"/>
            <a:ext cx="3520440" cy="475488"/>
          </a:xfrm>
          <a:prstGeom prst="roundRect">
            <a:avLst>
              <a:gd name="adj" fmla="val 11538"/>
            </a:avLst>
          </a:prstGeom>
          <a:solidFill>
            <a:srgbClr val="0F1826"/>
          </a:solidFill>
          <a:ln w="12700">
            <a:solidFill>
              <a:srgbClr val="223049"/>
            </a:solidFill>
            <a:prstDash val="solid"/>
          </a:ln>
        </p:spPr>
      </p:sp>
      <p:sp>
        <p:nvSpPr>
          <p:cNvPr id="42" name="Text 40"/>
          <p:cNvSpPr/>
          <p:nvPr/>
        </p:nvSpPr>
        <p:spPr>
          <a:xfrm>
            <a:off x="8339328" y="4654296"/>
            <a:ext cx="594360" cy="475488"/>
          </a:xfrm>
          <a:prstGeom prst="rect">
            <a:avLst/>
          </a:prstGeom>
          <a:noFill/>
          <a:ln/>
        </p:spPr>
        <p:txBody>
          <a:bodyPr wrap="square" rtlCol="0" anchor="ctr"/>
          <a:lstStyle/>
          <a:p>
            <a:pPr marL="0" indent="0">
              <a:buNone/>
            </a:pPr>
            <a:r>
              <a:rPr lang="en-US" sz="950" b="1" dirty="0">
                <a:solidFill>
                  <a:srgbClr val="4C8DFF"/>
                </a:solidFill>
                <a:latin typeface="Calibri" pitchFamily="34" charset="0"/>
                <a:ea typeface="Calibri" pitchFamily="34" charset="-122"/>
                <a:cs typeface="Calibri" pitchFamily="34" charset="-120"/>
              </a:rPr>
              <a:t>GET</a:t>
            </a:r>
            <a:endParaRPr lang="en-US" sz="950" dirty="0"/>
          </a:p>
        </p:txBody>
      </p:sp>
      <p:sp>
        <p:nvSpPr>
          <p:cNvPr id="43" name="Text 41"/>
          <p:cNvSpPr/>
          <p:nvPr/>
        </p:nvSpPr>
        <p:spPr>
          <a:xfrm>
            <a:off x="8915400" y="4654296"/>
            <a:ext cx="2743200" cy="475488"/>
          </a:xfrm>
          <a:prstGeom prst="rect">
            <a:avLst/>
          </a:prstGeom>
          <a:noFill/>
          <a:ln/>
        </p:spPr>
        <p:txBody>
          <a:bodyPr wrap="square" rtlCol="0" anchor="ctr"/>
          <a:lstStyle/>
          <a:p>
            <a:pPr marL="0" indent="0">
              <a:buNone/>
            </a:pPr>
            <a:r>
              <a:rPr lang="en-US" sz="1000" dirty="0">
                <a:solidFill>
                  <a:srgbClr val="F3F7FB"/>
                </a:solidFill>
                <a:latin typeface="Courier New" pitchFamily="34" charset="0"/>
                <a:ea typeface="Courier New" pitchFamily="34" charset="-122"/>
                <a:cs typeface="Courier New" pitchFamily="34" charset="-120"/>
              </a:rPr>
              <a:t>/network/grid/{grid_id}/neighbours</a:t>
            </a:r>
            <a:endParaRPr lang="en-US" sz="1000" dirty="0"/>
          </a:p>
        </p:txBody>
      </p:sp>
      <p:sp>
        <p:nvSpPr>
          <p:cNvPr id="44" name="Text 4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REACT NOC DASHBOARD</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One Interface for Investigation</a:t>
            </a:r>
            <a:endParaRPr lang="en-US" sz="3000" dirty="0"/>
          </a:p>
        </p:txBody>
      </p:sp>
      <p:sp>
        <p:nvSpPr>
          <p:cNvPr id="4" name="Shape 2"/>
          <p:cNvSpPr/>
          <p:nvPr/>
        </p:nvSpPr>
        <p:spPr>
          <a:xfrm>
            <a:off x="640080" y="1719072"/>
            <a:ext cx="128016" cy="128016"/>
          </a:xfrm>
          <a:prstGeom prst="ellipse">
            <a:avLst/>
          </a:prstGeom>
          <a:solidFill>
            <a:srgbClr val="22D3C8"/>
          </a:solidFill>
          <a:ln/>
        </p:spPr>
      </p:sp>
      <p:sp>
        <p:nvSpPr>
          <p:cNvPr id="5" name="Text 3"/>
          <p:cNvSpPr/>
          <p:nvPr/>
        </p:nvSpPr>
        <p:spPr>
          <a:xfrm>
            <a:off x="914400" y="1600200"/>
            <a:ext cx="4206240" cy="36576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Dashboard / Network Overview</a:t>
            </a:r>
            <a:endParaRPr lang="en-US" sz="1250" dirty="0"/>
          </a:p>
        </p:txBody>
      </p:sp>
      <p:sp>
        <p:nvSpPr>
          <p:cNvPr id="6" name="Shape 4"/>
          <p:cNvSpPr/>
          <p:nvPr/>
        </p:nvSpPr>
        <p:spPr>
          <a:xfrm>
            <a:off x="640080" y="2221992"/>
            <a:ext cx="128016" cy="128016"/>
          </a:xfrm>
          <a:prstGeom prst="ellipse">
            <a:avLst/>
          </a:prstGeom>
          <a:solidFill>
            <a:srgbClr val="22D3C8"/>
          </a:solidFill>
          <a:ln/>
        </p:spPr>
      </p:sp>
      <p:sp>
        <p:nvSpPr>
          <p:cNvPr id="7" name="Text 5"/>
          <p:cNvSpPr/>
          <p:nvPr/>
        </p:nvSpPr>
        <p:spPr>
          <a:xfrm>
            <a:off x="914400" y="2103120"/>
            <a:ext cx="4206240" cy="36576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Network Health</a:t>
            </a:r>
            <a:endParaRPr lang="en-US" sz="1250" dirty="0"/>
          </a:p>
        </p:txBody>
      </p:sp>
      <p:sp>
        <p:nvSpPr>
          <p:cNvPr id="8" name="Shape 6"/>
          <p:cNvSpPr/>
          <p:nvPr/>
        </p:nvSpPr>
        <p:spPr>
          <a:xfrm>
            <a:off x="640080" y="2724912"/>
            <a:ext cx="128016" cy="128016"/>
          </a:xfrm>
          <a:prstGeom prst="ellipse">
            <a:avLst/>
          </a:prstGeom>
          <a:solidFill>
            <a:srgbClr val="22D3C8"/>
          </a:solidFill>
          <a:ln/>
        </p:spPr>
      </p:sp>
      <p:sp>
        <p:nvSpPr>
          <p:cNvPr id="9" name="Text 7"/>
          <p:cNvSpPr/>
          <p:nvPr/>
        </p:nvSpPr>
        <p:spPr>
          <a:xfrm>
            <a:off x="914400" y="2606040"/>
            <a:ext cx="4206240" cy="36576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Alerts &amp; Events + Geographic Map</a:t>
            </a:r>
            <a:endParaRPr lang="en-US" sz="1250" dirty="0"/>
          </a:p>
        </p:txBody>
      </p:sp>
      <p:sp>
        <p:nvSpPr>
          <p:cNvPr id="10" name="Shape 8"/>
          <p:cNvSpPr/>
          <p:nvPr/>
        </p:nvSpPr>
        <p:spPr>
          <a:xfrm>
            <a:off x="640080" y="3227832"/>
            <a:ext cx="128016" cy="128016"/>
          </a:xfrm>
          <a:prstGeom prst="ellipse">
            <a:avLst/>
          </a:prstGeom>
          <a:solidFill>
            <a:srgbClr val="22D3C8"/>
          </a:solidFill>
          <a:ln/>
        </p:spPr>
      </p:sp>
      <p:sp>
        <p:nvSpPr>
          <p:cNvPr id="11" name="Text 9"/>
          <p:cNvSpPr/>
          <p:nvPr/>
        </p:nvSpPr>
        <p:spPr>
          <a:xfrm>
            <a:off x="914400" y="3108960"/>
            <a:ext cx="4206240" cy="36576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Risk Intelligence</a:t>
            </a:r>
            <a:endParaRPr lang="en-US" sz="1250" dirty="0"/>
          </a:p>
        </p:txBody>
      </p:sp>
      <p:sp>
        <p:nvSpPr>
          <p:cNvPr id="12" name="Shape 10"/>
          <p:cNvSpPr/>
          <p:nvPr/>
        </p:nvSpPr>
        <p:spPr>
          <a:xfrm>
            <a:off x="640080" y="3730752"/>
            <a:ext cx="128016" cy="128016"/>
          </a:xfrm>
          <a:prstGeom prst="ellipse">
            <a:avLst/>
          </a:prstGeom>
          <a:solidFill>
            <a:srgbClr val="22D3C8"/>
          </a:solidFill>
          <a:ln/>
        </p:spPr>
      </p:sp>
      <p:sp>
        <p:nvSpPr>
          <p:cNvPr id="13" name="Text 11"/>
          <p:cNvSpPr/>
          <p:nvPr/>
        </p:nvSpPr>
        <p:spPr>
          <a:xfrm>
            <a:off x="914400" y="3611880"/>
            <a:ext cx="4206240" cy="365760"/>
          </a:xfrm>
          <a:prstGeom prst="rect">
            <a:avLst/>
          </a:prstGeom>
          <a:noFill/>
          <a:ln/>
        </p:spPr>
        <p:txBody>
          <a:bodyPr wrap="square" rtlCol="0" anchor="ctr"/>
          <a:lstStyle/>
          <a:p>
            <a:pPr marL="0" indent="0">
              <a:buNone/>
            </a:pPr>
            <a:r>
              <a:rPr lang="en-US" sz="1250" dirty="0">
                <a:solidFill>
                  <a:srgbClr val="F3F7FB"/>
                </a:solidFill>
                <a:latin typeface="Calibri" pitchFamily="34" charset="0"/>
                <a:ea typeface="Calibri" pitchFamily="34" charset="-122"/>
                <a:cs typeface="Calibri" pitchFamily="34" charset="-120"/>
              </a:rPr>
              <a:t>Grid Explorer / Grid Details</a:t>
            </a:r>
            <a:endParaRPr lang="en-US" sz="1250" dirty="0"/>
          </a:p>
        </p:txBody>
      </p:sp>
      <p:sp>
        <p:nvSpPr>
          <p:cNvPr id="14" name="Shape 12"/>
          <p:cNvSpPr/>
          <p:nvPr/>
        </p:nvSpPr>
        <p:spPr>
          <a:xfrm>
            <a:off x="640080" y="4251960"/>
            <a:ext cx="4572000" cy="2148840"/>
          </a:xfrm>
          <a:prstGeom prst="roundRect">
            <a:avLst>
              <a:gd name="adj" fmla="val 3404"/>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15" name="Text 13"/>
          <p:cNvSpPr/>
          <p:nvPr/>
        </p:nvSpPr>
        <p:spPr>
          <a:xfrm>
            <a:off x="914400" y="4434840"/>
            <a:ext cx="4023360" cy="274320"/>
          </a:xfrm>
          <a:prstGeom prst="rect">
            <a:avLst/>
          </a:prstGeom>
          <a:noFill/>
          <a:ln/>
        </p:spPr>
        <p:txBody>
          <a:bodyPr wrap="square" rtlCol="0" anchor="ctr"/>
          <a:lstStyle/>
          <a:p>
            <a:pPr marL="0" indent="0">
              <a:buNone/>
            </a:pPr>
            <a:r>
              <a:rPr lang="en-US" sz="1350" b="1" dirty="0">
                <a:solidFill>
                  <a:srgbClr val="22D3C8"/>
                </a:solidFill>
                <a:latin typeface="Cambria" pitchFamily="34" charset="0"/>
                <a:ea typeface="Cambria" pitchFamily="34" charset="-122"/>
                <a:cs typeface="Cambria" pitchFamily="34" charset="-120"/>
              </a:rPr>
              <a:t>Interface Building Blocks</a:t>
            </a:r>
            <a:endParaRPr lang="en-US" sz="1350" dirty="0"/>
          </a:p>
        </p:txBody>
      </p:sp>
      <p:sp>
        <p:nvSpPr>
          <p:cNvPr id="16" name="Text 14"/>
          <p:cNvSpPr/>
          <p:nvPr/>
        </p:nvSpPr>
        <p:spPr>
          <a:xfrm>
            <a:off x="914400" y="4800600"/>
            <a:ext cx="1920240" cy="320040"/>
          </a:xfrm>
          <a:prstGeom prst="rect">
            <a:avLst/>
          </a:prstGeom>
          <a:noFill/>
          <a:ln/>
        </p:spPr>
        <p:txBody>
          <a:bodyPr wrap="square" rtlCol="0" anchor="ctr"/>
          <a:lstStyle/>
          <a:p>
            <a:pPr marL="0" indent="0">
              <a:buNone/>
            </a:pPr>
            <a:r>
              <a:rPr lang="en-US" sz="1100" dirty="0">
                <a:solidFill>
                  <a:srgbClr val="9FB0C7"/>
                </a:solidFill>
                <a:latin typeface="Calibri" pitchFamily="34" charset="0"/>
                <a:ea typeface="Calibri" pitchFamily="34" charset="-122"/>
                <a:cs typeface="Calibri" pitchFamily="34" charset="-120"/>
              </a:rPr>
              <a:t>• KPI cards</a:t>
            </a:r>
            <a:endParaRPr lang="en-US" sz="1100" dirty="0"/>
          </a:p>
        </p:txBody>
      </p:sp>
      <p:sp>
        <p:nvSpPr>
          <p:cNvPr id="17" name="Text 15"/>
          <p:cNvSpPr/>
          <p:nvPr/>
        </p:nvSpPr>
        <p:spPr>
          <a:xfrm>
            <a:off x="2926080" y="4800600"/>
            <a:ext cx="1920240" cy="320040"/>
          </a:xfrm>
          <a:prstGeom prst="rect">
            <a:avLst/>
          </a:prstGeom>
          <a:noFill/>
          <a:ln/>
        </p:spPr>
        <p:txBody>
          <a:bodyPr wrap="square" rtlCol="0" anchor="ctr"/>
          <a:lstStyle/>
          <a:p>
            <a:pPr marL="0" indent="0">
              <a:buNone/>
            </a:pPr>
            <a:r>
              <a:rPr lang="en-US" sz="1100" dirty="0">
                <a:solidFill>
                  <a:srgbClr val="9FB0C7"/>
                </a:solidFill>
                <a:latin typeface="Calibri" pitchFamily="34" charset="0"/>
                <a:ea typeface="Calibri" pitchFamily="34" charset="-122"/>
                <a:cs typeface="Calibri" pitchFamily="34" charset="-120"/>
              </a:rPr>
              <a:t>• Tables &amp; charts</a:t>
            </a:r>
            <a:endParaRPr lang="en-US" sz="1100" dirty="0"/>
          </a:p>
        </p:txBody>
      </p:sp>
      <p:sp>
        <p:nvSpPr>
          <p:cNvPr id="18" name="Text 16"/>
          <p:cNvSpPr/>
          <p:nvPr/>
        </p:nvSpPr>
        <p:spPr>
          <a:xfrm>
            <a:off x="914400" y="5212080"/>
            <a:ext cx="1920240" cy="320040"/>
          </a:xfrm>
          <a:prstGeom prst="rect">
            <a:avLst/>
          </a:prstGeom>
          <a:noFill/>
          <a:ln/>
        </p:spPr>
        <p:txBody>
          <a:bodyPr wrap="square" rtlCol="0" anchor="ctr"/>
          <a:lstStyle/>
          <a:p>
            <a:pPr marL="0" indent="0">
              <a:buNone/>
            </a:pPr>
            <a:r>
              <a:rPr lang="en-US" sz="1100" dirty="0">
                <a:solidFill>
                  <a:srgbClr val="9FB0C7"/>
                </a:solidFill>
                <a:latin typeface="Calibri" pitchFamily="34" charset="0"/>
                <a:ea typeface="Calibri" pitchFamily="34" charset="-122"/>
                <a:cs typeface="Calibri" pitchFamily="34" charset="-120"/>
              </a:rPr>
              <a:t>• Status indicators</a:t>
            </a:r>
            <a:endParaRPr lang="en-US" sz="1100" dirty="0"/>
          </a:p>
        </p:txBody>
      </p:sp>
      <p:sp>
        <p:nvSpPr>
          <p:cNvPr id="19" name="Text 17"/>
          <p:cNvSpPr/>
          <p:nvPr/>
        </p:nvSpPr>
        <p:spPr>
          <a:xfrm>
            <a:off x="2926080" y="5212080"/>
            <a:ext cx="1920240" cy="320040"/>
          </a:xfrm>
          <a:prstGeom prst="rect">
            <a:avLst/>
          </a:prstGeom>
          <a:noFill/>
          <a:ln/>
        </p:spPr>
        <p:txBody>
          <a:bodyPr wrap="square" rtlCol="0" anchor="ctr"/>
          <a:lstStyle/>
          <a:p>
            <a:pPr marL="0" indent="0">
              <a:buNone/>
            </a:pPr>
            <a:r>
              <a:rPr lang="en-US" sz="1100" dirty="0">
                <a:solidFill>
                  <a:srgbClr val="9FB0C7"/>
                </a:solidFill>
                <a:latin typeface="Calibri" pitchFamily="34" charset="0"/>
                <a:ea typeface="Calibri" pitchFamily="34" charset="-122"/>
                <a:cs typeface="Calibri" pitchFamily="34" charset="-120"/>
              </a:rPr>
              <a:t>• Alert severity</a:t>
            </a:r>
            <a:endParaRPr lang="en-US" sz="1100" dirty="0"/>
          </a:p>
        </p:txBody>
      </p:sp>
      <p:sp>
        <p:nvSpPr>
          <p:cNvPr id="20" name="Text 18"/>
          <p:cNvSpPr/>
          <p:nvPr/>
        </p:nvSpPr>
        <p:spPr>
          <a:xfrm>
            <a:off x="914400" y="5623560"/>
            <a:ext cx="1920240" cy="320040"/>
          </a:xfrm>
          <a:prstGeom prst="rect">
            <a:avLst/>
          </a:prstGeom>
          <a:noFill/>
          <a:ln/>
        </p:spPr>
        <p:txBody>
          <a:bodyPr wrap="square" rtlCol="0" anchor="ctr"/>
          <a:lstStyle/>
          <a:p>
            <a:pPr marL="0" indent="0">
              <a:buNone/>
            </a:pPr>
            <a:r>
              <a:rPr lang="en-US" sz="1100" dirty="0">
                <a:solidFill>
                  <a:srgbClr val="9FB0C7"/>
                </a:solidFill>
                <a:latin typeface="Calibri" pitchFamily="34" charset="0"/>
                <a:ea typeface="Calibri" pitchFamily="34" charset="-122"/>
                <a:cs typeface="Calibri" pitchFamily="34" charset="-120"/>
              </a:rPr>
              <a:t>• Geographic maps</a:t>
            </a:r>
            <a:endParaRPr lang="en-US" sz="1100" dirty="0"/>
          </a:p>
        </p:txBody>
      </p:sp>
      <p:sp>
        <p:nvSpPr>
          <p:cNvPr id="21" name="Text 19"/>
          <p:cNvSpPr/>
          <p:nvPr/>
        </p:nvSpPr>
        <p:spPr>
          <a:xfrm>
            <a:off x="2926080" y="5623560"/>
            <a:ext cx="1920240" cy="320040"/>
          </a:xfrm>
          <a:prstGeom prst="rect">
            <a:avLst/>
          </a:prstGeom>
          <a:noFill/>
          <a:ln/>
        </p:spPr>
        <p:txBody>
          <a:bodyPr wrap="square" rtlCol="0" anchor="ctr"/>
          <a:lstStyle/>
          <a:p>
            <a:pPr marL="0" indent="0">
              <a:buNone/>
            </a:pPr>
            <a:r>
              <a:rPr lang="en-US" sz="1100" dirty="0">
                <a:solidFill>
                  <a:srgbClr val="9FB0C7"/>
                </a:solidFill>
                <a:latin typeface="Calibri" pitchFamily="34" charset="0"/>
                <a:ea typeface="Calibri" pitchFamily="34" charset="-122"/>
                <a:cs typeface="Calibri" pitchFamily="34" charset="-120"/>
              </a:rPr>
              <a:t>• Pipeline status</a:t>
            </a:r>
            <a:endParaRPr lang="en-US" sz="1100" dirty="0"/>
          </a:p>
        </p:txBody>
      </p:sp>
      <p:sp>
        <p:nvSpPr>
          <p:cNvPr id="24" name="Shape 22"/>
          <p:cNvSpPr/>
          <p:nvPr/>
        </p:nvSpPr>
        <p:spPr>
          <a:xfrm>
            <a:off x="8115300" y="3337560"/>
            <a:ext cx="731520" cy="731520"/>
          </a:xfrm>
          <a:prstGeom prst="ellipse">
            <a:avLst/>
          </a:prstGeom>
          <a:solidFill>
            <a:srgbClr val="5D7391">
              <a:alpha val="18000"/>
            </a:srgbClr>
          </a:solidFill>
          <a:ln w="15875">
            <a:solidFill>
              <a:srgbClr val="5D7391"/>
            </a:solidFill>
            <a:prstDash val="solid"/>
          </a:ln>
        </p:spPr>
      </p:sp>
      <p:sp>
        <p:nvSpPr>
          <p:cNvPr id="25" name="Text 23"/>
          <p:cNvSpPr/>
          <p:nvPr/>
        </p:nvSpPr>
        <p:spPr>
          <a:xfrm>
            <a:off x="8115300" y="3337560"/>
            <a:ext cx="731520" cy="731520"/>
          </a:xfrm>
          <a:prstGeom prst="rect">
            <a:avLst/>
          </a:prstGeom>
          <a:noFill/>
          <a:ln/>
        </p:spPr>
        <p:txBody>
          <a:bodyPr wrap="square" rtlCol="0" anchor="ctr"/>
          <a:lstStyle/>
          <a:p>
            <a:pPr marL="0" indent="0" algn="ctr">
              <a:buNone/>
            </a:pPr>
            <a:r>
              <a:rPr lang="en-US" sz="2400" b="1" dirty="0">
                <a:solidFill>
                  <a:srgbClr val="5D7391"/>
                </a:solidFill>
                <a:latin typeface="Calibri" pitchFamily="34" charset="0"/>
                <a:ea typeface="Calibri" pitchFamily="34" charset="-122"/>
                <a:cs typeface="Calibri" pitchFamily="34" charset="-120"/>
              </a:rPr>
              <a:t>▢</a:t>
            </a:r>
            <a:endParaRPr lang="en-US" sz="2400" dirty="0"/>
          </a:p>
        </p:txBody>
      </p:sp>
      <p:sp>
        <p:nvSpPr>
          <p:cNvPr id="26" name="Text 24"/>
          <p:cNvSpPr/>
          <p:nvPr/>
        </p:nvSpPr>
        <p:spPr>
          <a:xfrm>
            <a:off x="5989320" y="4160520"/>
            <a:ext cx="4983480" cy="457200"/>
          </a:xfrm>
          <a:prstGeom prst="rect">
            <a:avLst/>
          </a:prstGeom>
          <a:noFill/>
          <a:ln/>
        </p:spPr>
        <p:txBody>
          <a:bodyPr wrap="square" rtlCol="0" anchor="ctr"/>
          <a:lstStyle/>
          <a:p>
            <a:pPr marL="0" indent="0" algn="ctr">
              <a:buNone/>
            </a:pPr>
            <a:r>
              <a:rPr lang="en-US" sz="1250" b="1" dirty="0">
                <a:solidFill>
                  <a:srgbClr val="5D7391"/>
                </a:solidFill>
                <a:latin typeface="Calibri" pitchFamily="34" charset="0"/>
                <a:ea typeface="Calibri" pitchFamily="34" charset="-122"/>
                <a:cs typeface="Calibri" pitchFamily="34" charset="-120"/>
              </a:rPr>
              <a:t>[ INSERT ACTUAL REACT DASHBOARD SCREENSHOT ]</a:t>
            </a:r>
            <a:endParaRPr lang="en-US" sz="1250" dirty="0"/>
          </a:p>
        </p:txBody>
      </p:sp>
      <p:sp>
        <p:nvSpPr>
          <p:cNvPr id="27" name="Text 25"/>
          <p:cNvSpPr/>
          <p:nvPr/>
        </p:nvSpPr>
        <p:spPr>
          <a:xfrm>
            <a:off x="5989320" y="4572000"/>
            <a:ext cx="4983480" cy="365760"/>
          </a:xfrm>
          <a:prstGeom prst="rect">
            <a:avLst/>
          </a:prstGeom>
          <a:noFill/>
          <a:ln/>
        </p:spPr>
        <p:txBody>
          <a:bodyPr wrap="square" rtlCol="0" anchor="ctr"/>
          <a:lstStyle/>
          <a:p>
            <a:pPr marL="0" indent="0" algn="ctr">
              <a:buNone/>
            </a:pPr>
            <a:r>
              <a:rPr lang="en-US" sz="1050" i="1" dirty="0">
                <a:solidFill>
                  <a:srgbClr val="5D7391"/>
                </a:solidFill>
                <a:latin typeface="Calibri" pitchFamily="34" charset="0"/>
                <a:ea typeface="Calibri" pitchFamily="34" charset="-122"/>
                <a:cs typeface="Calibri" pitchFamily="34" charset="-120"/>
              </a:rPr>
              <a:t>Dark, enterprise-style NOC interface — captured from the live application</a:t>
            </a:r>
            <a:endParaRPr lang="en-US" sz="1050" dirty="0"/>
          </a:p>
        </p:txBody>
      </p:sp>
      <p:sp>
        <p:nvSpPr>
          <p:cNvPr id="28" name="Text 2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12</a:t>
            </a:r>
            <a:endParaRPr lang="en-US" sz="1000" dirty="0"/>
          </a:p>
        </p:txBody>
      </p:sp>
      <p:pic>
        <p:nvPicPr>
          <p:cNvPr id="30" name="Picture 29">
            <a:extLst>
              <a:ext uri="{FF2B5EF4-FFF2-40B4-BE49-F238E27FC236}">
                <a16:creationId xmlns:a16="http://schemas.microsoft.com/office/drawing/2014/main" id="{3085A9DE-01C5-5BFA-5DDA-84307E835536}"/>
              </a:ext>
            </a:extLst>
          </p:cNvPr>
          <p:cNvPicPr>
            <a:picLocks noChangeAspect="1"/>
          </p:cNvPicPr>
          <p:nvPr/>
        </p:nvPicPr>
        <p:blipFill>
          <a:blip r:embed="rId3"/>
          <a:stretch>
            <a:fillRect/>
          </a:stretch>
        </p:blipFill>
        <p:spPr>
          <a:xfrm>
            <a:off x="5440101" y="1713625"/>
            <a:ext cx="6626507" cy="3536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OPERATIONAL WORKFLOW</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From Reactive Monitoring to Investigation</a:t>
            </a:r>
            <a:endParaRPr lang="en-US" sz="3000" dirty="0"/>
          </a:p>
        </p:txBody>
      </p:sp>
      <p:sp>
        <p:nvSpPr>
          <p:cNvPr id="4" name="Shape 2"/>
          <p:cNvSpPr/>
          <p:nvPr/>
        </p:nvSpPr>
        <p:spPr>
          <a:xfrm>
            <a:off x="640080" y="2194560"/>
            <a:ext cx="1691640" cy="1828800"/>
          </a:xfrm>
          <a:prstGeom prst="roundRect">
            <a:avLst>
              <a:gd name="adj" fmla="val 4324"/>
            </a:avLst>
          </a:prstGeom>
          <a:solidFill>
            <a:srgbClr val="0F1826"/>
          </a:solidFill>
          <a:ln w="12700">
            <a:solidFill>
              <a:srgbClr val="5D7391"/>
            </a:solidFill>
            <a:prstDash val="solid"/>
          </a:ln>
          <a:effectLst>
            <a:outerShdw blurRad="101600" dist="38100" dir="5400000" algn="bl" rotWithShape="0">
              <a:srgbClr val="000000">
                <a:alpha val="35000"/>
              </a:srgbClr>
            </a:outerShdw>
          </a:effectLst>
        </p:spPr>
      </p:sp>
      <p:sp>
        <p:nvSpPr>
          <p:cNvPr id="5" name="Shape 3"/>
          <p:cNvSpPr/>
          <p:nvPr/>
        </p:nvSpPr>
        <p:spPr>
          <a:xfrm>
            <a:off x="1229868" y="2423160"/>
            <a:ext cx="512064" cy="512064"/>
          </a:xfrm>
          <a:prstGeom prst="ellipse">
            <a:avLst/>
          </a:prstGeom>
          <a:solidFill>
            <a:srgbClr val="5D7391">
              <a:alpha val="22000"/>
            </a:srgbClr>
          </a:solidFill>
          <a:ln w="19050">
            <a:solidFill>
              <a:srgbClr val="5D7391"/>
            </a:solidFill>
            <a:prstDash val="solid"/>
          </a:ln>
        </p:spPr>
      </p:sp>
      <p:sp>
        <p:nvSpPr>
          <p:cNvPr id="6" name="Text 4"/>
          <p:cNvSpPr/>
          <p:nvPr/>
        </p:nvSpPr>
        <p:spPr>
          <a:xfrm>
            <a:off x="1229868" y="2423160"/>
            <a:ext cx="512064" cy="512064"/>
          </a:xfrm>
          <a:prstGeom prst="rect">
            <a:avLst/>
          </a:prstGeom>
          <a:noFill/>
          <a:ln/>
        </p:spPr>
        <p:txBody>
          <a:bodyPr wrap="square" rtlCol="0" anchor="ctr"/>
          <a:lstStyle/>
          <a:p>
            <a:pPr marL="0" indent="0" algn="ctr">
              <a:buNone/>
            </a:pPr>
            <a:r>
              <a:rPr lang="en-US" sz="1800" b="1" dirty="0">
                <a:solidFill>
                  <a:srgbClr val="5D7391"/>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31520" y="3063240"/>
            <a:ext cx="1508760" cy="320040"/>
          </a:xfrm>
          <a:prstGeom prst="rect">
            <a:avLst/>
          </a:prstGeom>
          <a:noFill/>
          <a:ln/>
        </p:spPr>
        <p:txBody>
          <a:bodyPr wrap="square" rtlCol="0" anchor="ctr"/>
          <a:lstStyle/>
          <a:p>
            <a:pPr marL="0" indent="0" algn="ctr">
              <a:buNone/>
            </a:pPr>
            <a:r>
              <a:rPr lang="en-US" sz="1200" b="1" dirty="0">
                <a:solidFill>
                  <a:srgbClr val="F3F7FB"/>
                </a:solidFill>
                <a:latin typeface="Calibri" pitchFamily="34" charset="0"/>
                <a:ea typeface="Calibri" pitchFamily="34" charset="-122"/>
                <a:cs typeface="Calibri" pitchFamily="34" charset="-120"/>
              </a:rPr>
              <a:t>OBSERVE</a:t>
            </a:r>
            <a:endParaRPr lang="en-US" sz="1200" dirty="0"/>
          </a:p>
        </p:txBody>
      </p:sp>
      <p:sp>
        <p:nvSpPr>
          <p:cNvPr id="8" name="Text 6"/>
          <p:cNvSpPr/>
          <p:nvPr/>
        </p:nvSpPr>
        <p:spPr>
          <a:xfrm>
            <a:off x="731520" y="3429000"/>
            <a:ext cx="1508760" cy="548640"/>
          </a:xfrm>
          <a:prstGeom prst="rect">
            <a:avLst/>
          </a:prstGeom>
          <a:noFill/>
          <a:ln/>
        </p:spPr>
        <p:txBody>
          <a:bodyPr wrap="square" rtlCol="0" anchor="ctr"/>
          <a:lstStyle/>
          <a:p>
            <a:pPr marL="0" indent="0" algn="ctr">
              <a:lnSpc>
                <a:spcPts val="1200"/>
              </a:lnSpc>
              <a:buNone/>
            </a:pPr>
            <a:r>
              <a:rPr lang="en-US" sz="950" dirty="0">
                <a:solidFill>
                  <a:srgbClr val="9FB0C7"/>
                </a:solidFill>
                <a:latin typeface="Calibri" pitchFamily="34" charset="0"/>
                <a:ea typeface="Calibri" pitchFamily="34" charset="-122"/>
                <a:cs typeface="Calibri" pitchFamily="34" charset="-120"/>
              </a:rPr>
              <a:t>Network telemetry</a:t>
            </a:r>
            <a:endParaRPr lang="en-US" sz="950" dirty="0"/>
          </a:p>
        </p:txBody>
      </p:sp>
      <p:sp>
        <p:nvSpPr>
          <p:cNvPr id="9" name="Shape 7"/>
          <p:cNvSpPr/>
          <p:nvPr/>
        </p:nvSpPr>
        <p:spPr>
          <a:xfrm>
            <a:off x="2340864" y="3017520"/>
            <a:ext cx="137160" cy="164592"/>
          </a:xfrm>
          <a:prstGeom prst="rightArrow">
            <a:avLst/>
          </a:prstGeom>
          <a:solidFill>
            <a:srgbClr val="5D7391"/>
          </a:solidFill>
          <a:ln/>
        </p:spPr>
      </p:sp>
      <p:sp>
        <p:nvSpPr>
          <p:cNvPr id="10" name="Shape 8"/>
          <p:cNvSpPr/>
          <p:nvPr/>
        </p:nvSpPr>
        <p:spPr>
          <a:xfrm>
            <a:off x="2450592" y="2194560"/>
            <a:ext cx="1691640" cy="1828800"/>
          </a:xfrm>
          <a:prstGeom prst="roundRect">
            <a:avLst>
              <a:gd name="adj" fmla="val 4324"/>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11" name="Shape 9"/>
          <p:cNvSpPr/>
          <p:nvPr/>
        </p:nvSpPr>
        <p:spPr>
          <a:xfrm>
            <a:off x="3040380" y="2423160"/>
            <a:ext cx="512064" cy="512064"/>
          </a:xfrm>
          <a:prstGeom prst="ellipse">
            <a:avLst/>
          </a:prstGeom>
          <a:solidFill>
            <a:srgbClr val="4C8DFF">
              <a:alpha val="22000"/>
            </a:srgbClr>
          </a:solidFill>
          <a:ln w="19050">
            <a:solidFill>
              <a:srgbClr val="4C8DFF"/>
            </a:solidFill>
            <a:prstDash val="solid"/>
          </a:ln>
        </p:spPr>
      </p:sp>
      <p:sp>
        <p:nvSpPr>
          <p:cNvPr id="12" name="Text 10"/>
          <p:cNvSpPr/>
          <p:nvPr/>
        </p:nvSpPr>
        <p:spPr>
          <a:xfrm>
            <a:off x="3040380" y="2423160"/>
            <a:ext cx="512064" cy="512064"/>
          </a:xfrm>
          <a:prstGeom prst="rect">
            <a:avLst/>
          </a:prstGeom>
          <a:noFill/>
          <a:ln/>
        </p:spPr>
        <p:txBody>
          <a:bodyPr wrap="square" rtlCol="0" anchor="ctr"/>
          <a:lstStyle/>
          <a:p>
            <a:pPr marL="0" indent="0" algn="ctr">
              <a:buNone/>
            </a:pPr>
            <a:r>
              <a:rPr lang="en-US" sz="1800" b="1" dirty="0">
                <a:solidFill>
                  <a:srgbClr val="4C8D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542032" y="3063240"/>
            <a:ext cx="1508760" cy="320040"/>
          </a:xfrm>
          <a:prstGeom prst="rect">
            <a:avLst/>
          </a:prstGeom>
          <a:noFill/>
          <a:ln/>
        </p:spPr>
        <p:txBody>
          <a:bodyPr wrap="square" rtlCol="0" anchor="ctr"/>
          <a:lstStyle/>
          <a:p>
            <a:pPr marL="0" indent="0" algn="ctr">
              <a:buNone/>
            </a:pPr>
            <a:r>
              <a:rPr lang="en-US" sz="1200" b="1" dirty="0">
                <a:solidFill>
                  <a:srgbClr val="F3F7FB"/>
                </a:solidFill>
                <a:latin typeface="Calibri" pitchFamily="34" charset="0"/>
                <a:ea typeface="Calibri" pitchFamily="34" charset="-122"/>
                <a:cs typeface="Calibri" pitchFamily="34" charset="-120"/>
              </a:rPr>
              <a:t>DETECT</a:t>
            </a:r>
            <a:endParaRPr lang="en-US" sz="1200" dirty="0"/>
          </a:p>
        </p:txBody>
      </p:sp>
      <p:sp>
        <p:nvSpPr>
          <p:cNvPr id="14" name="Text 12"/>
          <p:cNvSpPr/>
          <p:nvPr/>
        </p:nvSpPr>
        <p:spPr>
          <a:xfrm>
            <a:off x="2542032" y="3429000"/>
            <a:ext cx="1508760" cy="548640"/>
          </a:xfrm>
          <a:prstGeom prst="rect">
            <a:avLst/>
          </a:prstGeom>
          <a:noFill/>
          <a:ln/>
        </p:spPr>
        <p:txBody>
          <a:bodyPr wrap="square" rtlCol="0" anchor="ctr"/>
          <a:lstStyle/>
          <a:p>
            <a:pPr marL="0" indent="0" algn="ctr">
              <a:lnSpc>
                <a:spcPts val="1200"/>
              </a:lnSpc>
              <a:buNone/>
            </a:pPr>
            <a:r>
              <a:rPr lang="en-US" sz="950" dirty="0">
                <a:solidFill>
                  <a:srgbClr val="9FB0C7"/>
                </a:solidFill>
                <a:latin typeface="Calibri" pitchFamily="34" charset="0"/>
                <a:ea typeface="Calibri" pitchFamily="34" charset="-122"/>
                <a:cs typeface="Calibri" pitchFamily="34" charset="-120"/>
              </a:rPr>
              <a:t>Anomaly / alert</a:t>
            </a:r>
            <a:endParaRPr lang="en-US" sz="950" dirty="0"/>
          </a:p>
        </p:txBody>
      </p:sp>
      <p:sp>
        <p:nvSpPr>
          <p:cNvPr id="15" name="Shape 13"/>
          <p:cNvSpPr/>
          <p:nvPr/>
        </p:nvSpPr>
        <p:spPr>
          <a:xfrm>
            <a:off x="4151376" y="3017520"/>
            <a:ext cx="137160" cy="164592"/>
          </a:xfrm>
          <a:prstGeom prst="rightArrow">
            <a:avLst/>
          </a:prstGeom>
          <a:solidFill>
            <a:srgbClr val="5D7391"/>
          </a:solidFill>
          <a:ln/>
        </p:spPr>
      </p:sp>
      <p:sp>
        <p:nvSpPr>
          <p:cNvPr id="16" name="Shape 14"/>
          <p:cNvSpPr/>
          <p:nvPr/>
        </p:nvSpPr>
        <p:spPr>
          <a:xfrm>
            <a:off x="4261104" y="2194560"/>
            <a:ext cx="1691640" cy="1828800"/>
          </a:xfrm>
          <a:prstGeom prst="roundRect">
            <a:avLst>
              <a:gd name="adj" fmla="val 4324"/>
            </a:avLst>
          </a:prstGeom>
          <a:solidFill>
            <a:srgbClr val="0F1826"/>
          </a:solidFill>
          <a:ln w="12700">
            <a:solidFill>
              <a:srgbClr val="22D3C8"/>
            </a:solidFill>
            <a:prstDash val="solid"/>
          </a:ln>
          <a:effectLst>
            <a:outerShdw blurRad="101600" dist="38100" dir="5400000" algn="bl" rotWithShape="0">
              <a:srgbClr val="000000">
                <a:alpha val="35000"/>
              </a:srgbClr>
            </a:outerShdw>
          </a:effectLst>
        </p:spPr>
      </p:sp>
      <p:sp>
        <p:nvSpPr>
          <p:cNvPr id="17" name="Shape 15"/>
          <p:cNvSpPr/>
          <p:nvPr/>
        </p:nvSpPr>
        <p:spPr>
          <a:xfrm>
            <a:off x="4850892" y="2423160"/>
            <a:ext cx="512064" cy="512064"/>
          </a:xfrm>
          <a:prstGeom prst="ellipse">
            <a:avLst/>
          </a:prstGeom>
          <a:solidFill>
            <a:srgbClr val="22D3C8">
              <a:alpha val="22000"/>
            </a:srgbClr>
          </a:solidFill>
          <a:ln w="19050">
            <a:solidFill>
              <a:srgbClr val="22D3C8"/>
            </a:solidFill>
            <a:prstDash val="solid"/>
          </a:ln>
        </p:spPr>
      </p:sp>
      <p:sp>
        <p:nvSpPr>
          <p:cNvPr id="18" name="Text 16"/>
          <p:cNvSpPr/>
          <p:nvPr/>
        </p:nvSpPr>
        <p:spPr>
          <a:xfrm>
            <a:off x="4850892" y="2423160"/>
            <a:ext cx="512064" cy="512064"/>
          </a:xfrm>
          <a:prstGeom prst="rect">
            <a:avLst/>
          </a:prstGeom>
          <a:noFill/>
          <a:ln/>
        </p:spPr>
        <p:txBody>
          <a:bodyPr wrap="square" rtlCol="0" anchor="ctr"/>
          <a:lstStyle/>
          <a:p>
            <a:pPr marL="0" indent="0" algn="ctr">
              <a:buNone/>
            </a:pPr>
            <a:r>
              <a:rPr lang="en-US" sz="1800" b="1" dirty="0">
                <a:solidFill>
                  <a:srgbClr val="22D3C8"/>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4352544" y="3063240"/>
            <a:ext cx="1508760" cy="320040"/>
          </a:xfrm>
          <a:prstGeom prst="rect">
            <a:avLst/>
          </a:prstGeom>
          <a:noFill/>
          <a:ln/>
        </p:spPr>
        <p:txBody>
          <a:bodyPr wrap="square" rtlCol="0" anchor="ctr"/>
          <a:lstStyle/>
          <a:p>
            <a:pPr marL="0" indent="0" algn="ctr">
              <a:buNone/>
            </a:pPr>
            <a:r>
              <a:rPr lang="en-US" sz="1200" b="1" dirty="0">
                <a:solidFill>
                  <a:srgbClr val="F3F7FB"/>
                </a:solidFill>
                <a:latin typeface="Calibri" pitchFamily="34" charset="0"/>
                <a:ea typeface="Calibri" pitchFamily="34" charset="-122"/>
                <a:cs typeface="Calibri" pitchFamily="34" charset="-120"/>
              </a:rPr>
              <a:t>PRIORITIZE</a:t>
            </a:r>
            <a:endParaRPr lang="en-US" sz="1200" dirty="0"/>
          </a:p>
        </p:txBody>
      </p:sp>
      <p:sp>
        <p:nvSpPr>
          <p:cNvPr id="20" name="Text 18"/>
          <p:cNvSpPr/>
          <p:nvPr/>
        </p:nvSpPr>
        <p:spPr>
          <a:xfrm>
            <a:off x="4352544" y="3429000"/>
            <a:ext cx="1508760" cy="548640"/>
          </a:xfrm>
          <a:prstGeom prst="rect">
            <a:avLst/>
          </a:prstGeom>
          <a:noFill/>
          <a:ln/>
        </p:spPr>
        <p:txBody>
          <a:bodyPr wrap="square" rtlCol="0" anchor="ctr"/>
          <a:lstStyle/>
          <a:p>
            <a:pPr marL="0" indent="0" algn="ctr">
              <a:lnSpc>
                <a:spcPts val="1200"/>
              </a:lnSpc>
              <a:buNone/>
            </a:pPr>
            <a:r>
              <a:rPr lang="en-US" sz="950" dirty="0">
                <a:solidFill>
                  <a:srgbClr val="9FB0C7"/>
                </a:solidFill>
                <a:latin typeface="Calibri" pitchFamily="34" charset="0"/>
                <a:ea typeface="Calibri" pitchFamily="34" charset="-122"/>
                <a:cs typeface="Calibri" pitchFamily="34" charset="-120"/>
              </a:rPr>
              <a:t>ML risk score</a:t>
            </a:r>
            <a:endParaRPr lang="en-US" sz="950" dirty="0"/>
          </a:p>
        </p:txBody>
      </p:sp>
      <p:sp>
        <p:nvSpPr>
          <p:cNvPr id="21" name="Shape 19"/>
          <p:cNvSpPr/>
          <p:nvPr/>
        </p:nvSpPr>
        <p:spPr>
          <a:xfrm>
            <a:off x="5961888" y="3017520"/>
            <a:ext cx="137160" cy="164592"/>
          </a:xfrm>
          <a:prstGeom prst="rightArrow">
            <a:avLst/>
          </a:prstGeom>
          <a:solidFill>
            <a:srgbClr val="5D7391"/>
          </a:solidFill>
          <a:ln/>
        </p:spPr>
      </p:sp>
      <p:sp>
        <p:nvSpPr>
          <p:cNvPr id="22" name="Shape 20"/>
          <p:cNvSpPr/>
          <p:nvPr/>
        </p:nvSpPr>
        <p:spPr>
          <a:xfrm>
            <a:off x="6071616" y="2194560"/>
            <a:ext cx="1691640" cy="1828800"/>
          </a:xfrm>
          <a:prstGeom prst="roundRect">
            <a:avLst>
              <a:gd name="adj" fmla="val 4324"/>
            </a:avLst>
          </a:prstGeom>
          <a:solidFill>
            <a:srgbClr val="0F1826"/>
          </a:solidFill>
          <a:ln w="12700">
            <a:solidFill>
              <a:srgbClr val="F5A623"/>
            </a:solidFill>
            <a:prstDash val="solid"/>
          </a:ln>
          <a:effectLst>
            <a:outerShdw blurRad="101600" dist="38100" dir="5400000" algn="bl" rotWithShape="0">
              <a:srgbClr val="000000">
                <a:alpha val="35000"/>
              </a:srgbClr>
            </a:outerShdw>
          </a:effectLst>
        </p:spPr>
      </p:sp>
      <p:sp>
        <p:nvSpPr>
          <p:cNvPr id="23" name="Shape 21"/>
          <p:cNvSpPr/>
          <p:nvPr/>
        </p:nvSpPr>
        <p:spPr>
          <a:xfrm>
            <a:off x="6661404" y="2423160"/>
            <a:ext cx="512064" cy="512064"/>
          </a:xfrm>
          <a:prstGeom prst="ellipse">
            <a:avLst/>
          </a:prstGeom>
          <a:solidFill>
            <a:srgbClr val="F5A623">
              <a:alpha val="22000"/>
            </a:srgbClr>
          </a:solidFill>
          <a:ln w="19050">
            <a:solidFill>
              <a:srgbClr val="F5A623"/>
            </a:solidFill>
            <a:prstDash val="solid"/>
          </a:ln>
        </p:spPr>
      </p:sp>
      <p:sp>
        <p:nvSpPr>
          <p:cNvPr id="24" name="Text 22"/>
          <p:cNvSpPr/>
          <p:nvPr/>
        </p:nvSpPr>
        <p:spPr>
          <a:xfrm>
            <a:off x="6661404" y="2423160"/>
            <a:ext cx="512064" cy="512064"/>
          </a:xfrm>
          <a:prstGeom prst="rect">
            <a:avLst/>
          </a:prstGeom>
          <a:noFill/>
          <a:ln/>
        </p:spPr>
        <p:txBody>
          <a:bodyPr wrap="square" rtlCol="0" anchor="ctr"/>
          <a:lstStyle/>
          <a:p>
            <a:pPr marL="0" indent="0" algn="ctr">
              <a:buNone/>
            </a:pPr>
            <a:r>
              <a:rPr lang="en-US" sz="1800" b="1" dirty="0">
                <a:solidFill>
                  <a:srgbClr val="F5A623"/>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6163056" y="3063240"/>
            <a:ext cx="1508760" cy="320040"/>
          </a:xfrm>
          <a:prstGeom prst="rect">
            <a:avLst/>
          </a:prstGeom>
          <a:noFill/>
          <a:ln/>
        </p:spPr>
        <p:txBody>
          <a:bodyPr wrap="square" rtlCol="0" anchor="ctr"/>
          <a:lstStyle/>
          <a:p>
            <a:pPr marL="0" indent="0" algn="ctr">
              <a:buNone/>
            </a:pPr>
            <a:r>
              <a:rPr lang="en-US" sz="1200" b="1" dirty="0">
                <a:solidFill>
                  <a:srgbClr val="F3F7FB"/>
                </a:solidFill>
                <a:latin typeface="Calibri" pitchFamily="34" charset="0"/>
                <a:ea typeface="Calibri" pitchFamily="34" charset="-122"/>
                <a:cs typeface="Calibri" pitchFamily="34" charset="-120"/>
              </a:rPr>
              <a:t>CORRELATE</a:t>
            </a:r>
            <a:endParaRPr lang="en-US" sz="1200" dirty="0"/>
          </a:p>
        </p:txBody>
      </p:sp>
      <p:sp>
        <p:nvSpPr>
          <p:cNvPr id="26" name="Text 24"/>
          <p:cNvSpPr/>
          <p:nvPr/>
        </p:nvSpPr>
        <p:spPr>
          <a:xfrm>
            <a:off x="6163056" y="3429000"/>
            <a:ext cx="1508760" cy="548640"/>
          </a:xfrm>
          <a:prstGeom prst="rect">
            <a:avLst/>
          </a:prstGeom>
          <a:noFill/>
          <a:ln/>
        </p:spPr>
        <p:txBody>
          <a:bodyPr wrap="square" rtlCol="0" anchor="ctr"/>
          <a:lstStyle/>
          <a:p>
            <a:pPr marL="0" indent="0" algn="ctr">
              <a:lnSpc>
                <a:spcPts val="1200"/>
              </a:lnSpc>
              <a:buNone/>
            </a:pPr>
            <a:r>
              <a:rPr lang="en-US" sz="950" dirty="0">
                <a:solidFill>
                  <a:srgbClr val="9FB0C7"/>
                </a:solidFill>
                <a:latin typeface="Calibri" pitchFamily="34" charset="0"/>
                <a:ea typeface="Calibri" pitchFamily="34" charset="-122"/>
                <a:cs typeface="Calibri" pitchFamily="34" charset="-120"/>
              </a:rPr>
              <a:t>Grid + geography + neighbors</a:t>
            </a:r>
            <a:endParaRPr lang="en-US" sz="950" dirty="0"/>
          </a:p>
        </p:txBody>
      </p:sp>
      <p:sp>
        <p:nvSpPr>
          <p:cNvPr id="27" name="Shape 25"/>
          <p:cNvSpPr/>
          <p:nvPr/>
        </p:nvSpPr>
        <p:spPr>
          <a:xfrm>
            <a:off x="7772400" y="3017520"/>
            <a:ext cx="137160" cy="164592"/>
          </a:xfrm>
          <a:prstGeom prst="rightArrow">
            <a:avLst/>
          </a:prstGeom>
          <a:solidFill>
            <a:srgbClr val="5D7391"/>
          </a:solidFill>
          <a:ln/>
        </p:spPr>
      </p:sp>
      <p:sp>
        <p:nvSpPr>
          <p:cNvPr id="28" name="Shape 26"/>
          <p:cNvSpPr/>
          <p:nvPr/>
        </p:nvSpPr>
        <p:spPr>
          <a:xfrm>
            <a:off x="7882128" y="2194560"/>
            <a:ext cx="1691640" cy="1828800"/>
          </a:xfrm>
          <a:prstGeom prst="roundRect">
            <a:avLst>
              <a:gd name="adj" fmla="val 4324"/>
            </a:avLst>
          </a:prstGeom>
          <a:solidFill>
            <a:srgbClr val="0F1826"/>
          </a:solidFill>
          <a:ln w="12700">
            <a:solidFill>
              <a:srgbClr val="EF4A4A"/>
            </a:solidFill>
            <a:prstDash val="solid"/>
          </a:ln>
          <a:effectLst>
            <a:outerShdw blurRad="101600" dist="38100" dir="5400000" algn="bl" rotWithShape="0">
              <a:srgbClr val="000000">
                <a:alpha val="35000"/>
              </a:srgbClr>
            </a:outerShdw>
          </a:effectLst>
        </p:spPr>
      </p:sp>
      <p:sp>
        <p:nvSpPr>
          <p:cNvPr id="29" name="Shape 27"/>
          <p:cNvSpPr/>
          <p:nvPr/>
        </p:nvSpPr>
        <p:spPr>
          <a:xfrm>
            <a:off x="8471916" y="2423160"/>
            <a:ext cx="512064" cy="512064"/>
          </a:xfrm>
          <a:prstGeom prst="ellipse">
            <a:avLst/>
          </a:prstGeom>
          <a:solidFill>
            <a:srgbClr val="EF4A4A">
              <a:alpha val="22000"/>
            </a:srgbClr>
          </a:solidFill>
          <a:ln w="19050">
            <a:solidFill>
              <a:srgbClr val="EF4A4A"/>
            </a:solidFill>
            <a:prstDash val="solid"/>
          </a:ln>
        </p:spPr>
      </p:sp>
      <p:sp>
        <p:nvSpPr>
          <p:cNvPr id="30" name="Text 28"/>
          <p:cNvSpPr/>
          <p:nvPr/>
        </p:nvSpPr>
        <p:spPr>
          <a:xfrm>
            <a:off x="8471916" y="2423160"/>
            <a:ext cx="512064" cy="512064"/>
          </a:xfrm>
          <a:prstGeom prst="rect">
            <a:avLst/>
          </a:prstGeom>
          <a:noFill/>
          <a:ln/>
        </p:spPr>
        <p:txBody>
          <a:bodyPr wrap="square" rtlCol="0" anchor="ctr"/>
          <a:lstStyle/>
          <a:p>
            <a:pPr marL="0" indent="0" algn="ctr">
              <a:buNone/>
            </a:pPr>
            <a:r>
              <a:rPr lang="en-US" sz="1800" b="1" dirty="0">
                <a:solidFill>
                  <a:srgbClr val="EF4A4A"/>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7973568" y="3063240"/>
            <a:ext cx="1508760" cy="320040"/>
          </a:xfrm>
          <a:prstGeom prst="rect">
            <a:avLst/>
          </a:prstGeom>
          <a:noFill/>
          <a:ln/>
        </p:spPr>
        <p:txBody>
          <a:bodyPr wrap="square" rtlCol="0" anchor="ctr"/>
          <a:lstStyle/>
          <a:p>
            <a:pPr marL="0" indent="0" algn="ctr">
              <a:buNone/>
            </a:pPr>
            <a:r>
              <a:rPr lang="en-US" sz="1200" b="1" dirty="0">
                <a:solidFill>
                  <a:srgbClr val="F3F7FB"/>
                </a:solidFill>
                <a:latin typeface="Calibri" pitchFamily="34" charset="0"/>
                <a:ea typeface="Calibri" pitchFamily="34" charset="-122"/>
                <a:cs typeface="Calibri" pitchFamily="34" charset="-120"/>
              </a:rPr>
              <a:t>INVESTIGATE</a:t>
            </a:r>
            <a:endParaRPr lang="en-US" sz="1200" dirty="0"/>
          </a:p>
        </p:txBody>
      </p:sp>
      <p:sp>
        <p:nvSpPr>
          <p:cNvPr id="32" name="Text 30"/>
          <p:cNvSpPr/>
          <p:nvPr/>
        </p:nvSpPr>
        <p:spPr>
          <a:xfrm>
            <a:off x="7973568" y="3429000"/>
            <a:ext cx="1508760" cy="548640"/>
          </a:xfrm>
          <a:prstGeom prst="rect">
            <a:avLst/>
          </a:prstGeom>
          <a:noFill/>
          <a:ln/>
        </p:spPr>
        <p:txBody>
          <a:bodyPr wrap="square" rtlCol="0" anchor="ctr"/>
          <a:lstStyle/>
          <a:p>
            <a:pPr marL="0" indent="0" algn="ctr">
              <a:lnSpc>
                <a:spcPts val="1200"/>
              </a:lnSpc>
              <a:buNone/>
            </a:pPr>
            <a:r>
              <a:rPr lang="en-US" sz="950" dirty="0">
                <a:solidFill>
                  <a:srgbClr val="9FB0C7"/>
                </a:solidFill>
                <a:latin typeface="Calibri" pitchFamily="34" charset="0"/>
                <a:ea typeface="Calibri" pitchFamily="34" charset="-122"/>
                <a:cs typeface="Calibri" pitchFamily="34" charset="-120"/>
              </a:rPr>
              <a:t>Grid-level evidence</a:t>
            </a:r>
            <a:endParaRPr lang="en-US" sz="950" dirty="0"/>
          </a:p>
        </p:txBody>
      </p:sp>
      <p:sp>
        <p:nvSpPr>
          <p:cNvPr id="33" name="Shape 31"/>
          <p:cNvSpPr/>
          <p:nvPr/>
        </p:nvSpPr>
        <p:spPr>
          <a:xfrm>
            <a:off x="9582912" y="3017520"/>
            <a:ext cx="137160" cy="164592"/>
          </a:xfrm>
          <a:prstGeom prst="rightArrow">
            <a:avLst/>
          </a:prstGeom>
          <a:solidFill>
            <a:srgbClr val="5D7391"/>
          </a:solidFill>
          <a:ln/>
        </p:spPr>
      </p:sp>
      <p:sp>
        <p:nvSpPr>
          <p:cNvPr id="34" name="Shape 32"/>
          <p:cNvSpPr/>
          <p:nvPr/>
        </p:nvSpPr>
        <p:spPr>
          <a:xfrm>
            <a:off x="9692640" y="2194560"/>
            <a:ext cx="1691640" cy="1828800"/>
          </a:xfrm>
          <a:prstGeom prst="roundRect">
            <a:avLst>
              <a:gd name="adj" fmla="val 4324"/>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35" name="Shape 33"/>
          <p:cNvSpPr/>
          <p:nvPr/>
        </p:nvSpPr>
        <p:spPr>
          <a:xfrm>
            <a:off x="10282428" y="2423160"/>
            <a:ext cx="512064" cy="512064"/>
          </a:xfrm>
          <a:prstGeom prst="ellipse">
            <a:avLst/>
          </a:prstGeom>
          <a:solidFill>
            <a:srgbClr val="34D399">
              <a:alpha val="22000"/>
            </a:srgbClr>
          </a:solidFill>
          <a:ln w="19050">
            <a:solidFill>
              <a:srgbClr val="34D399"/>
            </a:solidFill>
            <a:prstDash val="solid"/>
          </a:ln>
        </p:spPr>
      </p:sp>
      <p:sp>
        <p:nvSpPr>
          <p:cNvPr id="36" name="Text 34"/>
          <p:cNvSpPr/>
          <p:nvPr/>
        </p:nvSpPr>
        <p:spPr>
          <a:xfrm>
            <a:off x="10282428" y="2423160"/>
            <a:ext cx="512064" cy="512064"/>
          </a:xfrm>
          <a:prstGeom prst="rect">
            <a:avLst/>
          </a:prstGeom>
          <a:noFill/>
          <a:ln/>
        </p:spPr>
        <p:txBody>
          <a:bodyPr wrap="square" rtlCol="0" anchor="ctr"/>
          <a:lstStyle/>
          <a:p>
            <a:pPr marL="0" indent="0" algn="ctr">
              <a:buNone/>
            </a:pPr>
            <a:r>
              <a:rPr lang="en-US" sz="1800" b="1" dirty="0">
                <a:solidFill>
                  <a:srgbClr val="34D399"/>
                </a:solidFill>
                <a:latin typeface="Cambria" pitchFamily="34" charset="0"/>
                <a:ea typeface="Cambria" pitchFamily="34" charset="-122"/>
                <a:cs typeface="Cambria" pitchFamily="34" charset="-120"/>
              </a:rPr>
              <a:t>6</a:t>
            </a:r>
            <a:endParaRPr lang="en-US" sz="1800" dirty="0"/>
          </a:p>
        </p:txBody>
      </p:sp>
      <p:sp>
        <p:nvSpPr>
          <p:cNvPr id="37" name="Text 35"/>
          <p:cNvSpPr/>
          <p:nvPr/>
        </p:nvSpPr>
        <p:spPr>
          <a:xfrm>
            <a:off x="9784080" y="3063240"/>
            <a:ext cx="1508760" cy="320040"/>
          </a:xfrm>
          <a:prstGeom prst="rect">
            <a:avLst/>
          </a:prstGeom>
          <a:noFill/>
          <a:ln/>
        </p:spPr>
        <p:txBody>
          <a:bodyPr wrap="square" rtlCol="0" anchor="ctr"/>
          <a:lstStyle/>
          <a:p>
            <a:pPr marL="0" indent="0" algn="ctr">
              <a:buNone/>
            </a:pPr>
            <a:r>
              <a:rPr lang="en-US" sz="1200" b="1" dirty="0">
                <a:solidFill>
                  <a:srgbClr val="F3F7FB"/>
                </a:solidFill>
                <a:latin typeface="Calibri" pitchFamily="34" charset="0"/>
                <a:ea typeface="Calibri" pitchFamily="34" charset="-122"/>
                <a:cs typeface="Calibri" pitchFamily="34" charset="-120"/>
              </a:rPr>
              <a:t>ACT</a:t>
            </a:r>
            <a:endParaRPr lang="en-US" sz="1200" dirty="0"/>
          </a:p>
        </p:txBody>
      </p:sp>
      <p:sp>
        <p:nvSpPr>
          <p:cNvPr id="38" name="Text 36"/>
          <p:cNvSpPr/>
          <p:nvPr/>
        </p:nvSpPr>
        <p:spPr>
          <a:xfrm>
            <a:off x="9784080" y="3429000"/>
            <a:ext cx="1508760" cy="548640"/>
          </a:xfrm>
          <a:prstGeom prst="rect">
            <a:avLst/>
          </a:prstGeom>
          <a:noFill/>
          <a:ln/>
        </p:spPr>
        <p:txBody>
          <a:bodyPr wrap="square" rtlCol="0" anchor="ctr"/>
          <a:lstStyle/>
          <a:p>
            <a:pPr marL="0" indent="0" algn="ctr">
              <a:lnSpc>
                <a:spcPts val="1200"/>
              </a:lnSpc>
              <a:buNone/>
            </a:pPr>
            <a:r>
              <a:rPr lang="en-US" sz="950" dirty="0">
                <a:solidFill>
                  <a:srgbClr val="9FB0C7"/>
                </a:solidFill>
                <a:latin typeface="Calibri" pitchFamily="34" charset="0"/>
                <a:ea typeface="Calibri" pitchFamily="34" charset="-122"/>
                <a:cs typeface="Calibri" pitchFamily="34" charset="-120"/>
              </a:rPr>
              <a:t>NOC operational response</a:t>
            </a:r>
            <a:endParaRPr lang="en-US" sz="950" dirty="0"/>
          </a:p>
        </p:txBody>
      </p:sp>
      <p:sp>
        <p:nvSpPr>
          <p:cNvPr id="39" name="Shape 37"/>
          <p:cNvSpPr/>
          <p:nvPr/>
        </p:nvSpPr>
        <p:spPr>
          <a:xfrm>
            <a:off x="640080" y="4434840"/>
            <a:ext cx="10881360" cy="1005840"/>
          </a:xfrm>
          <a:prstGeom prst="roundRect">
            <a:avLst>
              <a:gd name="adj" fmla="val 7273"/>
            </a:avLst>
          </a:prstGeom>
          <a:solidFill>
            <a:srgbClr val="141F32"/>
          </a:solidFill>
          <a:ln w="12700">
            <a:solidFill>
              <a:srgbClr val="22D3C8"/>
            </a:solidFill>
            <a:prstDash val="solid"/>
          </a:ln>
          <a:effectLst>
            <a:outerShdw blurRad="101600" dist="38100" dir="5400000" algn="bl" rotWithShape="0">
              <a:srgbClr val="000000">
                <a:alpha val="35000"/>
              </a:srgbClr>
            </a:outerShdw>
          </a:effectLst>
        </p:spPr>
      </p:sp>
      <p:sp>
        <p:nvSpPr>
          <p:cNvPr id="40" name="Text 38"/>
          <p:cNvSpPr/>
          <p:nvPr/>
        </p:nvSpPr>
        <p:spPr>
          <a:xfrm>
            <a:off x="914400" y="4434840"/>
            <a:ext cx="10332720" cy="1005840"/>
          </a:xfrm>
          <a:prstGeom prst="rect">
            <a:avLst/>
          </a:prstGeom>
          <a:noFill/>
          <a:ln/>
        </p:spPr>
        <p:txBody>
          <a:bodyPr wrap="square" rtlCol="0" anchor="ctr"/>
          <a:lstStyle/>
          <a:p>
            <a:pPr marL="0" indent="0" algn="ctr">
              <a:buNone/>
            </a:pPr>
            <a:r>
              <a:rPr lang="en-US" sz="2000" b="1" dirty="0">
                <a:solidFill>
                  <a:srgbClr val="F3F7FB"/>
                </a:solidFill>
                <a:latin typeface="Cambria" pitchFamily="34" charset="0"/>
                <a:ea typeface="Cambria" pitchFamily="34" charset="-122"/>
                <a:cs typeface="Cambria" pitchFamily="34" charset="-120"/>
              </a:rPr>
              <a:t>From reactive monitoring to intelligence-assisted investigation.</a:t>
            </a:r>
            <a:endParaRPr lang="en-US" sz="2000" dirty="0"/>
          </a:p>
        </p:txBody>
      </p:sp>
      <p:sp>
        <p:nvSpPr>
          <p:cNvPr id="41" name="Text 3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BUSINESS &amp; OPERATIONAL IMPACT</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What the Platform Changes for the NOC</a:t>
            </a:r>
            <a:endParaRPr lang="en-US" sz="3000" dirty="0"/>
          </a:p>
        </p:txBody>
      </p:sp>
      <p:sp>
        <p:nvSpPr>
          <p:cNvPr id="4" name="Shape 2"/>
          <p:cNvSpPr/>
          <p:nvPr/>
        </p:nvSpPr>
        <p:spPr>
          <a:xfrm>
            <a:off x="640080" y="1691640"/>
            <a:ext cx="2606040" cy="2743200"/>
          </a:xfrm>
          <a:prstGeom prst="roundRect">
            <a:avLst>
              <a:gd name="adj" fmla="val 2807"/>
            </a:avLst>
          </a:prstGeom>
          <a:solidFill>
            <a:srgbClr val="0F1826"/>
          </a:solidFill>
          <a:ln w="12700">
            <a:solidFill>
              <a:srgbClr val="22D3C8"/>
            </a:solidFill>
            <a:prstDash val="solid"/>
          </a:ln>
          <a:effectLst>
            <a:outerShdw blurRad="101600" dist="38100" dir="5400000" algn="bl" rotWithShape="0">
              <a:srgbClr val="000000">
                <a:alpha val="35000"/>
              </a:srgbClr>
            </a:outerShdw>
          </a:effectLst>
        </p:spPr>
      </p:sp>
      <p:sp>
        <p:nvSpPr>
          <p:cNvPr id="5" name="Shape 3"/>
          <p:cNvSpPr/>
          <p:nvPr/>
        </p:nvSpPr>
        <p:spPr>
          <a:xfrm>
            <a:off x="914400" y="1965960"/>
            <a:ext cx="457200" cy="457200"/>
          </a:xfrm>
          <a:prstGeom prst="roundRect">
            <a:avLst>
              <a:gd name="adj" fmla="val 20000"/>
            </a:avLst>
          </a:prstGeom>
          <a:solidFill>
            <a:srgbClr val="22D3C8">
              <a:alpha val="22000"/>
            </a:srgbClr>
          </a:solidFill>
          <a:ln w="15875">
            <a:solidFill>
              <a:srgbClr val="22D3C8"/>
            </a:solidFill>
            <a:prstDash val="solid"/>
          </a:ln>
        </p:spPr>
      </p:sp>
      <p:sp>
        <p:nvSpPr>
          <p:cNvPr id="6" name="Text 4"/>
          <p:cNvSpPr/>
          <p:nvPr/>
        </p:nvSpPr>
        <p:spPr>
          <a:xfrm>
            <a:off x="914400" y="1965960"/>
            <a:ext cx="457200" cy="457200"/>
          </a:xfrm>
          <a:prstGeom prst="rect">
            <a:avLst/>
          </a:prstGeom>
          <a:noFill/>
          <a:ln/>
        </p:spPr>
        <p:txBody>
          <a:bodyPr wrap="square" rtlCol="0" anchor="ctr"/>
          <a:lstStyle/>
          <a:p>
            <a:pPr marL="0" indent="0" algn="ctr">
              <a:buNone/>
            </a:pPr>
            <a:r>
              <a:rPr lang="en-US" sz="1600" b="1" dirty="0">
                <a:solidFill>
                  <a:srgbClr val="22D3C8"/>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914400" y="2606040"/>
            <a:ext cx="2057400" cy="594360"/>
          </a:xfrm>
          <a:prstGeom prst="rect">
            <a:avLst/>
          </a:prstGeom>
          <a:noFill/>
          <a:ln/>
        </p:spPr>
        <p:txBody>
          <a:bodyPr wrap="square" rtlCol="0" anchor="ctr"/>
          <a:lstStyle/>
          <a:p>
            <a:pPr marL="0" indent="0">
              <a:lnSpc>
                <a:spcPts val="1700"/>
              </a:lnSpc>
              <a:buNone/>
            </a:pPr>
            <a:r>
              <a:rPr lang="en-US" sz="1500" b="1" dirty="0">
                <a:solidFill>
                  <a:srgbClr val="F3F7FB"/>
                </a:solidFill>
                <a:latin typeface="Cambria" pitchFamily="34" charset="0"/>
                <a:ea typeface="Cambria" pitchFamily="34" charset="-122"/>
                <a:cs typeface="Cambria" pitchFamily="34" charset="-120"/>
              </a:rPr>
              <a:t>Improved Visibility</a:t>
            </a:r>
            <a:endParaRPr lang="en-US" sz="1500" dirty="0"/>
          </a:p>
        </p:txBody>
      </p:sp>
      <p:sp>
        <p:nvSpPr>
          <p:cNvPr id="8" name="Text 6"/>
          <p:cNvSpPr/>
          <p:nvPr/>
        </p:nvSpPr>
        <p:spPr>
          <a:xfrm>
            <a:off x="914400" y="3246120"/>
            <a:ext cx="2057400" cy="100584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A single, consolidated view replaces fragmented raw feeds.</a:t>
            </a:r>
            <a:endParaRPr lang="en-US" sz="1150" dirty="0"/>
          </a:p>
        </p:txBody>
      </p:sp>
      <p:sp>
        <p:nvSpPr>
          <p:cNvPr id="9" name="Shape 7"/>
          <p:cNvSpPr/>
          <p:nvPr/>
        </p:nvSpPr>
        <p:spPr>
          <a:xfrm>
            <a:off x="3502152" y="1691640"/>
            <a:ext cx="2606040" cy="2743200"/>
          </a:xfrm>
          <a:prstGeom prst="roundRect">
            <a:avLst>
              <a:gd name="adj" fmla="val 2807"/>
            </a:avLst>
          </a:prstGeom>
          <a:solidFill>
            <a:srgbClr val="0F1826"/>
          </a:solidFill>
          <a:ln w="12700">
            <a:solidFill>
              <a:srgbClr val="F5A623"/>
            </a:solidFill>
            <a:prstDash val="solid"/>
          </a:ln>
          <a:effectLst>
            <a:outerShdw blurRad="101600" dist="38100" dir="5400000" algn="bl" rotWithShape="0">
              <a:srgbClr val="000000">
                <a:alpha val="35000"/>
              </a:srgbClr>
            </a:outerShdw>
          </a:effectLst>
        </p:spPr>
      </p:sp>
      <p:sp>
        <p:nvSpPr>
          <p:cNvPr id="10" name="Shape 8"/>
          <p:cNvSpPr/>
          <p:nvPr/>
        </p:nvSpPr>
        <p:spPr>
          <a:xfrm>
            <a:off x="3776472" y="1965960"/>
            <a:ext cx="457200" cy="457200"/>
          </a:xfrm>
          <a:prstGeom prst="roundRect">
            <a:avLst>
              <a:gd name="adj" fmla="val 20000"/>
            </a:avLst>
          </a:prstGeom>
          <a:solidFill>
            <a:srgbClr val="F5A623">
              <a:alpha val="22000"/>
            </a:srgbClr>
          </a:solidFill>
          <a:ln w="15875">
            <a:solidFill>
              <a:srgbClr val="F5A623"/>
            </a:solidFill>
            <a:prstDash val="solid"/>
          </a:ln>
        </p:spPr>
      </p:sp>
      <p:sp>
        <p:nvSpPr>
          <p:cNvPr id="11" name="Text 9"/>
          <p:cNvSpPr/>
          <p:nvPr/>
        </p:nvSpPr>
        <p:spPr>
          <a:xfrm>
            <a:off x="3776472" y="1965960"/>
            <a:ext cx="457200" cy="457200"/>
          </a:xfrm>
          <a:prstGeom prst="rect">
            <a:avLst/>
          </a:prstGeom>
          <a:noFill/>
          <a:ln/>
        </p:spPr>
        <p:txBody>
          <a:bodyPr wrap="square" rtlCol="0" anchor="ctr"/>
          <a:lstStyle/>
          <a:p>
            <a:pPr marL="0" indent="0" algn="ctr">
              <a:buNone/>
            </a:pPr>
            <a:r>
              <a:rPr lang="en-US" sz="1600" b="1" dirty="0">
                <a:solidFill>
                  <a:srgbClr val="F5A623"/>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776472" y="2606040"/>
            <a:ext cx="2057400" cy="594360"/>
          </a:xfrm>
          <a:prstGeom prst="rect">
            <a:avLst/>
          </a:prstGeom>
          <a:noFill/>
          <a:ln/>
        </p:spPr>
        <p:txBody>
          <a:bodyPr wrap="square" rtlCol="0" anchor="ctr"/>
          <a:lstStyle/>
          <a:p>
            <a:pPr marL="0" indent="0">
              <a:lnSpc>
                <a:spcPts val="1700"/>
              </a:lnSpc>
              <a:buNone/>
            </a:pPr>
            <a:r>
              <a:rPr lang="en-US" sz="1500" b="1" dirty="0">
                <a:solidFill>
                  <a:srgbClr val="F3F7FB"/>
                </a:solidFill>
                <a:latin typeface="Cambria" pitchFamily="34" charset="0"/>
                <a:ea typeface="Cambria" pitchFamily="34" charset="-122"/>
                <a:cs typeface="Cambria" pitchFamily="34" charset="-120"/>
              </a:rPr>
              <a:t>Faster Prioritization</a:t>
            </a:r>
            <a:endParaRPr lang="en-US" sz="1500" dirty="0"/>
          </a:p>
        </p:txBody>
      </p:sp>
      <p:sp>
        <p:nvSpPr>
          <p:cNvPr id="13" name="Text 11"/>
          <p:cNvSpPr/>
          <p:nvPr/>
        </p:nvSpPr>
        <p:spPr>
          <a:xfrm>
            <a:off x="3776472" y="3246120"/>
            <a:ext cx="2057400" cy="100584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Risk-scored cells surface the conditions that matter first.</a:t>
            </a:r>
            <a:endParaRPr lang="en-US" sz="1150" dirty="0"/>
          </a:p>
        </p:txBody>
      </p:sp>
      <p:sp>
        <p:nvSpPr>
          <p:cNvPr id="14" name="Shape 12"/>
          <p:cNvSpPr/>
          <p:nvPr/>
        </p:nvSpPr>
        <p:spPr>
          <a:xfrm>
            <a:off x="6364224" y="1691640"/>
            <a:ext cx="2606040" cy="2743200"/>
          </a:xfrm>
          <a:prstGeom prst="roundRect">
            <a:avLst>
              <a:gd name="adj" fmla="val 2807"/>
            </a:avLst>
          </a:prstGeom>
          <a:solidFill>
            <a:srgbClr val="0F1826"/>
          </a:solidFill>
          <a:ln w="12700">
            <a:solidFill>
              <a:srgbClr val="34D399"/>
            </a:solidFill>
            <a:prstDash val="solid"/>
          </a:ln>
          <a:effectLst>
            <a:outerShdw blurRad="101600" dist="38100" dir="5400000" algn="bl" rotWithShape="0">
              <a:srgbClr val="000000">
                <a:alpha val="35000"/>
              </a:srgbClr>
            </a:outerShdw>
          </a:effectLst>
        </p:spPr>
      </p:sp>
      <p:sp>
        <p:nvSpPr>
          <p:cNvPr id="15" name="Shape 13"/>
          <p:cNvSpPr/>
          <p:nvPr/>
        </p:nvSpPr>
        <p:spPr>
          <a:xfrm>
            <a:off x="6638544" y="1965960"/>
            <a:ext cx="457200" cy="457200"/>
          </a:xfrm>
          <a:prstGeom prst="roundRect">
            <a:avLst>
              <a:gd name="adj" fmla="val 20000"/>
            </a:avLst>
          </a:prstGeom>
          <a:solidFill>
            <a:srgbClr val="34D399">
              <a:alpha val="22000"/>
            </a:srgbClr>
          </a:solidFill>
          <a:ln w="15875">
            <a:solidFill>
              <a:srgbClr val="34D399"/>
            </a:solidFill>
            <a:prstDash val="solid"/>
          </a:ln>
        </p:spPr>
      </p:sp>
      <p:sp>
        <p:nvSpPr>
          <p:cNvPr id="16" name="Text 14"/>
          <p:cNvSpPr/>
          <p:nvPr/>
        </p:nvSpPr>
        <p:spPr>
          <a:xfrm>
            <a:off x="6638544" y="1965960"/>
            <a:ext cx="457200" cy="457200"/>
          </a:xfrm>
          <a:prstGeom prst="rect">
            <a:avLst/>
          </a:prstGeom>
          <a:noFill/>
          <a:ln/>
        </p:spPr>
        <p:txBody>
          <a:bodyPr wrap="square" rtlCol="0" anchor="ctr"/>
          <a:lstStyle/>
          <a:p>
            <a:pPr marL="0" indent="0" algn="ctr">
              <a:buNone/>
            </a:pPr>
            <a:r>
              <a:rPr lang="en-US" sz="1600" b="1" dirty="0">
                <a:solidFill>
                  <a:srgbClr val="34D399"/>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638544" y="2606040"/>
            <a:ext cx="2057400" cy="594360"/>
          </a:xfrm>
          <a:prstGeom prst="rect">
            <a:avLst/>
          </a:prstGeom>
          <a:noFill/>
          <a:ln/>
        </p:spPr>
        <p:txBody>
          <a:bodyPr wrap="square" rtlCol="0" anchor="ctr"/>
          <a:lstStyle/>
          <a:p>
            <a:pPr marL="0" indent="0">
              <a:lnSpc>
                <a:spcPts val="1700"/>
              </a:lnSpc>
              <a:buNone/>
            </a:pPr>
            <a:r>
              <a:rPr lang="en-US" sz="1500" b="1" dirty="0">
                <a:solidFill>
                  <a:srgbClr val="F3F7FB"/>
                </a:solidFill>
                <a:latin typeface="Cambria" pitchFamily="34" charset="0"/>
                <a:ea typeface="Cambria" pitchFamily="34" charset="-122"/>
                <a:cs typeface="Cambria" pitchFamily="34" charset="-120"/>
              </a:rPr>
              <a:t>Geographic Context</a:t>
            </a:r>
            <a:endParaRPr lang="en-US" sz="1500" dirty="0"/>
          </a:p>
        </p:txBody>
      </p:sp>
      <p:sp>
        <p:nvSpPr>
          <p:cNvPr id="18" name="Text 16"/>
          <p:cNvSpPr/>
          <p:nvPr/>
        </p:nvSpPr>
        <p:spPr>
          <a:xfrm>
            <a:off x="6638544" y="3246120"/>
            <a:ext cx="2057400" cy="100584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Alerts are tied to location, not just an abstract ID.</a:t>
            </a:r>
            <a:endParaRPr lang="en-US" sz="1150" dirty="0"/>
          </a:p>
        </p:txBody>
      </p:sp>
      <p:sp>
        <p:nvSpPr>
          <p:cNvPr id="19" name="Shape 17"/>
          <p:cNvSpPr/>
          <p:nvPr/>
        </p:nvSpPr>
        <p:spPr>
          <a:xfrm>
            <a:off x="9226296" y="1691640"/>
            <a:ext cx="2606040" cy="2743200"/>
          </a:xfrm>
          <a:prstGeom prst="roundRect">
            <a:avLst>
              <a:gd name="adj" fmla="val 2807"/>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20" name="Shape 18"/>
          <p:cNvSpPr/>
          <p:nvPr/>
        </p:nvSpPr>
        <p:spPr>
          <a:xfrm>
            <a:off x="9500616" y="1965960"/>
            <a:ext cx="457200" cy="457200"/>
          </a:xfrm>
          <a:prstGeom prst="roundRect">
            <a:avLst>
              <a:gd name="adj" fmla="val 20000"/>
            </a:avLst>
          </a:prstGeom>
          <a:solidFill>
            <a:srgbClr val="4C8DFF">
              <a:alpha val="22000"/>
            </a:srgbClr>
          </a:solidFill>
          <a:ln w="15875">
            <a:solidFill>
              <a:srgbClr val="4C8DFF"/>
            </a:solidFill>
            <a:prstDash val="solid"/>
          </a:ln>
        </p:spPr>
      </p:sp>
      <p:sp>
        <p:nvSpPr>
          <p:cNvPr id="21" name="Text 19"/>
          <p:cNvSpPr/>
          <p:nvPr/>
        </p:nvSpPr>
        <p:spPr>
          <a:xfrm>
            <a:off x="9500616" y="1965960"/>
            <a:ext cx="457200" cy="457200"/>
          </a:xfrm>
          <a:prstGeom prst="rect">
            <a:avLst/>
          </a:prstGeom>
          <a:noFill/>
          <a:ln/>
        </p:spPr>
        <p:txBody>
          <a:bodyPr wrap="square" rtlCol="0" anchor="ctr"/>
          <a:lstStyle/>
          <a:p>
            <a:pPr marL="0" indent="0" algn="ctr">
              <a:buNone/>
            </a:pPr>
            <a:r>
              <a:rPr lang="en-US" sz="1600" b="1" dirty="0">
                <a:solidFill>
                  <a:srgbClr val="4C8D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500616" y="2606040"/>
            <a:ext cx="2057400" cy="594360"/>
          </a:xfrm>
          <a:prstGeom prst="rect">
            <a:avLst/>
          </a:prstGeom>
          <a:noFill/>
          <a:ln/>
        </p:spPr>
        <p:txBody>
          <a:bodyPr wrap="square" rtlCol="0" anchor="ctr"/>
          <a:lstStyle/>
          <a:p>
            <a:pPr marL="0" indent="0">
              <a:lnSpc>
                <a:spcPts val="1700"/>
              </a:lnSpc>
              <a:buNone/>
            </a:pPr>
            <a:r>
              <a:rPr lang="en-US" sz="1500" b="1" dirty="0">
                <a:solidFill>
                  <a:srgbClr val="F3F7FB"/>
                </a:solidFill>
                <a:latin typeface="Cambria" pitchFamily="34" charset="0"/>
                <a:ea typeface="Cambria" pitchFamily="34" charset="-122"/>
                <a:cs typeface="Cambria" pitchFamily="34" charset="-120"/>
              </a:rPr>
              <a:t>Reduced Manual Effort</a:t>
            </a:r>
            <a:endParaRPr lang="en-US" sz="1500" dirty="0"/>
          </a:p>
        </p:txBody>
      </p:sp>
      <p:sp>
        <p:nvSpPr>
          <p:cNvPr id="23" name="Text 21"/>
          <p:cNvSpPr/>
          <p:nvPr/>
        </p:nvSpPr>
        <p:spPr>
          <a:xfrm>
            <a:off x="9500616" y="3246120"/>
            <a:ext cx="2057400" cy="1005840"/>
          </a:xfrm>
          <a:prstGeom prst="rect">
            <a:avLst/>
          </a:prstGeom>
          <a:noFill/>
          <a:ln/>
        </p:spPr>
        <p:txBody>
          <a:bodyPr wrap="square" rtlCol="0" anchor="ctr"/>
          <a:lstStyle/>
          <a:p>
            <a:pPr marL="0" indent="0">
              <a:lnSpc>
                <a:spcPts val="1500"/>
              </a:lnSpc>
              <a:buNone/>
            </a:pPr>
            <a:r>
              <a:rPr lang="en-US" sz="1150" dirty="0">
                <a:solidFill>
                  <a:srgbClr val="9FB0C7"/>
                </a:solidFill>
                <a:latin typeface="Calibri" pitchFamily="34" charset="0"/>
                <a:ea typeface="Calibri" pitchFamily="34" charset="-122"/>
                <a:cs typeface="Calibri" pitchFamily="34" charset="-120"/>
              </a:rPr>
              <a:t>Structured analytics narrow the scope of investigation.</a:t>
            </a:r>
            <a:endParaRPr lang="en-US" sz="1150" dirty="0"/>
          </a:p>
        </p:txBody>
      </p:sp>
      <p:sp>
        <p:nvSpPr>
          <p:cNvPr id="24" name="Shape 22"/>
          <p:cNvSpPr/>
          <p:nvPr/>
        </p:nvSpPr>
        <p:spPr>
          <a:xfrm>
            <a:off x="640080" y="4754880"/>
            <a:ext cx="10881360" cy="777240"/>
          </a:xfrm>
          <a:prstGeom prst="roundRect">
            <a:avLst>
              <a:gd name="adj" fmla="val 9412"/>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25" name="Text 23"/>
          <p:cNvSpPr/>
          <p:nvPr/>
        </p:nvSpPr>
        <p:spPr>
          <a:xfrm>
            <a:off x="914400" y="4754880"/>
            <a:ext cx="10332720" cy="777240"/>
          </a:xfrm>
          <a:prstGeom prst="rect">
            <a:avLst/>
          </a:prstGeom>
          <a:noFill/>
          <a:ln/>
        </p:spPr>
        <p:txBody>
          <a:bodyPr wrap="square" rtlCol="0" anchor="ctr"/>
          <a:lstStyle/>
          <a:p>
            <a:pPr marL="0" indent="0">
              <a:buNone/>
            </a:pPr>
            <a:r>
              <a:rPr lang="en-US" sz="1150" i="1" dirty="0">
                <a:solidFill>
                  <a:srgbClr val="9FB0C7"/>
                </a:solidFill>
                <a:latin typeface="Calibri" pitchFamily="34" charset="0"/>
                <a:ea typeface="Calibri" pitchFamily="34" charset="-122"/>
                <a:cs typeface="Calibri" pitchFamily="34" charset="-120"/>
              </a:rPr>
              <a:t>These outcomes follow directly from the implemented pipeline — no performance figures or ROI are claimed beyond the architectural capability demonstrated.</a:t>
            </a:r>
            <a:endParaRPr lang="en-US" sz="1150" dirty="0"/>
          </a:p>
        </p:txBody>
      </p:sp>
      <p:sp>
        <p:nvSpPr>
          <p:cNvPr id="26" name="Text 2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ENTERPRISE SECURITY &amp; FUTURE ARCHITECTURE</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Hardening the Platform for Production</a:t>
            </a:r>
            <a:endParaRPr lang="en-US" sz="3000" dirty="0"/>
          </a:p>
        </p:txBody>
      </p:sp>
      <p:sp>
        <p:nvSpPr>
          <p:cNvPr id="4" name="Shape 2"/>
          <p:cNvSpPr/>
          <p:nvPr/>
        </p:nvSpPr>
        <p:spPr>
          <a:xfrm>
            <a:off x="640080" y="1600200"/>
            <a:ext cx="5257800" cy="4480560"/>
          </a:xfrm>
          <a:prstGeom prst="roundRect">
            <a:avLst>
              <a:gd name="adj" fmla="val 1633"/>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5" name="Text 3"/>
          <p:cNvSpPr/>
          <p:nvPr/>
        </p:nvSpPr>
        <p:spPr>
          <a:xfrm>
            <a:off x="914400" y="1783080"/>
            <a:ext cx="4572000" cy="320040"/>
          </a:xfrm>
          <a:prstGeom prst="rect">
            <a:avLst/>
          </a:prstGeom>
          <a:noFill/>
          <a:ln/>
        </p:spPr>
        <p:txBody>
          <a:bodyPr wrap="square" rtlCol="0" anchor="ctr"/>
          <a:lstStyle/>
          <a:p>
            <a:pPr marL="0" indent="0">
              <a:buNone/>
            </a:pPr>
            <a:r>
              <a:rPr lang="en-US" sz="1450" b="1" dirty="0">
                <a:solidFill>
                  <a:srgbClr val="22D3C8"/>
                </a:solidFill>
                <a:latin typeface="Cambria" pitchFamily="34" charset="0"/>
                <a:ea typeface="Cambria" pitchFamily="34" charset="-122"/>
                <a:cs typeface="Cambria" pitchFamily="34" charset="-120"/>
              </a:rPr>
              <a:t>Planned Security Architecture</a:t>
            </a:r>
            <a:endParaRPr lang="en-US" sz="1450" dirty="0"/>
          </a:p>
        </p:txBody>
      </p:sp>
      <p:sp>
        <p:nvSpPr>
          <p:cNvPr id="6" name="Shape 4"/>
          <p:cNvSpPr/>
          <p:nvPr/>
        </p:nvSpPr>
        <p:spPr>
          <a:xfrm>
            <a:off x="914400" y="2240280"/>
            <a:ext cx="4709160" cy="438912"/>
          </a:xfrm>
          <a:prstGeom prst="roundRect">
            <a:avLst>
              <a:gd name="adj" fmla="val 12500"/>
            </a:avLst>
          </a:prstGeom>
          <a:solidFill>
            <a:srgbClr val="0F1826"/>
          </a:solidFill>
          <a:ln w="12700">
            <a:solidFill>
              <a:srgbClr val="223049"/>
            </a:solidFill>
            <a:prstDash val="solid"/>
          </a:ln>
        </p:spPr>
      </p:sp>
      <p:sp>
        <p:nvSpPr>
          <p:cNvPr id="7" name="Text 5"/>
          <p:cNvSpPr/>
          <p:nvPr/>
        </p:nvSpPr>
        <p:spPr>
          <a:xfrm>
            <a:off x="1097280" y="2240280"/>
            <a:ext cx="4389120" cy="438912"/>
          </a:xfrm>
          <a:prstGeom prst="rect">
            <a:avLst/>
          </a:prstGeom>
          <a:noFill/>
          <a:ln/>
        </p:spPr>
        <p:txBody>
          <a:bodyPr wrap="square" rtlCol="0" anchor="ctr"/>
          <a:lstStyle/>
          <a:p>
            <a:pPr marL="0" indent="0">
              <a:buNone/>
            </a:pPr>
            <a:r>
              <a:rPr lang="en-US" sz="1150" dirty="0">
                <a:solidFill>
                  <a:srgbClr val="F3F7FB"/>
                </a:solidFill>
                <a:latin typeface="Calibri" pitchFamily="34" charset="0"/>
                <a:ea typeface="Calibri" pitchFamily="34" charset="-122"/>
                <a:cs typeface="Calibri" pitchFamily="34" charset="-120"/>
              </a:rPr>
              <a:t>Enterprise User</a:t>
            </a:r>
            <a:endParaRPr lang="en-US" sz="1150" dirty="0"/>
          </a:p>
        </p:txBody>
      </p:sp>
      <p:sp>
        <p:nvSpPr>
          <p:cNvPr id="8" name="Text 6"/>
          <p:cNvSpPr/>
          <p:nvPr/>
        </p:nvSpPr>
        <p:spPr>
          <a:xfrm>
            <a:off x="2985516" y="2587752"/>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914400" y="2816352"/>
            <a:ext cx="4709160" cy="438912"/>
          </a:xfrm>
          <a:prstGeom prst="roundRect">
            <a:avLst>
              <a:gd name="adj" fmla="val 12500"/>
            </a:avLst>
          </a:prstGeom>
          <a:solidFill>
            <a:srgbClr val="0F1826"/>
          </a:solidFill>
          <a:ln w="12700">
            <a:solidFill>
              <a:srgbClr val="223049"/>
            </a:solidFill>
            <a:prstDash val="solid"/>
          </a:ln>
        </p:spPr>
      </p:sp>
      <p:sp>
        <p:nvSpPr>
          <p:cNvPr id="10" name="Text 8"/>
          <p:cNvSpPr/>
          <p:nvPr/>
        </p:nvSpPr>
        <p:spPr>
          <a:xfrm>
            <a:off x="1097280" y="2816352"/>
            <a:ext cx="4389120" cy="438912"/>
          </a:xfrm>
          <a:prstGeom prst="rect">
            <a:avLst/>
          </a:prstGeom>
          <a:noFill/>
          <a:ln/>
        </p:spPr>
        <p:txBody>
          <a:bodyPr wrap="square" rtlCol="0" anchor="ctr"/>
          <a:lstStyle/>
          <a:p>
            <a:pPr marL="0" indent="0">
              <a:buNone/>
            </a:pPr>
            <a:r>
              <a:rPr lang="en-US" sz="1150" dirty="0">
                <a:solidFill>
                  <a:srgbClr val="F3F7FB"/>
                </a:solidFill>
                <a:latin typeface="Calibri" pitchFamily="34" charset="0"/>
                <a:ea typeface="Calibri" pitchFamily="34" charset="-122"/>
                <a:cs typeface="Calibri" pitchFamily="34" charset="-120"/>
              </a:rPr>
              <a:t>Login / SSO</a:t>
            </a:r>
            <a:endParaRPr lang="en-US" sz="1150" dirty="0"/>
          </a:p>
        </p:txBody>
      </p:sp>
      <p:sp>
        <p:nvSpPr>
          <p:cNvPr id="11" name="Text 9"/>
          <p:cNvSpPr/>
          <p:nvPr/>
        </p:nvSpPr>
        <p:spPr>
          <a:xfrm>
            <a:off x="2985516" y="3163824"/>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914400" y="3392424"/>
            <a:ext cx="4709160" cy="438912"/>
          </a:xfrm>
          <a:prstGeom prst="roundRect">
            <a:avLst>
              <a:gd name="adj" fmla="val 12500"/>
            </a:avLst>
          </a:prstGeom>
          <a:solidFill>
            <a:srgbClr val="0F1826"/>
          </a:solidFill>
          <a:ln w="12700">
            <a:solidFill>
              <a:srgbClr val="223049"/>
            </a:solidFill>
            <a:prstDash val="solid"/>
          </a:ln>
        </p:spPr>
      </p:sp>
      <p:sp>
        <p:nvSpPr>
          <p:cNvPr id="13" name="Text 11"/>
          <p:cNvSpPr/>
          <p:nvPr/>
        </p:nvSpPr>
        <p:spPr>
          <a:xfrm>
            <a:off x="1097280" y="3392424"/>
            <a:ext cx="4389120" cy="438912"/>
          </a:xfrm>
          <a:prstGeom prst="rect">
            <a:avLst/>
          </a:prstGeom>
          <a:noFill/>
          <a:ln/>
        </p:spPr>
        <p:txBody>
          <a:bodyPr wrap="square" rtlCol="0" anchor="ctr"/>
          <a:lstStyle/>
          <a:p>
            <a:pPr marL="0" indent="0">
              <a:buNone/>
            </a:pPr>
            <a:r>
              <a:rPr lang="en-US" sz="1150" dirty="0">
                <a:solidFill>
                  <a:srgbClr val="F3F7FB"/>
                </a:solidFill>
                <a:latin typeface="Calibri" pitchFamily="34" charset="0"/>
                <a:ea typeface="Calibri" pitchFamily="34" charset="-122"/>
                <a:cs typeface="Calibri" pitchFamily="34" charset="-120"/>
              </a:rPr>
              <a:t>Authentication</a:t>
            </a:r>
            <a:endParaRPr lang="en-US" sz="1150" dirty="0"/>
          </a:p>
        </p:txBody>
      </p:sp>
      <p:sp>
        <p:nvSpPr>
          <p:cNvPr id="14" name="Text 12"/>
          <p:cNvSpPr/>
          <p:nvPr/>
        </p:nvSpPr>
        <p:spPr>
          <a:xfrm>
            <a:off x="2985516" y="3739896"/>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914400" y="3968496"/>
            <a:ext cx="4709160" cy="438912"/>
          </a:xfrm>
          <a:prstGeom prst="roundRect">
            <a:avLst>
              <a:gd name="adj" fmla="val 12500"/>
            </a:avLst>
          </a:prstGeom>
          <a:solidFill>
            <a:srgbClr val="0F1826"/>
          </a:solidFill>
          <a:ln w="12700">
            <a:solidFill>
              <a:srgbClr val="223049"/>
            </a:solidFill>
            <a:prstDash val="solid"/>
          </a:ln>
        </p:spPr>
      </p:sp>
      <p:sp>
        <p:nvSpPr>
          <p:cNvPr id="16" name="Text 14"/>
          <p:cNvSpPr/>
          <p:nvPr/>
        </p:nvSpPr>
        <p:spPr>
          <a:xfrm>
            <a:off x="1097280" y="3968496"/>
            <a:ext cx="4389120" cy="438912"/>
          </a:xfrm>
          <a:prstGeom prst="rect">
            <a:avLst/>
          </a:prstGeom>
          <a:noFill/>
          <a:ln/>
        </p:spPr>
        <p:txBody>
          <a:bodyPr wrap="square" rtlCol="0" anchor="ctr"/>
          <a:lstStyle/>
          <a:p>
            <a:pPr marL="0" indent="0">
              <a:buNone/>
            </a:pPr>
            <a:r>
              <a:rPr lang="en-US" sz="1150" dirty="0">
                <a:solidFill>
                  <a:srgbClr val="F3F7FB"/>
                </a:solidFill>
                <a:latin typeface="Calibri" pitchFamily="34" charset="0"/>
                <a:ea typeface="Calibri" pitchFamily="34" charset="-122"/>
                <a:cs typeface="Calibri" pitchFamily="34" charset="-120"/>
              </a:rPr>
              <a:t>React NOC Dashboard</a:t>
            </a:r>
            <a:endParaRPr lang="en-US" sz="1150" dirty="0"/>
          </a:p>
        </p:txBody>
      </p:sp>
      <p:sp>
        <p:nvSpPr>
          <p:cNvPr id="17" name="Text 15"/>
          <p:cNvSpPr/>
          <p:nvPr/>
        </p:nvSpPr>
        <p:spPr>
          <a:xfrm>
            <a:off x="2985516" y="4315968"/>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18" name="Shape 16"/>
          <p:cNvSpPr/>
          <p:nvPr/>
        </p:nvSpPr>
        <p:spPr>
          <a:xfrm>
            <a:off x="914400" y="4544568"/>
            <a:ext cx="4709160" cy="438912"/>
          </a:xfrm>
          <a:prstGeom prst="roundRect">
            <a:avLst>
              <a:gd name="adj" fmla="val 12500"/>
            </a:avLst>
          </a:prstGeom>
          <a:solidFill>
            <a:srgbClr val="0F1826"/>
          </a:solidFill>
          <a:ln w="12700">
            <a:solidFill>
              <a:srgbClr val="223049"/>
            </a:solidFill>
            <a:prstDash val="solid"/>
          </a:ln>
        </p:spPr>
      </p:sp>
      <p:sp>
        <p:nvSpPr>
          <p:cNvPr id="19" name="Text 17"/>
          <p:cNvSpPr/>
          <p:nvPr/>
        </p:nvSpPr>
        <p:spPr>
          <a:xfrm>
            <a:off x="1097280" y="4544568"/>
            <a:ext cx="4389120" cy="438912"/>
          </a:xfrm>
          <a:prstGeom prst="rect">
            <a:avLst/>
          </a:prstGeom>
          <a:noFill/>
          <a:ln/>
        </p:spPr>
        <p:txBody>
          <a:bodyPr wrap="square" rtlCol="0" anchor="ctr"/>
          <a:lstStyle/>
          <a:p>
            <a:pPr marL="0" indent="0">
              <a:buNone/>
            </a:pPr>
            <a:r>
              <a:rPr lang="en-US" sz="1150" dirty="0">
                <a:solidFill>
                  <a:srgbClr val="F3F7FB"/>
                </a:solidFill>
                <a:latin typeface="Calibri" pitchFamily="34" charset="0"/>
                <a:ea typeface="Calibri" pitchFamily="34" charset="-122"/>
                <a:cs typeface="Calibri" pitchFamily="34" charset="-120"/>
              </a:rPr>
              <a:t>FastAPI Authorization</a:t>
            </a:r>
            <a:endParaRPr lang="en-US" sz="1150" dirty="0"/>
          </a:p>
        </p:txBody>
      </p:sp>
      <p:sp>
        <p:nvSpPr>
          <p:cNvPr id="20" name="Text 18"/>
          <p:cNvSpPr/>
          <p:nvPr/>
        </p:nvSpPr>
        <p:spPr>
          <a:xfrm>
            <a:off x="2985516" y="4892040"/>
            <a:ext cx="548640" cy="274320"/>
          </a:xfrm>
          <a:prstGeom prst="rect">
            <a:avLst/>
          </a:prstGeom>
          <a:noFill/>
          <a:ln/>
        </p:spPr>
        <p:txBody>
          <a:bodyPr wrap="square" rtlCol="0" anchor="ctr"/>
          <a:lstStyle/>
          <a:p>
            <a:pPr marL="0" indent="0" algn="ctr">
              <a:buNone/>
            </a:pPr>
            <a:r>
              <a:rPr lang="en-US" sz="1300" b="1" dirty="0">
                <a:solidFill>
                  <a:srgbClr val="5D7391"/>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914400" y="5120640"/>
            <a:ext cx="4709160" cy="438912"/>
          </a:xfrm>
          <a:prstGeom prst="roundRect">
            <a:avLst>
              <a:gd name="adj" fmla="val 12500"/>
            </a:avLst>
          </a:prstGeom>
          <a:solidFill>
            <a:srgbClr val="0F1826"/>
          </a:solidFill>
          <a:ln w="12700">
            <a:solidFill>
              <a:srgbClr val="223049"/>
            </a:solidFill>
            <a:prstDash val="solid"/>
          </a:ln>
        </p:spPr>
      </p:sp>
      <p:sp>
        <p:nvSpPr>
          <p:cNvPr id="22" name="Text 20"/>
          <p:cNvSpPr/>
          <p:nvPr/>
        </p:nvSpPr>
        <p:spPr>
          <a:xfrm>
            <a:off x="1097280" y="5120640"/>
            <a:ext cx="4389120" cy="438912"/>
          </a:xfrm>
          <a:prstGeom prst="rect">
            <a:avLst/>
          </a:prstGeom>
          <a:noFill/>
          <a:ln/>
        </p:spPr>
        <p:txBody>
          <a:bodyPr wrap="square" rtlCol="0" anchor="ctr"/>
          <a:lstStyle/>
          <a:p>
            <a:pPr marL="0" indent="0">
              <a:buNone/>
            </a:pPr>
            <a:r>
              <a:rPr lang="en-US" sz="1150" dirty="0">
                <a:solidFill>
                  <a:srgbClr val="F3F7FB"/>
                </a:solidFill>
                <a:latin typeface="Calibri" pitchFamily="34" charset="0"/>
                <a:ea typeface="Calibri" pitchFamily="34" charset="-122"/>
                <a:cs typeface="Calibri" pitchFamily="34" charset="-120"/>
              </a:rPr>
              <a:t>MySQL + ML APIs + Data/ETL</a:t>
            </a:r>
            <a:endParaRPr lang="en-US" sz="1150" dirty="0"/>
          </a:p>
        </p:txBody>
      </p:sp>
      <p:sp>
        <p:nvSpPr>
          <p:cNvPr id="23" name="Shape 21"/>
          <p:cNvSpPr/>
          <p:nvPr/>
        </p:nvSpPr>
        <p:spPr>
          <a:xfrm>
            <a:off x="6080760" y="1600200"/>
            <a:ext cx="5440680" cy="2286000"/>
          </a:xfrm>
          <a:prstGeom prst="roundRect">
            <a:avLst>
              <a:gd name="adj" fmla="val 3200"/>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24" name="Text 22"/>
          <p:cNvSpPr/>
          <p:nvPr/>
        </p:nvSpPr>
        <p:spPr>
          <a:xfrm>
            <a:off x="6355080" y="1764792"/>
            <a:ext cx="4937760" cy="320040"/>
          </a:xfrm>
          <a:prstGeom prst="rect">
            <a:avLst/>
          </a:prstGeom>
          <a:noFill/>
          <a:ln/>
        </p:spPr>
        <p:txBody>
          <a:bodyPr wrap="square" rtlCol="0" anchor="ctr"/>
          <a:lstStyle/>
          <a:p>
            <a:pPr marL="0" indent="0">
              <a:buNone/>
            </a:pPr>
            <a:r>
              <a:rPr lang="en-US" sz="1450" b="1" dirty="0">
                <a:solidFill>
                  <a:srgbClr val="F5A623"/>
                </a:solidFill>
                <a:latin typeface="Cambria" pitchFamily="34" charset="0"/>
                <a:ea typeface="Cambria" pitchFamily="34" charset="-122"/>
                <a:cs typeface="Cambria" pitchFamily="34" charset="-120"/>
              </a:rPr>
              <a:t>Role-Based Access Control (RBAC)</a:t>
            </a:r>
            <a:endParaRPr lang="en-US" sz="1450" dirty="0"/>
          </a:p>
        </p:txBody>
      </p:sp>
      <p:sp>
        <p:nvSpPr>
          <p:cNvPr id="25" name="Text 23"/>
          <p:cNvSpPr/>
          <p:nvPr/>
        </p:nvSpPr>
        <p:spPr>
          <a:xfrm>
            <a:off x="6355080" y="2176272"/>
            <a:ext cx="1572409" cy="256032"/>
          </a:xfrm>
          <a:prstGeom prst="rect">
            <a:avLst/>
          </a:prstGeom>
          <a:noFill/>
          <a:ln/>
        </p:spPr>
        <p:txBody>
          <a:bodyPr wrap="square" rtlCol="0" anchor="ctr"/>
          <a:lstStyle/>
          <a:p>
            <a:pPr marL="0" indent="0">
              <a:buNone/>
            </a:pPr>
            <a:r>
              <a:rPr lang="en-US" sz="1000" b="1" dirty="0">
                <a:solidFill>
                  <a:srgbClr val="F3F7FB"/>
                </a:solidFill>
                <a:latin typeface="Calibri" pitchFamily="34" charset="0"/>
                <a:ea typeface="Calibri" pitchFamily="34" charset="-122"/>
                <a:cs typeface="Calibri" pitchFamily="34" charset="-120"/>
              </a:rPr>
              <a:t>Admin</a:t>
            </a:r>
            <a:endParaRPr lang="en-US" sz="1000" dirty="0"/>
          </a:p>
        </p:txBody>
      </p:sp>
      <p:sp>
        <p:nvSpPr>
          <p:cNvPr id="26" name="Text 24"/>
          <p:cNvSpPr/>
          <p:nvPr/>
        </p:nvSpPr>
        <p:spPr>
          <a:xfrm>
            <a:off x="7909560" y="2176272"/>
            <a:ext cx="3474720" cy="256032"/>
          </a:xfrm>
          <a:prstGeom prst="rect">
            <a:avLst/>
          </a:prstGeom>
          <a:noFill/>
          <a:ln/>
        </p:spPr>
        <p:txBody>
          <a:bodyPr wrap="square" rtlCol="0" anchor="ctr"/>
          <a:lstStyle/>
          <a:p>
            <a:pPr marL="0" indent="0">
              <a:buNone/>
            </a:pPr>
            <a:r>
              <a:rPr lang="en-US" sz="950" dirty="0">
                <a:solidFill>
                  <a:srgbClr val="9FB0C7"/>
                </a:solidFill>
                <a:latin typeface="Calibri" pitchFamily="34" charset="0"/>
                <a:ea typeface="Calibri" pitchFamily="34" charset="-122"/>
                <a:cs typeface="Calibri" pitchFamily="34" charset="-120"/>
              </a:rPr>
              <a:t>Everything + user mgmt</a:t>
            </a:r>
            <a:endParaRPr lang="en-US" sz="950" dirty="0"/>
          </a:p>
        </p:txBody>
      </p:sp>
      <p:sp>
        <p:nvSpPr>
          <p:cNvPr id="27" name="Text 25"/>
          <p:cNvSpPr/>
          <p:nvPr/>
        </p:nvSpPr>
        <p:spPr>
          <a:xfrm>
            <a:off x="6355080" y="2450592"/>
            <a:ext cx="1554480" cy="256032"/>
          </a:xfrm>
          <a:prstGeom prst="rect">
            <a:avLst/>
          </a:prstGeom>
          <a:noFill/>
          <a:ln/>
        </p:spPr>
        <p:txBody>
          <a:bodyPr wrap="square" rtlCol="0" anchor="ctr"/>
          <a:lstStyle/>
          <a:p>
            <a:pPr marL="0" indent="0">
              <a:buNone/>
            </a:pPr>
            <a:r>
              <a:rPr lang="en-US" sz="1000" b="1" dirty="0">
                <a:solidFill>
                  <a:srgbClr val="F3F7FB"/>
                </a:solidFill>
                <a:latin typeface="Calibri" pitchFamily="34" charset="0"/>
                <a:ea typeface="Calibri" pitchFamily="34" charset="-122"/>
                <a:cs typeface="Calibri" pitchFamily="34" charset="-120"/>
              </a:rPr>
              <a:t>NOC Manager</a:t>
            </a:r>
            <a:endParaRPr lang="en-US" sz="1000" dirty="0"/>
          </a:p>
        </p:txBody>
      </p:sp>
      <p:sp>
        <p:nvSpPr>
          <p:cNvPr id="28" name="Text 26"/>
          <p:cNvSpPr/>
          <p:nvPr/>
        </p:nvSpPr>
        <p:spPr>
          <a:xfrm>
            <a:off x="7909560" y="2450592"/>
            <a:ext cx="3474720" cy="256032"/>
          </a:xfrm>
          <a:prstGeom prst="rect">
            <a:avLst/>
          </a:prstGeom>
          <a:noFill/>
          <a:ln/>
        </p:spPr>
        <p:txBody>
          <a:bodyPr wrap="square" rtlCol="0" anchor="ctr"/>
          <a:lstStyle/>
          <a:p>
            <a:pPr marL="0" indent="0">
              <a:buNone/>
            </a:pPr>
            <a:r>
              <a:rPr lang="en-US" sz="950" dirty="0">
                <a:solidFill>
                  <a:srgbClr val="9FB0C7"/>
                </a:solidFill>
                <a:latin typeface="Calibri" pitchFamily="34" charset="0"/>
                <a:ea typeface="Calibri" pitchFamily="34" charset="-122"/>
                <a:cs typeface="Calibri" pitchFamily="34" charset="-120"/>
              </a:rPr>
              <a:t>Dashboard, Alerts, Risk, Ops</a:t>
            </a:r>
            <a:endParaRPr lang="en-US" sz="950" dirty="0"/>
          </a:p>
        </p:txBody>
      </p:sp>
      <p:sp>
        <p:nvSpPr>
          <p:cNvPr id="29" name="Text 27"/>
          <p:cNvSpPr/>
          <p:nvPr/>
        </p:nvSpPr>
        <p:spPr>
          <a:xfrm>
            <a:off x="6355080" y="2724912"/>
            <a:ext cx="1554480" cy="256032"/>
          </a:xfrm>
          <a:prstGeom prst="rect">
            <a:avLst/>
          </a:prstGeom>
          <a:noFill/>
          <a:ln/>
        </p:spPr>
        <p:txBody>
          <a:bodyPr wrap="square" rtlCol="0" anchor="ctr"/>
          <a:lstStyle/>
          <a:p>
            <a:pPr marL="0" indent="0">
              <a:buNone/>
            </a:pPr>
            <a:r>
              <a:rPr lang="en-US" sz="1000" b="1" dirty="0">
                <a:solidFill>
                  <a:srgbClr val="F3F7FB"/>
                </a:solidFill>
                <a:latin typeface="Calibri" pitchFamily="34" charset="0"/>
                <a:ea typeface="Calibri" pitchFamily="34" charset="-122"/>
                <a:cs typeface="Calibri" pitchFamily="34" charset="-120"/>
              </a:rPr>
              <a:t>NOC Engineer</a:t>
            </a:r>
            <a:endParaRPr lang="en-US" sz="1000" dirty="0"/>
          </a:p>
        </p:txBody>
      </p:sp>
      <p:sp>
        <p:nvSpPr>
          <p:cNvPr id="30" name="Text 28"/>
          <p:cNvSpPr/>
          <p:nvPr/>
        </p:nvSpPr>
        <p:spPr>
          <a:xfrm>
            <a:off x="7909560" y="2724912"/>
            <a:ext cx="3474720" cy="256032"/>
          </a:xfrm>
          <a:prstGeom prst="rect">
            <a:avLst/>
          </a:prstGeom>
          <a:noFill/>
          <a:ln/>
        </p:spPr>
        <p:txBody>
          <a:bodyPr wrap="square" rtlCol="0" anchor="ctr"/>
          <a:lstStyle/>
          <a:p>
            <a:pPr marL="0" indent="0">
              <a:buNone/>
            </a:pPr>
            <a:r>
              <a:rPr lang="en-US" sz="950" dirty="0">
                <a:solidFill>
                  <a:srgbClr val="9FB0C7"/>
                </a:solidFill>
                <a:latin typeface="Calibri" pitchFamily="34" charset="0"/>
                <a:ea typeface="Calibri" pitchFamily="34" charset="-122"/>
                <a:cs typeface="Calibri" pitchFamily="34" charset="-120"/>
              </a:rPr>
              <a:t>Dashboard, Network, Alerts</a:t>
            </a:r>
            <a:endParaRPr lang="en-US" sz="950" dirty="0"/>
          </a:p>
        </p:txBody>
      </p:sp>
      <p:sp>
        <p:nvSpPr>
          <p:cNvPr id="31" name="Text 29"/>
          <p:cNvSpPr/>
          <p:nvPr/>
        </p:nvSpPr>
        <p:spPr>
          <a:xfrm>
            <a:off x="6355080" y="2999232"/>
            <a:ext cx="1554480" cy="256032"/>
          </a:xfrm>
          <a:prstGeom prst="rect">
            <a:avLst/>
          </a:prstGeom>
          <a:noFill/>
          <a:ln/>
        </p:spPr>
        <p:txBody>
          <a:bodyPr wrap="square" rtlCol="0" anchor="ctr"/>
          <a:lstStyle/>
          <a:p>
            <a:pPr marL="0" indent="0">
              <a:buNone/>
            </a:pPr>
            <a:r>
              <a:rPr lang="en-US" sz="1000" b="1" dirty="0">
                <a:solidFill>
                  <a:srgbClr val="F3F7FB"/>
                </a:solidFill>
                <a:latin typeface="Calibri" pitchFamily="34" charset="0"/>
                <a:ea typeface="Calibri" pitchFamily="34" charset="-122"/>
                <a:cs typeface="Calibri" pitchFamily="34" charset="-120"/>
              </a:rPr>
              <a:t>Analyst</a:t>
            </a:r>
            <a:endParaRPr lang="en-US" sz="1000" dirty="0"/>
          </a:p>
        </p:txBody>
      </p:sp>
      <p:sp>
        <p:nvSpPr>
          <p:cNvPr id="32" name="Text 30"/>
          <p:cNvSpPr/>
          <p:nvPr/>
        </p:nvSpPr>
        <p:spPr>
          <a:xfrm>
            <a:off x="7909560" y="2999232"/>
            <a:ext cx="3474720" cy="256032"/>
          </a:xfrm>
          <a:prstGeom prst="rect">
            <a:avLst/>
          </a:prstGeom>
          <a:noFill/>
          <a:ln/>
        </p:spPr>
        <p:txBody>
          <a:bodyPr wrap="square" rtlCol="0" anchor="ctr"/>
          <a:lstStyle/>
          <a:p>
            <a:pPr marL="0" indent="0">
              <a:buNone/>
            </a:pPr>
            <a:r>
              <a:rPr lang="en-US" sz="950" dirty="0">
                <a:solidFill>
                  <a:srgbClr val="9FB0C7"/>
                </a:solidFill>
                <a:latin typeface="Calibri" pitchFamily="34" charset="0"/>
                <a:ea typeface="Calibri" pitchFamily="34" charset="-122"/>
                <a:cs typeface="Calibri" pitchFamily="34" charset="-120"/>
              </a:rPr>
              <a:t>Dashboard, Network, Reports</a:t>
            </a:r>
            <a:endParaRPr lang="en-US" sz="950" dirty="0"/>
          </a:p>
        </p:txBody>
      </p:sp>
      <p:sp>
        <p:nvSpPr>
          <p:cNvPr id="33" name="Text 31"/>
          <p:cNvSpPr/>
          <p:nvPr/>
        </p:nvSpPr>
        <p:spPr>
          <a:xfrm>
            <a:off x="6355080" y="3273552"/>
            <a:ext cx="1554480" cy="256032"/>
          </a:xfrm>
          <a:prstGeom prst="rect">
            <a:avLst/>
          </a:prstGeom>
          <a:noFill/>
          <a:ln/>
        </p:spPr>
        <p:txBody>
          <a:bodyPr wrap="square" rtlCol="0" anchor="ctr"/>
          <a:lstStyle/>
          <a:p>
            <a:pPr marL="0" indent="0">
              <a:buNone/>
            </a:pPr>
            <a:r>
              <a:rPr lang="en-US" sz="1000" b="1" dirty="0">
                <a:solidFill>
                  <a:srgbClr val="F3F7FB"/>
                </a:solidFill>
                <a:latin typeface="Calibri" pitchFamily="34" charset="0"/>
                <a:ea typeface="Calibri" pitchFamily="34" charset="-122"/>
                <a:cs typeface="Calibri" pitchFamily="34" charset="-120"/>
              </a:rPr>
              <a:t>Viewer</a:t>
            </a:r>
            <a:endParaRPr lang="en-US" sz="1000" dirty="0"/>
          </a:p>
        </p:txBody>
      </p:sp>
      <p:sp>
        <p:nvSpPr>
          <p:cNvPr id="34" name="Text 32"/>
          <p:cNvSpPr/>
          <p:nvPr/>
        </p:nvSpPr>
        <p:spPr>
          <a:xfrm>
            <a:off x="7909560" y="3273552"/>
            <a:ext cx="3474720" cy="256032"/>
          </a:xfrm>
          <a:prstGeom prst="rect">
            <a:avLst/>
          </a:prstGeom>
          <a:noFill/>
          <a:ln/>
        </p:spPr>
        <p:txBody>
          <a:bodyPr wrap="square" rtlCol="0" anchor="ctr"/>
          <a:lstStyle/>
          <a:p>
            <a:pPr marL="0" indent="0">
              <a:buNone/>
            </a:pPr>
            <a:r>
              <a:rPr lang="en-US" sz="950" dirty="0">
                <a:solidFill>
                  <a:srgbClr val="9FB0C7"/>
                </a:solidFill>
                <a:latin typeface="Calibri" pitchFamily="34" charset="0"/>
                <a:ea typeface="Calibri" pitchFamily="34" charset="-122"/>
                <a:cs typeface="Calibri" pitchFamily="34" charset="-120"/>
              </a:rPr>
              <a:t>Read-only</a:t>
            </a:r>
            <a:endParaRPr lang="en-US" sz="950" dirty="0"/>
          </a:p>
        </p:txBody>
      </p:sp>
      <p:sp>
        <p:nvSpPr>
          <p:cNvPr id="35" name="Text 33"/>
          <p:cNvSpPr/>
          <p:nvPr/>
        </p:nvSpPr>
        <p:spPr>
          <a:xfrm>
            <a:off x="6355080" y="3593592"/>
            <a:ext cx="4937760" cy="256032"/>
          </a:xfrm>
          <a:prstGeom prst="rect">
            <a:avLst/>
          </a:prstGeom>
          <a:noFill/>
          <a:ln/>
        </p:spPr>
        <p:txBody>
          <a:bodyPr wrap="square" rtlCol="0" anchor="ctr"/>
          <a:lstStyle/>
          <a:p>
            <a:pPr marL="0" indent="0">
              <a:buNone/>
            </a:pPr>
            <a:r>
              <a:rPr lang="en-US" sz="900" i="1" dirty="0">
                <a:solidFill>
                  <a:srgbClr val="5D7391"/>
                </a:solidFill>
                <a:latin typeface="Calibri" pitchFamily="34" charset="0"/>
                <a:ea typeface="Calibri" pitchFamily="34" charset="-122"/>
                <a:cs typeface="Calibri" pitchFamily="34" charset="-120"/>
              </a:rPr>
              <a:t>Enforced in both React and FastAPI — hiding a page client-side is not security.</a:t>
            </a:r>
            <a:endParaRPr lang="en-US" sz="900" dirty="0"/>
          </a:p>
        </p:txBody>
      </p:sp>
      <p:sp>
        <p:nvSpPr>
          <p:cNvPr id="36" name="Shape 34"/>
          <p:cNvSpPr/>
          <p:nvPr/>
        </p:nvSpPr>
        <p:spPr>
          <a:xfrm>
            <a:off x="6080760" y="4069080"/>
            <a:ext cx="5440680" cy="2011680"/>
          </a:xfrm>
          <a:prstGeom prst="roundRect">
            <a:avLst>
              <a:gd name="adj" fmla="val 3636"/>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37" name="Text 35"/>
          <p:cNvSpPr/>
          <p:nvPr/>
        </p:nvSpPr>
        <p:spPr>
          <a:xfrm>
            <a:off x="6355080" y="4233672"/>
            <a:ext cx="4937760" cy="320040"/>
          </a:xfrm>
          <a:prstGeom prst="rect">
            <a:avLst/>
          </a:prstGeom>
          <a:noFill/>
          <a:ln/>
        </p:spPr>
        <p:txBody>
          <a:bodyPr wrap="square" rtlCol="0" anchor="ctr"/>
          <a:lstStyle/>
          <a:p>
            <a:pPr marL="0" indent="0">
              <a:buNone/>
            </a:pPr>
            <a:r>
              <a:rPr lang="en-US" sz="1450" b="1" dirty="0">
                <a:solidFill>
                  <a:srgbClr val="4C8DFF"/>
                </a:solidFill>
                <a:latin typeface="Cambria" pitchFamily="34" charset="0"/>
                <a:ea typeface="Cambria" pitchFamily="34" charset="-122"/>
                <a:cs typeface="Cambria" pitchFamily="34" charset="-120"/>
              </a:rPr>
              <a:t>LLM-Assisted Explanations (Future)</a:t>
            </a:r>
            <a:endParaRPr lang="en-US" sz="1450" dirty="0"/>
          </a:p>
        </p:txBody>
      </p:sp>
      <p:sp>
        <p:nvSpPr>
          <p:cNvPr id="38" name="Shape 36"/>
          <p:cNvSpPr/>
          <p:nvPr/>
        </p:nvSpPr>
        <p:spPr>
          <a:xfrm>
            <a:off x="6355080" y="4718304"/>
            <a:ext cx="128016" cy="128016"/>
          </a:xfrm>
          <a:prstGeom prst="ellipse">
            <a:avLst/>
          </a:prstGeom>
          <a:solidFill>
            <a:srgbClr val="4C8DFF"/>
          </a:solidFill>
          <a:ln/>
        </p:spPr>
      </p:sp>
      <p:sp>
        <p:nvSpPr>
          <p:cNvPr id="39" name="Text 37"/>
          <p:cNvSpPr/>
          <p:nvPr/>
        </p:nvSpPr>
        <p:spPr>
          <a:xfrm>
            <a:off x="6629400" y="4617720"/>
            <a:ext cx="4663440" cy="320040"/>
          </a:xfrm>
          <a:prstGeom prst="rect">
            <a:avLst/>
          </a:prstGeom>
          <a:noFill/>
          <a:ln/>
        </p:spPr>
        <p:txBody>
          <a:bodyPr wrap="square" lIns="91440" tIns="45720" rIns="91440" bIns="45720" rtlCol="0" anchor="ctr"/>
          <a:lstStyle/>
          <a:p>
            <a:pPr marL="0" indent="0">
              <a:buNone/>
            </a:pPr>
            <a:r>
              <a:rPr lang="en-US" sz="1000" dirty="0">
                <a:solidFill>
                  <a:srgbClr val="F3F7FB"/>
                </a:solidFill>
                <a:latin typeface="Calibri"/>
                <a:ea typeface="Calibri"/>
                <a:cs typeface="Calibri"/>
              </a:rPr>
              <a:t>JWT authentication + password hashing</a:t>
            </a:r>
            <a:endParaRPr lang="en-US" sz="1000" dirty="0">
              <a:latin typeface="Calibri"/>
              <a:ea typeface="Calibri"/>
              <a:cs typeface="Calibri"/>
            </a:endParaRPr>
          </a:p>
        </p:txBody>
      </p:sp>
      <p:sp>
        <p:nvSpPr>
          <p:cNvPr id="40" name="Shape 38"/>
          <p:cNvSpPr/>
          <p:nvPr/>
        </p:nvSpPr>
        <p:spPr>
          <a:xfrm>
            <a:off x="6355080" y="5065776"/>
            <a:ext cx="128016" cy="128016"/>
          </a:xfrm>
          <a:prstGeom prst="ellipse">
            <a:avLst/>
          </a:prstGeom>
          <a:solidFill>
            <a:srgbClr val="4C8DFF"/>
          </a:solidFill>
          <a:ln/>
        </p:spPr>
      </p:sp>
      <p:sp>
        <p:nvSpPr>
          <p:cNvPr id="41" name="Text 39"/>
          <p:cNvSpPr/>
          <p:nvPr/>
        </p:nvSpPr>
        <p:spPr>
          <a:xfrm>
            <a:off x="6629400" y="4965192"/>
            <a:ext cx="4663440" cy="320040"/>
          </a:xfrm>
          <a:prstGeom prst="rect">
            <a:avLst/>
          </a:prstGeom>
          <a:noFill/>
          <a:ln/>
        </p:spPr>
        <p:txBody>
          <a:bodyPr wrap="square" rtlCol="0" anchor="ctr"/>
          <a:lstStyle/>
          <a:p>
            <a:pPr marL="0" indent="0">
              <a:buNone/>
            </a:pPr>
            <a:r>
              <a:rPr lang="en-US" sz="1000" dirty="0">
                <a:solidFill>
                  <a:srgbClr val="F3F7FB"/>
                </a:solidFill>
                <a:latin typeface="Calibri" pitchFamily="34" charset="0"/>
                <a:ea typeface="Calibri" pitchFamily="34" charset="-122"/>
                <a:cs typeface="Calibri" pitchFamily="34" charset="-120"/>
              </a:rPr>
              <a:t>Audit logs: user → action → resource → timestamp</a:t>
            </a:r>
            <a:endParaRPr lang="en-US" sz="1000" dirty="0"/>
          </a:p>
        </p:txBody>
      </p:sp>
      <p:sp>
        <p:nvSpPr>
          <p:cNvPr id="42" name="Shape 40"/>
          <p:cNvSpPr/>
          <p:nvPr/>
        </p:nvSpPr>
        <p:spPr>
          <a:xfrm>
            <a:off x="6355080" y="5413248"/>
            <a:ext cx="128016" cy="128016"/>
          </a:xfrm>
          <a:prstGeom prst="ellipse">
            <a:avLst/>
          </a:prstGeom>
          <a:solidFill>
            <a:srgbClr val="4C8DFF"/>
          </a:solidFill>
          <a:ln/>
        </p:spPr>
      </p:sp>
      <p:sp>
        <p:nvSpPr>
          <p:cNvPr id="43" name="Text 41"/>
          <p:cNvSpPr/>
          <p:nvPr/>
        </p:nvSpPr>
        <p:spPr>
          <a:xfrm>
            <a:off x="6629400" y="5312664"/>
            <a:ext cx="4663440" cy="320040"/>
          </a:xfrm>
          <a:prstGeom prst="rect">
            <a:avLst/>
          </a:prstGeom>
          <a:noFill/>
          <a:ln/>
        </p:spPr>
        <p:txBody>
          <a:bodyPr wrap="square" rtlCol="0" anchor="ctr"/>
          <a:lstStyle/>
          <a:p>
            <a:pPr marL="0" indent="0">
              <a:buNone/>
            </a:pPr>
            <a:r>
              <a:rPr lang="en-US" sz="1000" dirty="0">
                <a:solidFill>
                  <a:srgbClr val="F3F7FB"/>
                </a:solidFill>
                <a:latin typeface="Calibri" pitchFamily="34" charset="0"/>
                <a:ea typeface="Calibri" pitchFamily="34" charset="-122"/>
                <a:cs typeface="Calibri" pitchFamily="34" charset="-120"/>
              </a:rPr>
              <a:t>HTTPS, CORS restrictions, rate limiting</a:t>
            </a:r>
            <a:endParaRPr lang="en-US" sz="1000" dirty="0"/>
          </a:p>
        </p:txBody>
      </p:sp>
      <p:sp>
        <p:nvSpPr>
          <p:cNvPr id="44" name="Shape 42"/>
          <p:cNvSpPr/>
          <p:nvPr/>
        </p:nvSpPr>
        <p:spPr>
          <a:xfrm>
            <a:off x="6355080" y="5760720"/>
            <a:ext cx="128016" cy="128016"/>
          </a:xfrm>
          <a:prstGeom prst="ellipse">
            <a:avLst/>
          </a:prstGeom>
          <a:solidFill>
            <a:srgbClr val="4C8DFF"/>
          </a:solidFill>
          <a:ln/>
        </p:spPr>
      </p:sp>
      <p:sp>
        <p:nvSpPr>
          <p:cNvPr id="45" name="Text 43"/>
          <p:cNvSpPr/>
          <p:nvPr/>
        </p:nvSpPr>
        <p:spPr>
          <a:xfrm>
            <a:off x="6629400" y="5660136"/>
            <a:ext cx="4663440" cy="320040"/>
          </a:xfrm>
          <a:prstGeom prst="rect">
            <a:avLst/>
          </a:prstGeom>
          <a:noFill/>
          <a:ln/>
        </p:spPr>
        <p:txBody>
          <a:bodyPr wrap="square" rtlCol="0" anchor="ctr"/>
          <a:lstStyle/>
          <a:p>
            <a:pPr marL="0" indent="0">
              <a:buNone/>
            </a:pPr>
            <a:r>
              <a:rPr lang="en-US" sz="1000" dirty="0">
                <a:solidFill>
                  <a:srgbClr val="F3F7FB"/>
                </a:solidFill>
                <a:latin typeface="Calibri" pitchFamily="34" charset="0"/>
                <a:ea typeface="Calibri" pitchFamily="34" charset="-122"/>
                <a:cs typeface="Calibri" pitchFamily="34" charset="-120"/>
              </a:rPr>
              <a:t>Claude API operational explanation layer (future)</a:t>
            </a:r>
            <a:endParaRPr lang="en-US" sz="1000" dirty="0"/>
          </a:p>
        </p:txBody>
      </p:sp>
      <p:sp>
        <p:nvSpPr>
          <p:cNvPr id="46" name="Text 4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buNone/>
            </a:pPr>
            <a:r>
              <a:rPr lang="en-US" sz="1200" b="1" kern="0" spc="200" dirty="0">
                <a:solidFill>
                  <a:srgbClr val="22D3C8"/>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731520"/>
            <a:ext cx="9601200" cy="685800"/>
          </a:xfrm>
          <a:prstGeom prst="rect">
            <a:avLst/>
          </a:prstGeom>
          <a:noFill/>
          <a:ln/>
        </p:spPr>
        <p:txBody>
          <a:bodyPr wrap="square" rtlCol="0" anchor="ctr"/>
          <a:lstStyle/>
          <a:p>
            <a:pPr marL="0" indent="0">
              <a:buNone/>
            </a:pPr>
            <a:r>
              <a:rPr lang="en-US" sz="3000" b="1" dirty="0">
                <a:solidFill>
                  <a:srgbClr val="F3F7FB"/>
                </a:solidFill>
                <a:latin typeface="Cambria" pitchFamily="34" charset="0"/>
                <a:ea typeface="Cambria" pitchFamily="34" charset="-122"/>
                <a:cs typeface="Cambria" pitchFamily="34" charset="-120"/>
              </a:rPr>
              <a:t>Current Implementation to Enterprise Scale</a:t>
            </a:r>
            <a:endParaRPr lang="en-US" sz="3000" dirty="0"/>
          </a:p>
        </p:txBody>
      </p:sp>
      <p:sp>
        <p:nvSpPr>
          <p:cNvPr id="4" name="Shape 2"/>
          <p:cNvSpPr/>
          <p:nvPr/>
        </p:nvSpPr>
        <p:spPr>
          <a:xfrm>
            <a:off x="914400" y="2633472"/>
            <a:ext cx="10332720" cy="0"/>
          </a:xfrm>
          <a:prstGeom prst="line">
            <a:avLst/>
          </a:prstGeom>
          <a:noFill/>
          <a:ln w="25400">
            <a:solidFill>
              <a:srgbClr val="223049"/>
            </a:solidFill>
            <a:prstDash val="solid"/>
          </a:ln>
        </p:spPr>
      </p:sp>
      <p:sp>
        <p:nvSpPr>
          <p:cNvPr id="5" name="Shape 3"/>
          <p:cNvSpPr/>
          <p:nvPr/>
        </p:nvSpPr>
        <p:spPr>
          <a:xfrm>
            <a:off x="1357884" y="2505456"/>
            <a:ext cx="256032" cy="256032"/>
          </a:xfrm>
          <a:prstGeom prst="ellipse">
            <a:avLst/>
          </a:prstGeom>
          <a:solidFill>
            <a:srgbClr val="22D3C8"/>
          </a:solidFill>
          <a:ln w="38100">
            <a:solidFill>
              <a:srgbClr val="0A101C"/>
            </a:solidFill>
            <a:prstDash val="solid"/>
          </a:ln>
        </p:spPr>
      </p:sp>
      <p:sp>
        <p:nvSpPr>
          <p:cNvPr id="6" name="Shape 4"/>
          <p:cNvSpPr/>
          <p:nvPr/>
        </p:nvSpPr>
        <p:spPr>
          <a:xfrm>
            <a:off x="640080" y="2971800"/>
            <a:ext cx="1691640" cy="1600200"/>
          </a:xfrm>
          <a:prstGeom prst="roundRect">
            <a:avLst>
              <a:gd name="adj" fmla="val 4571"/>
            </a:avLst>
          </a:prstGeom>
          <a:solidFill>
            <a:srgbClr val="0F1826"/>
          </a:solidFill>
          <a:ln w="12700">
            <a:solidFill>
              <a:srgbClr val="22D3C8"/>
            </a:solidFill>
            <a:prstDash val="solid"/>
          </a:ln>
          <a:effectLst>
            <a:outerShdw blurRad="101600" dist="38100" dir="5400000" algn="bl" rotWithShape="0">
              <a:srgbClr val="000000">
                <a:alpha val="35000"/>
              </a:srgbClr>
            </a:outerShdw>
          </a:effectLst>
        </p:spPr>
      </p:sp>
      <p:sp>
        <p:nvSpPr>
          <p:cNvPr id="7" name="Text 5"/>
          <p:cNvSpPr/>
          <p:nvPr/>
        </p:nvSpPr>
        <p:spPr>
          <a:xfrm>
            <a:off x="749808" y="3108960"/>
            <a:ext cx="1472184" cy="365760"/>
          </a:xfrm>
          <a:prstGeom prst="rect">
            <a:avLst/>
          </a:prstGeom>
          <a:noFill/>
          <a:ln/>
        </p:spPr>
        <p:txBody>
          <a:bodyPr wrap="square" rtlCol="0" anchor="ctr"/>
          <a:lstStyle/>
          <a:p>
            <a:pPr marL="0" indent="0">
              <a:buNone/>
            </a:pPr>
            <a:r>
              <a:rPr lang="en-US" sz="1250" b="1" dirty="0">
                <a:solidFill>
                  <a:srgbClr val="F3F7FB"/>
                </a:solidFill>
                <a:latin typeface="Calibri" pitchFamily="34" charset="0"/>
                <a:ea typeface="Calibri" pitchFamily="34" charset="-122"/>
                <a:cs typeface="Calibri" pitchFamily="34" charset="-120"/>
              </a:rPr>
              <a:t>Current</a:t>
            </a:r>
            <a:endParaRPr lang="en-US" sz="1250" dirty="0"/>
          </a:p>
        </p:txBody>
      </p:sp>
      <p:sp>
        <p:nvSpPr>
          <p:cNvPr id="8" name="Text 6"/>
          <p:cNvSpPr/>
          <p:nvPr/>
        </p:nvSpPr>
        <p:spPr>
          <a:xfrm>
            <a:off x="749808" y="3474720"/>
            <a:ext cx="1472184" cy="1005840"/>
          </a:xfrm>
          <a:prstGeom prst="rect">
            <a:avLst/>
          </a:prstGeom>
          <a:noFill/>
          <a:ln/>
        </p:spPr>
        <p:txBody>
          <a:bodyPr wrap="square" rtlCol="0" anchor="ctr"/>
          <a:lstStyle/>
          <a:p>
            <a:pPr marL="0" indent="0">
              <a:lnSpc>
                <a:spcPts val="1200"/>
              </a:lnSpc>
              <a:buNone/>
            </a:pPr>
            <a:r>
              <a:rPr lang="en-US" sz="950" dirty="0">
                <a:solidFill>
                  <a:srgbClr val="9FB0C7"/>
                </a:solidFill>
                <a:latin typeface="Calibri" pitchFamily="34" charset="0"/>
                <a:ea typeface="Calibri" pitchFamily="34" charset="-122"/>
                <a:cs typeface="Calibri" pitchFamily="34" charset="-120"/>
              </a:rPr>
              <a:t>Data Engineering, ML, FastAPI, React NOC dashboard</a:t>
            </a:r>
            <a:endParaRPr lang="en-US" sz="950" dirty="0"/>
          </a:p>
        </p:txBody>
      </p:sp>
      <p:sp>
        <p:nvSpPr>
          <p:cNvPr id="9" name="Shape 7"/>
          <p:cNvSpPr/>
          <p:nvPr/>
        </p:nvSpPr>
        <p:spPr>
          <a:xfrm>
            <a:off x="749808" y="2057400"/>
            <a:ext cx="960120" cy="329184"/>
          </a:xfrm>
          <a:prstGeom prst="roundRect">
            <a:avLst>
              <a:gd name="adj" fmla="val 50000"/>
            </a:avLst>
          </a:prstGeom>
          <a:solidFill>
            <a:srgbClr val="0F1826"/>
          </a:solidFill>
          <a:ln w="12700">
            <a:solidFill>
              <a:srgbClr val="22D3C8"/>
            </a:solidFill>
            <a:prstDash val="solid"/>
          </a:ln>
        </p:spPr>
      </p:sp>
      <p:sp>
        <p:nvSpPr>
          <p:cNvPr id="10" name="Shape 8"/>
          <p:cNvSpPr/>
          <p:nvPr/>
        </p:nvSpPr>
        <p:spPr>
          <a:xfrm>
            <a:off x="914400" y="2157984"/>
            <a:ext cx="128016" cy="128016"/>
          </a:xfrm>
          <a:prstGeom prst="ellipse">
            <a:avLst/>
          </a:prstGeom>
          <a:solidFill>
            <a:srgbClr val="22D3C8"/>
          </a:solidFill>
          <a:ln/>
        </p:spPr>
      </p:sp>
      <p:sp>
        <p:nvSpPr>
          <p:cNvPr id="11" name="Text 9"/>
          <p:cNvSpPr/>
          <p:nvPr/>
        </p:nvSpPr>
        <p:spPr>
          <a:xfrm>
            <a:off x="1115568" y="2057400"/>
            <a:ext cx="502920" cy="329184"/>
          </a:xfrm>
          <a:prstGeom prst="rect">
            <a:avLst/>
          </a:prstGeom>
          <a:noFill/>
          <a:ln/>
        </p:spPr>
        <p:txBody>
          <a:bodyPr wrap="square" rtlCol="0" anchor="ctr"/>
          <a:lstStyle/>
          <a:p>
            <a:pPr marL="0" indent="0">
              <a:buNone/>
            </a:pPr>
            <a:r>
              <a:rPr lang="en-US" sz="1050" b="1" dirty="0">
                <a:solidFill>
                  <a:srgbClr val="F3F7FB"/>
                </a:solidFill>
                <a:latin typeface="Calibri" pitchFamily="34" charset="0"/>
                <a:ea typeface="Calibri" pitchFamily="34" charset="-122"/>
                <a:cs typeface="Calibri" pitchFamily="34" charset="-120"/>
              </a:rPr>
              <a:t>LIVE</a:t>
            </a:r>
            <a:endParaRPr lang="en-US" sz="1050" dirty="0"/>
          </a:p>
        </p:txBody>
      </p:sp>
      <p:sp>
        <p:nvSpPr>
          <p:cNvPr id="12" name="Shape 10"/>
          <p:cNvSpPr/>
          <p:nvPr/>
        </p:nvSpPr>
        <p:spPr>
          <a:xfrm>
            <a:off x="3195828" y="2505456"/>
            <a:ext cx="256032" cy="256032"/>
          </a:xfrm>
          <a:prstGeom prst="ellipse">
            <a:avLst/>
          </a:prstGeom>
          <a:solidFill>
            <a:srgbClr val="F5A623"/>
          </a:solidFill>
          <a:ln w="38100">
            <a:solidFill>
              <a:srgbClr val="0A101C"/>
            </a:solidFill>
            <a:prstDash val="solid"/>
          </a:ln>
        </p:spPr>
      </p:sp>
      <p:sp>
        <p:nvSpPr>
          <p:cNvPr id="13" name="Shape 11"/>
          <p:cNvSpPr/>
          <p:nvPr/>
        </p:nvSpPr>
        <p:spPr>
          <a:xfrm>
            <a:off x="2478024" y="2971800"/>
            <a:ext cx="1691640" cy="1600200"/>
          </a:xfrm>
          <a:prstGeom prst="roundRect">
            <a:avLst>
              <a:gd name="adj" fmla="val 4571"/>
            </a:avLst>
          </a:prstGeom>
          <a:solidFill>
            <a:srgbClr val="0F1826"/>
          </a:solidFill>
          <a:ln w="12700">
            <a:solidFill>
              <a:srgbClr val="F5A623"/>
            </a:solidFill>
            <a:prstDash val="solid"/>
          </a:ln>
          <a:effectLst>
            <a:outerShdw blurRad="101600" dist="38100" dir="5400000" algn="bl" rotWithShape="0">
              <a:srgbClr val="000000">
                <a:alpha val="35000"/>
              </a:srgbClr>
            </a:outerShdw>
          </a:effectLst>
        </p:spPr>
      </p:sp>
      <p:sp>
        <p:nvSpPr>
          <p:cNvPr id="14" name="Text 12"/>
          <p:cNvSpPr/>
          <p:nvPr/>
        </p:nvSpPr>
        <p:spPr>
          <a:xfrm>
            <a:off x="2587752" y="3108960"/>
            <a:ext cx="1472184" cy="365760"/>
          </a:xfrm>
          <a:prstGeom prst="rect">
            <a:avLst/>
          </a:prstGeom>
          <a:noFill/>
          <a:ln/>
        </p:spPr>
        <p:txBody>
          <a:bodyPr wrap="square" rtlCol="0" anchor="ctr"/>
          <a:lstStyle/>
          <a:p>
            <a:pPr marL="0" indent="0">
              <a:buNone/>
            </a:pPr>
            <a:r>
              <a:rPr lang="en-US" sz="1250" b="1" dirty="0">
                <a:solidFill>
                  <a:srgbClr val="F3F7FB"/>
                </a:solidFill>
                <a:latin typeface="Calibri" pitchFamily="34" charset="0"/>
                <a:ea typeface="Calibri" pitchFamily="34" charset="-122"/>
                <a:cs typeface="Calibri" pitchFamily="34" charset="-120"/>
              </a:rPr>
              <a:t>Security</a:t>
            </a:r>
            <a:endParaRPr lang="en-US" sz="1250" dirty="0"/>
          </a:p>
        </p:txBody>
      </p:sp>
      <p:sp>
        <p:nvSpPr>
          <p:cNvPr id="15" name="Text 13"/>
          <p:cNvSpPr/>
          <p:nvPr/>
        </p:nvSpPr>
        <p:spPr>
          <a:xfrm>
            <a:off x="2587752" y="3474720"/>
            <a:ext cx="1472184" cy="1005840"/>
          </a:xfrm>
          <a:prstGeom prst="rect">
            <a:avLst/>
          </a:prstGeom>
          <a:noFill/>
          <a:ln/>
        </p:spPr>
        <p:txBody>
          <a:bodyPr wrap="square" rtlCol="0" anchor="ctr"/>
          <a:lstStyle/>
          <a:p>
            <a:pPr marL="0" indent="0">
              <a:lnSpc>
                <a:spcPts val="1200"/>
              </a:lnSpc>
              <a:buNone/>
            </a:pPr>
            <a:r>
              <a:rPr lang="en-US" sz="950" dirty="0">
                <a:solidFill>
                  <a:srgbClr val="9FB0C7"/>
                </a:solidFill>
                <a:latin typeface="Calibri" pitchFamily="34" charset="0"/>
                <a:ea typeface="Calibri" pitchFamily="34" charset="-122"/>
                <a:cs typeface="Calibri" pitchFamily="34" charset="-120"/>
              </a:rPr>
              <a:t>JWT auth, RBAC, audit logs, HTTPS hardening</a:t>
            </a:r>
            <a:endParaRPr lang="en-US" sz="950" dirty="0"/>
          </a:p>
        </p:txBody>
      </p:sp>
      <p:sp>
        <p:nvSpPr>
          <p:cNvPr id="16" name="Shape 14"/>
          <p:cNvSpPr/>
          <p:nvPr/>
        </p:nvSpPr>
        <p:spPr>
          <a:xfrm>
            <a:off x="5033772" y="2505456"/>
            <a:ext cx="256032" cy="256032"/>
          </a:xfrm>
          <a:prstGeom prst="ellipse">
            <a:avLst/>
          </a:prstGeom>
          <a:solidFill>
            <a:srgbClr val="4C8DFF"/>
          </a:solidFill>
          <a:ln w="38100">
            <a:solidFill>
              <a:srgbClr val="0A101C"/>
            </a:solidFill>
            <a:prstDash val="solid"/>
          </a:ln>
        </p:spPr>
      </p:sp>
      <p:sp>
        <p:nvSpPr>
          <p:cNvPr id="17" name="Shape 15"/>
          <p:cNvSpPr/>
          <p:nvPr/>
        </p:nvSpPr>
        <p:spPr>
          <a:xfrm>
            <a:off x="4315968" y="2971800"/>
            <a:ext cx="1691640" cy="1600200"/>
          </a:xfrm>
          <a:prstGeom prst="roundRect">
            <a:avLst>
              <a:gd name="adj" fmla="val 4571"/>
            </a:avLst>
          </a:prstGeom>
          <a:solidFill>
            <a:srgbClr val="0F1826"/>
          </a:solidFill>
          <a:ln w="12700">
            <a:solidFill>
              <a:srgbClr val="4C8DFF"/>
            </a:solidFill>
            <a:prstDash val="solid"/>
          </a:ln>
          <a:effectLst>
            <a:outerShdw blurRad="101600" dist="38100" dir="5400000" algn="bl" rotWithShape="0">
              <a:srgbClr val="000000">
                <a:alpha val="35000"/>
              </a:srgbClr>
            </a:outerShdw>
          </a:effectLst>
        </p:spPr>
      </p:sp>
      <p:sp>
        <p:nvSpPr>
          <p:cNvPr id="18" name="Text 16"/>
          <p:cNvSpPr/>
          <p:nvPr/>
        </p:nvSpPr>
        <p:spPr>
          <a:xfrm>
            <a:off x="4425696" y="3108960"/>
            <a:ext cx="1472184" cy="365760"/>
          </a:xfrm>
          <a:prstGeom prst="rect">
            <a:avLst/>
          </a:prstGeom>
          <a:noFill/>
          <a:ln/>
        </p:spPr>
        <p:txBody>
          <a:bodyPr wrap="square" rtlCol="0" anchor="ctr"/>
          <a:lstStyle/>
          <a:p>
            <a:pPr marL="0" indent="0">
              <a:buNone/>
            </a:pPr>
            <a:r>
              <a:rPr lang="en-US" sz="1250" b="1" dirty="0">
                <a:solidFill>
                  <a:srgbClr val="F3F7FB"/>
                </a:solidFill>
                <a:latin typeface="Calibri" pitchFamily="34" charset="0"/>
                <a:ea typeface="Calibri" pitchFamily="34" charset="-122"/>
                <a:cs typeface="Calibri" pitchFamily="34" charset="-120"/>
              </a:rPr>
              <a:t>LLM Insights</a:t>
            </a:r>
            <a:endParaRPr lang="en-US" sz="1250" dirty="0"/>
          </a:p>
        </p:txBody>
      </p:sp>
      <p:sp>
        <p:nvSpPr>
          <p:cNvPr id="19" name="Text 17"/>
          <p:cNvSpPr/>
          <p:nvPr/>
        </p:nvSpPr>
        <p:spPr>
          <a:xfrm>
            <a:off x="4425696" y="3474720"/>
            <a:ext cx="1472184" cy="1005840"/>
          </a:xfrm>
          <a:prstGeom prst="rect">
            <a:avLst/>
          </a:prstGeom>
          <a:noFill/>
          <a:ln/>
        </p:spPr>
        <p:txBody>
          <a:bodyPr wrap="square" rtlCol="0" anchor="ctr"/>
          <a:lstStyle/>
          <a:p>
            <a:pPr marL="0" indent="0">
              <a:lnSpc>
                <a:spcPts val="1200"/>
              </a:lnSpc>
              <a:buNone/>
            </a:pPr>
            <a:r>
              <a:rPr lang="en-US" sz="950" dirty="0">
                <a:solidFill>
                  <a:srgbClr val="9FB0C7"/>
                </a:solidFill>
                <a:latin typeface="Calibri" pitchFamily="34" charset="0"/>
                <a:ea typeface="Calibri" pitchFamily="34" charset="-122"/>
                <a:cs typeface="Calibri" pitchFamily="34" charset="-120"/>
              </a:rPr>
              <a:t>Claude API network insight generator</a:t>
            </a:r>
            <a:endParaRPr lang="en-US" sz="950" dirty="0"/>
          </a:p>
        </p:txBody>
      </p:sp>
      <p:sp>
        <p:nvSpPr>
          <p:cNvPr id="20" name="Shape 18"/>
          <p:cNvSpPr/>
          <p:nvPr/>
        </p:nvSpPr>
        <p:spPr>
          <a:xfrm>
            <a:off x="6871716" y="2505456"/>
            <a:ext cx="256032" cy="256032"/>
          </a:xfrm>
          <a:prstGeom prst="ellipse">
            <a:avLst/>
          </a:prstGeom>
          <a:solidFill>
            <a:srgbClr val="5D7391"/>
          </a:solidFill>
          <a:ln w="38100">
            <a:solidFill>
              <a:srgbClr val="0A101C"/>
            </a:solidFill>
            <a:prstDash val="solid"/>
          </a:ln>
        </p:spPr>
      </p:sp>
      <p:sp>
        <p:nvSpPr>
          <p:cNvPr id="21" name="Shape 19"/>
          <p:cNvSpPr/>
          <p:nvPr/>
        </p:nvSpPr>
        <p:spPr>
          <a:xfrm>
            <a:off x="6153912" y="2971800"/>
            <a:ext cx="1691640" cy="1600200"/>
          </a:xfrm>
          <a:prstGeom prst="roundRect">
            <a:avLst>
              <a:gd name="adj" fmla="val 4571"/>
            </a:avLst>
          </a:prstGeom>
          <a:solidFill>
            <a:srgbClr val="0F1826"/>
          </a:solidFill>
          <a:ln w="12700">
            <a:solidFill>
              <a:srgbClr val="5D7391"/>
            </a:solidFill>
            <a:prstDash val="solid"/>
          </a:ln>
          <a:effectLst>
            <a:outerShdw blurRad="101600" dist="38100" dir="5400000" algn="bl" rotWithShape="0">
              <a:srgbClr val="000000">
                <a:alpha val="35000"/>
              </a:srgbClr>
            </a:outerShdw>
          </a:effectLst>
        </p:spPr>
      </p:sp>
      <p:sp>
        <p:nvSpPr>
          <p:cNvPr id="22" name="Text 20"/>
          <p:cNvSpPr/>
          <p:nvPr/>
        </p:nvSpPr>
        <p:spPr>
          <a:xfrm>
            <a:off x="6263640" y="3108960"/>
            <a:ext cx="1472184" cy="365760"/>
          </a:xfrm>
          <a:prstGeom prst="rect">
            <a:avLst/>
          </a:prstGeom>
          <a:noFill/>
          <a:ln/>
        </p:spPr>
        <p:txBody>
          <a:bodyPr wrap="square" rtlCol="0" anchor="ctr"/>
          <a:lstStyle/>
          <a:p>
            <a:pPr marL="0" indent="0">
              <a:buNone/>
            </a:pPr>
            <a:r>
              <a:rPr lang="en-US" sz="1250" b="1" dirty="0">
                <a:solidFill>
                  <a:srgbClr val="F3F7FB"/>
                </a:solidFill>
                <a:latin typeface="Calibri" pitchFamily="34" charset="0"/>
                <a:ea typeface="Calibri" pitchFamily="34" charset="-122"/>
                <a:cs typeface="Calibri" pitchFamily="34" charset="-120"/>
              </a:rPr>
              <a:t>Streaming</a:t>
            </a:r>
            <a:endParaRPr lang="en-US" sz="1250" dirty="0"/>
          </a:p>
        </p:txBody>
      </p:sp>
      <p:sp>
        <p:nvSpPr>
          <p:cNvPr id="23" name="Text 21"/>
          <p:cNvSpPr/>
          <p:nvPr/>
        </p:nvSpPr>
        <p:spPr>
          <a:xfrm>
            <a:off x="6263640" y="3474720"/>
            <a:ext cx="1472184" cy="1005840"/>
          </a:xfrm>
          <a:prstGeom prst="rect">
            <a:avLst/>
          </a:prstGeom>
          <a:noFill/>
          <a:ln/>
        </p:spPr>
        <p:txBody>
          <a:bodyPr wrap="square" rtlCol="0" anchor="ctr"/>
          <a:lstStyle/>
          <a:p>
            <a:pPr marL="0" indent="0">
              <a:lnSpc>
                <a:spcPts val="1200"/>
              </a:lnSpc>
              <a:buNone/>
            </a:pPr>
            <a:r>
              <a:rPr lang="en-US" sz="950" dirty="0">
                <a:solidFill>
                  <a:srgbClr val="9FB0C7"/>
                </a:solidFill>
                <a:latin typeface="Calibri" pitchFamily="34" charset="0"/>
                <a:ea typeface="Calibri" pitchFamily="34" charset="-122"/>
                <a:cs typeface="Calibri" pitchFamily="34" charset="-120"/>
              </a:rPr>
              <a:t>Real-time ingestion pipelines</a:t>
            </a:r>
            <a:endParaRPr lang="en-US" sz="950" dirty="0"/>
          </a:p>
        </p:txBody>
      </p:sp>
      <p:sp>
        <p:nvSpPr>
          <p:cNvPr id="24" name="Shape 22"/>
          <p:cNvSpPr/>
          <p:nvPr/>
        </p:nvSpPr>
        <p:spPr>
          <a:xfrm>
            <a:off x="8709660" y="2505456"/>
            <a:ext cx="256032" cy="256032"/>
          </a:xfrm>
          <a:prstGeom prst="ellipse">
            <a:avLst/>
          </a:prstGeom>
          <a:solidFill>
            <a:srgbClr val="5D7391"/>
          </a:solidFill>
          <a:ln w="38100">
            <a:solidFill>
              <a:srgbClr val="0A101C"/>
            </a:solidFill>
            <a:prstDash val="solid"/>
          </a:ln>
        </p:spPr>
      </p:sp>
      <p:sp>
        <p:nvSpPr>
          <p:cNvPr id="25" name="Shape 23"/>
          <p:cNvSpPr/>
          <p:nvPr/>
        </p:nvSpPr>
        <p:spPr>
          <a:xfrm>
            <a:off x="7991856" y="2971800"/>
            <a:ext cx="1691640" cy="1600200"/>
          </a:xfrm>
          <a:prstGeom prst="roundRect">
            <a:avLst>
              <a:gd name="adj" fmla="val 4571"/>
            </a:avLst>
          </a:prstGeom>
          <a:solidFill>
            <a:srgbClr val="0F1826"/>
          </a:solidFill>
          <a:ln w="12700">
            <a:solidFill>
              <a:srgbClr val="5D7391"/>
            </a:solidFill>
            <a:prstDash val="solid"/>
          </a:ln>
          <a:effectLst>
            <a:outerShdw blurRad="101600" dist="38100" dir="5400000" algn="bl" rotWithShape="0">
              <a:srgbClr val="000000">
                <a:alpha val="35000"/>
              </a:srgbClr>
            </a:outerShdw>
          </a:effectLst>
        </p:spPr>
      </p:sp>
      <p:sp>
        <p:nvSpPr>
          <p:cNvPr id="26" name="Text 24"/>
          <p:cNvSpPr/>
          <p:nvPr/>
        </p:nvSpPr>
        <p:spPr>
          <a:xfrm>
            <a:off x="8101584" y="3108960"/>
            <a:ext cx="1472184" cy="365760"/>
          </a:xfrm>
          <a:prstGeom prst="rect">
            <a:avLst/>
          </a:prstGeom>
          <a:noFill/>
          <a:ln/>
        </p:spPr>
        <p:txBody>
          <a:bodyPr wrap="square" rtlCol="0" anchor="ctr"/>
          <a:lstStyle/>
          <a:p>
            <a:pPr marL="0" indent="0">
              <a:buNone/>
            </a:pPr>
            <a:r>
              <a:rPr lang="en-US" sz="1250" b="1" dirty="0">
                <a:solidFill>
                  <a:srgbClr val="F3F7FB"/>
                </a:solidFill>
                <a:latin typeface="Calibri" pitchFamily="34" charset="0"/>
                <a:ea typeface="Calibri" pitchFamily="34" charset="-122"/>
                <a:cs typeface="Calibri" pitchFamily="34" charset="-120"/>
              </a:rPr>
              <a:t>Automation</a:t>
            </a:r>
            <a:endParaRPr lang="en-US" sz="1250" dirty="0"/>
          </a:p>
        </p:txBody>
      </p:sp>
      <p:sp>
        <p:nvSpPr>
          <p:cNvPr id="27" name="Text 25"/>
          <p:cNvSpPr/>
          <p:nvPr/>
        </p:nvSpPr>
        <p:spPr>
          <a:xfrm>
            <a:off x="8101584" y="3474720"/>
            <a:ext cx="1472184" cy="1005840"/>
          </a:xfrm>
          <a:prstGeom prst="rect">
            <a:avLst/>
          </a:prstGeom>
          <a:noFill/>
          <a:ln/>
        </p:spPr>
        <p:txBody>
          <a:bodyPr wrap="square" rtlCol="0" anchor="ctr"/>
          <a:lstStyle/>
          <a:p>
            <a:pPr marL="0" indent="0">
              <a:lnSpc>
                <a:spcPts val="1200"/>
              </a:lnSpc>
              <a:buNone/>
            </a:pPr>
            <a:r>
              <a:rPr lang="en-US" sz="950" dirty="0">
                <a:solidFill>
                  <a:srgbClr val="9FB0C7"/>
                </a:solidFill>
                <a:latin typeface="Calibri" pitchFamily="34" charset="0"/>
                <a:ea typeface="Calibri" pitchFamily="34" charset="-122"/>
                <a:cs typeface="Calibri" pitchFamily="34" charset="-120"/>
              </a:rPr>
              <a:t>Automated remediation workflows</a:t>
            </a:r>
            <a:endParaRPr lang="en-US" sz="950" dirty="0"/>
          </a:p>
        </p:txBody>
      </p:sp>
      <p:sp>
        <p:nvSpPr>
          <p:cNvPr id="28" name="Shape 26"/>
          <p:cNvSpPr/>
          <p:nvPr/>
        </p:nvSpPr>
        <p:spPr>
          <a:xfrm>
            <a:off x="10547604" y="2505456"/>
            <a:ext cx="256032" cy="256032"/>
          </a:xfrm>
          <a:prstGeom prst="ellipse">
            <a:avLst/>
          </a:prstGeom>
          <a:solidFill>
            <a:srgbClr val="5D7391"/>
          </a:solidFill>
          <a:ln w="38100">
            <a:solidFill>
              <a:srgbClr val="0A101C"/>
            </a:solidFill>
            <a:prstDash val="solid"/>
          </a:ln>
        </p:spPr>
      </p:sp>
      <p:sp>
        <p:nvSpPr>
          <p:cNvPr id="29" name="Shape 27"/>
          <p:cNvSpPr/>
          <p:nvPr/>
        </p:nvSpPr>
        <p:spPr>
          <a:xfrm>
            <a:off x="9829800" y="2971800"/>
            <a:ext cx="1691640" cy="1600200"/>
          </a:xfrm>
          <a:prstGeom prst="roundRect">
            <a:avLst>
              <a:gd name="adj" fmla="val 4571"/>
            </a:avLst>
          </a:prstGeom>
          <a:solidFill>
            <a:srgbClr val="0F1826"/>
          </a:solidFill>
          <a:ln w="12700">
            <a:solidFill>
              <a:srgbClr val="5D7391"/>
            </a:solidFill>
            <a:prstDash val="solid"/>
          </a:ln>
          <a:effectLst>
            <a:outerShdw blurRad="101600" dist="38100" dir="5400000" algn="bl" rotWithShape="0">
              <a:srgbClr val="000000">
                <a:alpha val="35000"/>
              </a:srgbClr>
            </a:outerShdw>
          </a:effectLst>
        </p:spPr>
      </p:sp>
      <p:sp>
        <p:nvSpPr>
          <p:cNvPr id="30" name="Text 28"/>
          <p:cNvSpPr/>
          <p:nvPr/>
        </p:nvSpPr>
        <p:spPr>
          <a:xfrm>
            <a:off x="9939528" y="3108960"/>
            <a:ext cx="1472184" cy="365760"/>
          </a:xfrm>
          <a:prstGeom prst="rect">
            <a:avLst/>
          </a:prstGeom>
          <a:noFill/>
          <a:ln/>
        </p:spPr>
        <p:txBody>
          <a:bodyPr wrap="square" rtlCol="0" anchor="ctr"/>
          <a:lstStyle/>
          <a:p>
            <a:pPr marL="0" indent="0">
              <a:buNone/>
            </a:pPr>
            <a:r>
              <a:rPr lang="en-US" sz="1250" b="1" dirty="0">
                <a:solidFill>
                  <a:srgbClr val="F3F7FB"/>
                </a:solidFill>
                <a:latin typeface="Calibri" pitchFamily="34" charset="0"/>
                <a:ea typeface="Calibri" pitchFamily="34" charset="-122"/>
                <a:cs typeface="Calibri" pitchFamily="34" charset="-120"/>
              </a:rPr>
              <a:t>Scale</a:t>
            </a:r>
            <a:endParaRPr lang="en-US" sz="1250" dirty="0"/>
          </a:p>
        </p:txBody>
      </p:sp>
      <p:sp>
        <p:nvSpPr>
          <p:cNvPr id="31" name="Text 29"/>
          <p:cNvSpPr/>
          <p:nvPr/>
        </p:nvSpPr>
        <p:spPr>
          <a:xfrm>
            <a:off x="9939528" y="3474720"/>
            <a:ext cx="1472184" cy="1005840"/>
          </a:xfrm>
          <a:prstGeom prst="rect">
            <a:avLst/>
          </a:prstGeom>
          <a:noFill/>
          <a:ln/>
        </p:spPr>
        <p:txBody>
          <a:bodyPr wrap="square" rtlCol="0" anchor="ctr"/>
          <a:lstStyle/>
          <a:p>
            <a:pPr marL="0" indent="0">
              <a:lnSpc>
                <a:spcPts val="1200"/>
              </a:lnSpc>
              <a:buNone/>
            </a:pPr>
            <a:r>
              <a:rPr lang="en-US" sz="950" dirty="0">
                <a:solidFill>
                  <a:srgbClr val="9FB0C7"/>
                </a:solidFill>
                <a:latin typeface="Calibri" pitchFamily="34" charset="0"/>
                <a:ea typeface="Calibri" pitchFamily="34" charset="-122"/>
                <a:cs typeface="Calibri" pitchFamily="34" charset="-120"/>
              </a:rPr>
              <a:t>Multi-vendor &amp; multi-region support</a:t>
            </a:r>
            <a:endParaRPr lang="en-US" sz="950" dirty="0"/>
          </a:p>
        </p:txBody>
      </p:sp>
      <p:sp>
        <p:nvSpPr>
          <p:cNvPr id="32" name="Shape 30"/>
          <p:cNvSpPr/>
          <p:nvPr/>
        </p:nvSpPr>
        <p:spPr>
          <a:xfrm>
            <a:off x="640080" y="5120640"/>
            <a:ext cx="10881360" cy="1005840"/>
          </a:xfrm>
          <a:prstGeom prst="roundRect">
            <a:avLst>
              <a:gd name="adj" fmla="val 7273"/>
            </a:avLst>
          </a:prstGeom>
          <a:solidFill>
            <a:srgbClr val="141F32"/>
          </a:solidFill>
          <a:ln w="12700">
            <a:solidFill>
              <a:srgbClr val="223049"/>
            </a:solidFill>
            <a:prstDash val="solid"/>
          </a:ln>
          <a:effectLst>
            <a:outerShdw blurRad="101600" dist="38100" dir="5400000" algn="bl" rotWithShape="0">
              <a:srgbClr val="000000">
                <a:alpha val="35000"/>
              </a:srgbClr>
            </a:outerShdw>
          </a:effectLst>
        </p:spPr>
      </p:sp>
      <p:sp>
        <p:nvSpPr>
          <p:cNvPr id="33" name="Text 31"/>
          <p:cNvSpPr/>
          <p:nvPr/>
        </p:nvSpPr>
        <p:spPr>
          <a:xfrm>
            <a:off x="914400" y="5120640"/>
            <a:ext cx="10332720" cy="1005840"/>
          </a:xfrm>
          <a:prstGeom prst="rect">
            <a:avLst/>
          </a:prstGeom>
          <a:noFill/>
          <a:ln/>
        </p:spPr>
        <p:txBody>
          <a:bodyPr wrap="square" rtlCol="0" anchor="ctr"/>
          <a:lstStyle/>
          <a:p>
            <a:pPr marL="0" indent="0">
              <a:buNone/>
            </a:pPr>
            <a:r>
              <a:rPr lang="en-US" sz="1200" i="1" dirty="0">
                <a:solidFill>
                  <a:srgbClr val="F3F7FB"/>
                </a:solidFill>
                <a:latin typeface="Calibri" pitchFamily="34" charset="0"/>
                <a:ea typeface="Calibri" pitchFamily="34" charset="-122"/>
                <a:cs typeface="Calibri" pitchFamily="34" charset="-120"/>
              </a:rPr>
              <a:t>Implemented items are marked LIVE; all other phases are Future Scope and are not part of the current deployed system.</a:t>
            </a:r>
            <a:endParaRPr lang="en-US" sz="1200" dirty="0"/>
          </a:p>
        </p:txBody>
      </p:sp>
      <p:sp>
        <p:nvSpPr>
          <p:cNvPr id="34" name="Text 3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22960" y="1371600"/>
            <a:ext cx="45720" cy="3931920"/>
          </a:xfrm>
          <a:prstGeom prst="roundRect">
            <a:avLst/>
          </a:prstGeom>
          <a:solidFill>
            <a:srgbClr val="22D3C8"/>
          </a:solidFill>
          <a:ln w="12700">
            <a:solidFill>
              <a:srgbClr val="22D3C8"/>
            </a:solidFill>
            <a:prstDash val="solid"/>
          </a:ln>
        </p:spPr>
      </p:sp>
      <p:sp>
        <p:nvSpPr>
          <p:cNvPr id="3" name="Text 1"/>
          <p:cNvSpPr/>
          <p:nvPr/>
        </p:nvSpPr>
        <p:spPr>
          <a:xfrm>
            <a:off x="1097280" y="1417320"/>
            <a:ext cx="7315200" cy="365760"/>
          </a:xfrm>
          <a:prstGeom prst="rect">
            <a:avLst/>
          </a:prstGeom>
          <a:noFill/>
          <a:ln/>
        </p:spPr>
        <p:txBody>
          <a:bodyPr wrap="square" rtlCol="0" anchor="ctr"/>
          <a:lstStyle/>
          <a:p>
            <a:pPr marL="0" indent="0">
              <a:buNone/>
            </a:pPr>
            <a:r>
              <a:rPr lang="en-US" sz="1300" b="1" kern="0" spc="300" dirty="0">
                <a:solidFill>
                  <a:srgbClr val="22D3C8"/>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1097280" y="1783080"/>
            <a:ext cx="9875520" cy="1463040"/>
          </a:xfrm>
          <a:prstGeom prst="rect">
            <a:avLst/>
          </a:prstGeom>
          <a:noFill/>
          <a:ln/>
        </p:spPr>
        <p:txBody>
          <a:bodyPr wrap="square" rtlCol="0" anchor="ctr"/>
          <a:lstStyle/>
          <a:p>
            <a:pPr marL="0" indent="0">
              <a:lnSpc>
                <a:spcPts val="4000"/>
              </a:lnSpc>
              <a:buNone/>
            </a:pPr>
            <a:r>
              <a:rPr lang="en-US" sz="3400" b="1" dirty="0">
                <a:solidFill>
                  <a:srgbClr val="F3F7FB"/>
                </a:solidFill>
                <a:latin typeface="Cambria" pitchFamily="34" charset="0"/>
                <a:ea typeface="Cambria" pitchFamily="34" charset="-122"/>
                <a:cs typeface="Cambria" pitchFamily="34" charset="-120"/>
              </a:rPr>
              <a:t>From Raw Network Telemetry to</a:t>
            </a:r>
            <a:endParaRPr lang="en-US" sz="3400" dirty="0"/>
          </a:p>
          <a:p>
            <a:pPr marL="0" indent="0">
              <a:lnSpc>
                <a:spcPts val="4000"/>
              </a:lnSpc>
              <a:buNone/>
            </a:pPr>
            <a:r>
              <a:rPr lang="en-US" sz="3400" b="1" dirty="0">
                <a:solidFill>
                  <a:srgbClr val="F3F7FB"/>
                </a:solidFill>
                <a:latin typeface="Cambria" pitchFamily="34" charset="0"/>
                <a:ea typeface="Cambria" pitchFamily="34" charset="-122"/>
                <a:cs typeface="Cambria" pitchFamily="34" charset="-120"/>
              </a:rPr>
              <a:t>Actionable Network Intelligence</a:t>
            </a:r>
            <a:endParaRPr lang="en-US" sz="3400" dirty="0"/>
          </a:p>
        </p:txBody>
      </p:sp>
      <p:sp>
        <p:nvSpPr>
          <p:cNvPr id="5" name="Text 3"/>
          <p:cNvSpPr/>
          <p:nvPr/>
        </p:nvSpPr>
        <p:spPr>
          <a:xfrm>
            <a:off x="1097280" y="3246120"/>
            <a:ext cx="9692640" cy="1554480"/>
          </a:xfrm>
          <a:prstGeom prst="rect">
            <a:avLst/>
          </a:prstGeom>
          <a:noFill/>
          <a:ln/>
        </p:spPr>
        <p:txBody>
          <a:bodyPr wrap="square" rtlCol="0" anchor="ctr"/>
          <a:lstStyle/>
          <a:p>
            <a:pPr marL="0" indent="0">
              <a:lnSpc>
                <a:spcPts val="2100"/>
              </a:lnSpc>
              <a:buNone/>
            </a:pPr>
            <a:r>
              <a:rPr lang="en-US" sz="1400" dirty="0">
                <a:solidFill>
                  <a:srgbClr val="9FB0C7"/>
                </a:solidFill>
                <a:latin typeface="Calibri" pitchFamily="34" charset="0"/>
                <a:ea typeface="Calibri" pitchFamily="34" charset="-122"/>
                <a:cs typeface="Calibri" pitchFamily="34" charset="-120"/>
              </a:rPr>
              <a:t>The Telecom Network Intelligence Platform transforms raw network telemetry into structured analytics, applies machine learning to identify risk and abnormal behavior, adds geographic context, exposes intelligence through APIs, and presents it through an enterprise NOC dashboard to support faster, more informed network investigation.</a:t>
            </a:r>
            <a:endParaRPr lang="en-US" sz="1400" dirty="0"/>
          </a:p>
        </p:txBody>
      </p:sp>
      <p:sp>
        <p:nvSpPr>
          <p:cNvPr id="6" name="Shape 4"/>
          <p:cNvSpPr/>
          <p:nvPr/>
        </p:nvSpPr>
        <p:spPr>
          <a:xfrm>
            <a:off x="1097280" y="5029200"/>
            <a:ext cx="1737360" cy="384048"/>
          </a:xfrm>
          <a:prstGeom prst="roundRect">
            <a:avLst>
              <a:gd name="adj" fmla="val 50000"/>
            </a:avLst>
          </a:prstGeom>
          <a:solidFill>
            <a:srgbClr val="0F1826"/>
          </a:solidFill>
          <a:ln w="12700">
            <a:solidFill>
              <a:srgbClr val="4C8DFF"/>
            </a:solidFill>
            <a:prstDash val="solid"/>
          </a:ln>
        </p:spPr>
      </p:sp>
      <p:sp>
        <p:nvSpPr>
          <p:cNvPr id="7" name="Text 5"/>
          <p:cNvSpPr/>
          <p:nvPr/>
        </p:nvSpPr>
        <p:spPr>
          <a:xfrm>
            <a:off x="1097280" y="5029200"/>
            <a:ext cx="1737360" cy="384048"/>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Data Engineering</a:t>
            </a:r>
            <a:endParaRPr lang="en-US" sz="1150" dirty="0"/>
          </a:p>
        </p:txBody>
      </p:sp>
      <p:sp>
        <p:nvSpPr>
          <p:cNvPr id="8" name="Shape 6"/>
          <p:cNvSpPr/>
          <p:nvPr/>
        </p:nvSpPr>
        <p:spPr>
          <a:xfrm>
            <a:off x="3017520" y="5029200"/>
            <a:ext cx="1737360" cy="384048"/>
          </a:xfrm>
          <a:prstGeom prst="roundRect">
            <a:avLst>
              <a:gd name="adj" fmla="val 50000"/>
            </a:avLst>
          </a:prstGeom>
          <a:solidFill>
            <a:srgbClr val="0F1826"/>
          </a:solidFill>
          <a:ln w="12700">
            <a:solidFill>
              <a:srgbClr val="22D3C8"/>
            </a:solidFill>
            <a:prstDash val="solid"/>
          </a:ln>
        </p:spPr>
      </p:sp>
      <p:sp>
        <p:nvSpPr>
          <p:cNvPr id="9" name="Text 7"/>
          <p:cNvSpPr/>
          <p:nvPr/>
        </p:nvSpPr>
        <p:spPr>
          <a:xfrm>
            <a:off x="3017520" y="5029200"/>
            <a:ext cx="1737360" cy="384048"/>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Machine Learning</a:t>
            </a:r>
            <a:endParaRPr lang="en-US" sz="1150" dirty="0"/>
          </a:p>
        </p:txBody>
      </p:sp>
      <p:sp>
        <p:nvSpPr>
          <p:cNvPr id="10" name="Shape 8"/>
          <p:cNvSpPr/>
          <p:nvPr/>
        </p:nvSpPr>
        <p:spPr>
          <a:xfrm>
            <a:off x="4937760" y="5029200"/>
            <a:ext cx="914400" cy="384048"/>
          </a:xfrm>
          <a:prstGeom prst="roundRect">
            <a:avLst>
              <a:gd name="adj" fmla="val 50000"/>
            </a:avLst>
          </a:prstGeom>
          <a:solidFill>
            <a:srgbClr val="0F1826"/>
          </a:solidFill>
          <a:ln w="12700">
            <a:solidFill>
              <a:srgbClr val="34D399"/>
            </a:solidFill>
            <a:prstDash val="solid"/>
          </a:ln>
        </p:spPr>
      </p:sp>
      <p:sp>
        <p:nvSpPr>
          <p:cNvPr id="11" name="Text 9"/>
          <p:cNvSpPr/>
          <p:nvPr/>
        </p:nvSpPr>
        <p:spPr>
          <a:xfrm>
            <a:off x="4937760" y="5029200"/>
            <a:ext cx="914400" cy="384048"/>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FastAPI</a:t>
            </a:r>
            <a:endParaRPr lang="en-US" sz="1150" dirty="0"/>
          </a:p>
        </p:txBody>
      </p:sp>
      <p:sp>
        <p:nvSpPr>
          <p:cNvPr id="12" name="Shape 10"/>
          <p:cNvSpPr/>
          <p:nvPr/>
        </p:nvSpPr>
        <p:spPr>
          <a:xfrm>
            <a:off x="6035040" y="5029200"/>
            <a:ext cx="1371600" cy="384048"/>
          </a:xfrm>
          <a:prstGeom prst="roundRect">
            <a:avLst>
              <a:gd name="adj" fmla="val 50000"/>
            </a:avLst>
          </a:prstGeom>
          <a:solidFill>
            <a:srgbClr val="0F1826"/>
          </a:solidFill>
          <a:ln w="12700">
            <a:solidFill>
              <a:srgbClr val="F5A623"/>
            </a:solidFill>
            <a:prstDash val="solid"/>
          </a:ln>
        </p:spPr>
      </p:sp>
      <p:sp>
        <p:nvSpPr>
          <p:cNvPr id="13" name="Text 11"/>
          <p:cNvSpPr/>
          <p:nvPr/>
        </p:nvSpPr>
        <p:spPr>
          <a:xfrm>
            <a:off x="6035040" y="5029200"/>
            <a:ext cx="1371600" cy="384048"/>
          </a:xfrm>
          <a:prstGeom prst="rect">
            <a:avLst/>
          </a:prstGeom>
          <a:noFill/>
          <a:ln/>
        </p:spPr>
        <p:txBody>
          <a:bodyPr wrap="square" rtlCol="0" anchor="ctr"/>
          <a:lstStyle/>
          <a:p>
            <a:pPr marL="0" indent="0" algn="ctr">
              <a:buNone/>
            </a:pPr>
            <a:r>
              <a:rPr lang="en-US" sz="1150" b="1" dirty="0">
                <a:solidFill>
                  <a:srgbClr val="F3F7FB"/>
                </a:solidFill>
                <a:latin typeface="Calibri" pitchFamily="34" charset="0"/>
                <a:ea typeface="Calibri" pitchFamily="34" charset="-122"/>
                <a:cs typeface="Calibri" pitchFamily="34" charset="-120"/>
              </a:rPr>
              <a:t>React NOC UI</a:t>
            </a:r>
            <a:endParaRPr lang="en-US" sz="1150" dirty="0"/>
          </a:p>
        </p:txBody>
      </p:sp>
      <p:sp>
        <p:nvSpPr>
          <p:cNvPr id="14" name="Text 12"/>
          <p:cNvSpPr/>
          <p:nvPr/>
        </p:nvSpPr>
        <p:spPr>
          <a:xfrm>
            <a:off x="1097280" y="6126480"/>
            <a:ext cx="7315200" cy="320040"/>
          </a:xfrm>
          <a:prstGeom prst="rect">
            <a:avLst/>
          </a:prstGeom>
          <a:noFill/>
          <a:ln/>
        </p:spPr>
        <p:txBody>
          <a:bodyPr wrap="square" rtlCol="0" anchor="ctr"/>
          <a:lstStyle/>
          <a:p>
            <a:pPr marL="0" indent="0">
              <a:buNone/>
            </a:pPr>
            <a:r>
              <a:rPr lang="en-US" sz="1100" dirty="0">
                <a:solidFill>
                  <a:srgbClr val="5D7391"/>
                </a:solidFill>
                <a:latin typeface="Calibri" pitchFamily="34" charset="0"/>
                <a:ea typeface="Calibri" pitchFamily="34" charset="-122"/>
                <a:cs typeface="Calibri" pitchFamily="34" charset="-120"/>
              </a:rPr>
              <a:t>Telecom Network Intelligence Platform  ·  Capstone I</a:t>
            </a:r>
            <a:endParaRPr lang="en-US" sz="1100" dirty="0"/>
          </a:p>
        </p:txBody>
      </p:sp>
      <p:sp>
        <p:nvSpPr>
          <p:cNvPr id="15" name="Text 1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5D739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40</cp:revision>
  <dcterms:created xsi:type="dcterms:W3CDTF">2026-09-14T14:21:11Z</dcterms:created>
  <dcterms:modified xsi:type="dcterms:W3CDTF">2026-10-07T17:24:18Z</dcterms:modified>
</cp:coreProperties>
</file>